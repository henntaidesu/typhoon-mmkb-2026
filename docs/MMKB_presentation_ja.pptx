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4224528"/>
            <a:ext cx="12191695" cy="54864"/>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508760"/>
            <a:ext cx="10332720" cy="1097280"/>
          </a:xfrm>
          <a:prstGeom prst="rect">
            <a:avLst/>
          </a:prstGeom>
          <a:noFill/>
        </p:spPr>
        <p:txBody>
          <a:bodyPr wrap="square" lIns="0" rIns="0" tIns="0" bIns="0">
            <a:spAutoFit/>
          </a:bodyPr>
          <a:lstStyle/>
          <a:p>
            <a:pPr algn="l">
              <a:spcBef>
                <a:spcPts val="0"/>
              </a:spcBef>
              <a:spcAft>
                <a:spcPts val="600"/>
              </a:spcAft>
            </a:pPr>
            <a:r>
              <a:rPr sz="4000" b="1">
                <a:solidFill>
                  <a:srgbClr val="FFFFFF"/>
                </a:solidFill>
                <a:latin typeface="Meiryo"/>
              </a:rPr>
              <a:t>台風マルチメディア知識ベース</a:t>
            </a:r>
          </a:p>
          <a:p>
            <a:pPr algn="l">
              <a:spcBef>
                <a:spcPts val="0"/>
              </a:spcBef>
              <a:spcAft>
                <a:spcPts val="0"/>
              </a:spcAft>
            </a:pPr>
            <a:r>
              <a:rPr sz="1700" b="0">
                <a:solidFill>
                  <a:srgbClr val="8FB8DC"/>
                </a:solidFill>
                <a:latin typeface="Meiryo"/>
              </a:rPr>
              <a:t>Typhoon MMKB — 時空間計算と意味計算を統合した分散知識ベース</a:t>
            </a:r>
          </a:p>
        </p:txBody>
      </p:sp>
      <p:sp>
        <p:nvSpPr>
          <p:cNvPr id="5" name="TextBox 4"/>
          <p:cNvSpPr txBox="1"/>
          <p:nvPr/>
        </p:nvSpPr>
        <p:spPr>
          <a:xfrm>
            <a:off x="914400" y="4526280"/>
            <a:ext cx="10332720" cy="1463040"/>
          </a:xfrm>
          <a:prstGeom prst="rect">
            <a:avLst/>
          </a:prstGeom>
          <a:noFill/>
        </p:spPr>
        <p:txBody>
          <a:bodyPr wrap="square" lIns="0" rIns="0" tIns="0" bIns="0">
            <a:spAutoFit/>
          </a:bodyPr>
          <a:lstStyle/>
          <a:p>
            <a:pPr algn="l">
              <a:spcBef>
                <a:spcPts val="0"/>
              </a:spcBef>
              <a:spcAft>
                <a:spcPts val="800"/>
              </a:spcAft>
            </a:pPr>
            <a:r>
              <a:rPr sz="1400" b="0">
                <a:solidFill>
                  <a:srgbClr val="C9DAEA"/>
                </a:solidFill>
                <a:latin typeface="Meiryo"/>
              </a:rPr>
              <a:t>マルチメディア知識ベース構成論   Subject-1 ／ 選題 (8) Disasters</a:t>
            </a:r>
          </a:p>
          <a:p>
            <a:pPr algn="l">
              <a:spcBef>
                <a:spcPts val="0"/>
              </a:spcBef>
              <a:spcAft>
                <a:spcPts val="800"/>
              </a:spcAft>
            </a:pPr>
            <a:r>
              <a:rPr sz="1300" b="0">
                <a:solidFill>
                  <a:srgbClr val="7F9CBB"/>
                </a:solidFill>
                <a:latin typeface="Meiryo"/>
              </a:rPr>
              <a:t>武蔵野大学  Spring 2026</a:t>
            </a:r>
          </a:p>
          <a:p>
            <a:pPr algn="l">
              <a:spcBef>
                <a:spcPts val="0"/>
              </a:spcBef>
              <a:spcAft>
                <a:spcPts val="0"/>
              </a:spcAft>
            </a:pPr>
            <a:r>
              <a:rPr sz="1200" b="0">
                <a:solidFill>
                  <a:srgbClr val="6A8AAA"/>
                </a:solidFill>
                <a:latin typeface="Meiryo"/>
              </a:rPr>
              <a:t>PostgreSQL 18.4 + PostGIS 3.6.2 + pgvector 0.8.5  ／  FastAPI  ／  Vue 3 + Leaflet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1. システム設計思路 — 三層計算モデル</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台風情報は分散・多言語・非構造。語句一致でも属性検索でも答えられない問いに応える</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1</a:t>
            </a:r>
          </a:p>
        </p:txBody>
      </p:sp>
      <p:sp>
        <p:nvSpPr>
          <p:cNvPr id="7" name="Rectangle 6"/>
          <p:cNvSpPr/>
          <p:nvPr/>
        </p:nvSpPr>
        <p:spPr>
          <a:xfrm>
            <a:off x="685800" y="1188720"/>
            <a:ext cx="10789920" cy="658368"/>
          </a:xfrm>
          <a:prstGeom prst="rect">
            <a:avLst/>
          </a:prstGeom>
          <a:solidFill>
            <a:srgbClr val="F4F6FA"/>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1298448"/>
            <a:ext cx="10332720" cy="457200"/>
          </a:xfrm>
          <a:prstGeom prst="rect">
            <a:avLst/>
          </a:prstGeom>
          <a:noFill/>
        </p:spPr>
        <p:txBody>
          <a:bodyPr wrap="square" lIns="0" rIns="0" tIns="0" bIns="0">
            <a:spAutoFit/>
          </a:bodyPr>
          <a:lstStyle/>
          <a:p>
            <a:pPr algn="l">
              <a:spcBef>
                <a:spcPts val="0"/>
              </a:spcBef>
              <a:spcAft>
                <a:spcPts val="300"/>
              </a:spcAft>
            </a:pPr>
            <a:r>
              <a:rPr sz="1250" b="1">
                <a:solidFill>
                  <a:srgbClr val="142B4A"/>
                </a:solidFill>
                <a:latin typeface="Meiryo"/>
              </a:rPr>
              <a:t>課題   経路は NOAA、被害は GDACS、警報は気象庁・中央气象台… 形式も言語 (JP/EN/CN) もバラバラ</a:t>
            </a:r>
          </a:p>
          <a:p>
            <a:pPr algn="l">
              <a:spcBef>
                <a:spcPts val="0"/>
              </a:spcBef>
              <a:spcAft>
                <a:spcPts val="0"/>
              </a:spcAft>
            </a:pPr>
            <a:r>
              <a:rPr sz="1250" b="1">
                <a:solidFill>
                  <a:srgbClr val="1F5C99"/>
                </a:solidFill>
                <a:latin typeface="Meiryo"/>
              </a:rPr>
              <a:t>解    分散ソースを 1 つの知識ベースへ統合し、空間・時間・意味の 3 軸で「選択」し「結合」する</a:t>
            </a:r>
          </a:p>
        </p:txBody>
      </p:sp>
      <p:sp>
        <p:nvSpPr>
          <p:cNvPr id="9" name="Rectangle 8"/>
          <p:cNvSpPr/>
          <p:nvPr/>
        </p:nvSpPr>
        <p:spPr>
          <a:xfrm>
            <a:off x="685800" y="2011680"/>
            <a:ext cx="3520440" cy="1965960"/>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85800" y="2011680"/>
            <a:ext cx="3520440" cy="82296"/>
          </a:xfrm>
          <a:prstGeom prst="rect">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41832" y="2231136"/>
            <a:ext cx="3017520" cy="1645920"/>
          </a:xfrm>
          <a:prstGeom prst="rect">
            <a:avLst/>
          </a:prstGeom>
          <a:noFill/>
        </p:spPr>
        <p:txBody>
          <a:bodyPr wrap="square" lIns="0" rIns="0" tIns="0" bIns="0">
            <a:spAutoFit/>
          </a:bodyPr>
          <a:lstStyle/>
          <a:p>
            <a:pPr algn="l">
              <a:spcBef>
                <a:spcPts val="0"/>
              </a:spcBef>
              <a:spcAft>
                <a:spcPts val="100"/>
              </a:spcAft>
            </a:pPr>
            <a:r>
              <a:rPr sz="1600" b="1">
                <a:solidFill>
                  <a:srgbClr val="1F5C99"/>
                </a:solidFill>
                <a:latin typeface="Meiryo"/>
              </a:rPr>
              <a:t>空間的選択</a:t>
            </a:r>
          </a:p>
          <a:p>
            <a:pPr algn="l">
              <a:spcBef>
                <a:spcPts val="0"/>
              </a:spcBef>
              <a:spcAft>
                <a:spcPts val="1100"/>
              </a:spcAft>
            </a:pPr>
            <a:r>
              <a:rPr sz="950" b="0">
                <a:solidFill>
                  <a:srgbClr val="5A6677"/>
                </a:solidFill>
                <a:latin typeface="Meiryo"/>
              </a:rPr>
              <a:t>Spatial Selection</a:t>
            </a:r>
          </a:p>
          <a:p>
            <a:pPr algn="l">
              <a:spcBef>
                <a:spcPts val="0"/>
              </a:spcBef>
              <a:spcAft>
                <a:spcPts val="800"/>
              </a:spcAft>
            </a:pPr>
            <a:r>
              <a:rPr sz="1000" b="0">
                <a:solidFill>
                  <a:srgbClr val="182A3E"/>
                </a:solidFill>
                <a:latin typeface="Consolas"/>
              </a:rPr>
              <a:t>ST_Intersects(geom, bbox)</a:t>
            </a:r>
          </a:p>
          <a:p>
            <a:pPr algn="l">
              <a:spcBef>
                <a:spcPts val="0"/>
              </a:spcBef>
              <a:spcAft>
                <a:spcPts val="300"/>
              </a:spcAft>
            </a:pPr>
            <a:r>
              <a:rPr sz="1000" b="0">
                <a:solidFill>
                  <a:srgbClr val="5A6677"/>
                </a:solidFill>
                <a:latin typeface="Meiryo"/>
              </a:rPr>
              <a:t>索引: PostGIS  GiST 索引</a:t>
            </a:r>
          </a:p>
          <a:p>
            <a:pPr algn="l">
              <a:spcBef>
                <a:spcPts val="0"/>
              </a:spcBef>
              <a:spcAft>
                <a:spcPts val="0"/>
              </a:spcAft>
            </a:pPr>
            <a:r>
              <a:rPr sz="1000" b="0">
                <a:solidFill>
                  <a:srgbClr val="5A6677"/>
                </a:solidFill>
                <a:latin typeface="Meiryo"/>
              </a:rPr>
              <a:t>対象: track_point.geom</a:t>
            </a:r>
          </a:p>
        </p:txBody>
      </p:sp>
      <p:sp>
        <p:nvSpPr>
          <p:cNvPr id="12" name="Rectangle 11"/>
          <p:cNvSpPr/>
          <p:nvPr/>
        </p:nvSpPr>
        <p:spPr>
          <a:xfrm>
            <a:off x="4389120" y="2011680"/>
            <a:ext cx="3520440" cy="1965960"/>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89120" y="2011680"/>
            <a:ext cx="3520440" cy="82296"/>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45152" y="2231136"/>
            <a:ext cx="3017520" cy="1645920"/>
          </a:xfrm>
          <a:prstGeom prst="rect">
            <a:avLst/>
          </a:prstGeom>
          <a:noFill/>
        </p:spPr>
        <p:txBody>
          <a:bodyPr wrap="square" lIns="0" rIns="0" tIns="0" bIns="0">
            <a:spAutoFit/>
          </a:bodyPr>
          <a:lstStyle/>
          <a:p>
            <a:pPr algn="l">
              <a:spcBef>
                <a:spcPts val="0"/>
              </a:spcBef>
              <a:spcAft>
                <a:spcPts val="100"/>
              </a:spcAft>
            </a:pPr>
            <a:r>
              <a:rPr sz="1600" b="1">
                <a:solidFill>
                  <a:srgbClr val="008C8C"/>
                </a:solidFill>
                <a:latin typeface="Meiryo"/>
              </a:rPr>
              <a:t>時間的選択</a:t>
            </a:r>
          </a:p>
          <a:p>
            <a:pPr algn="l">
              <a:spcBef>
                <a:spcPts val="0"/>
              </a:spcBef>
              <a:spcAft>
                <a:spcPts val="1100"/>
              </a:spcAft>
            </a:pPr>
            <a:r>
              <a:rPr sz="950" b="0">
                <a:solidFill>
                  <a:srgbClr val="5A6677"/>
                </a:solidFill>
                <a:latin typeface="Meiryo"/>
              </a:rPr>
              <a:t>Temporal Selection</a:t>
            </a:r>
          </a:p>
          <a:p>
            <a:pPr algn="l">
              <a:spcBef>
                <a:spcPts val="0"/>
              </a:spcBef>
              <a:spcAft>
                <a:spcPts val="800"/>
              </a:spcAft>
            </a:pPr>
            <a:r>
              <a:rPr sz="1000" b="0">
                <a:solidFill>
                  <a:srgbClr val="182A3E"/>
                </a:solidFill>
                <a:latin typeface="Consolas"/>
              </a:rPr>
              <a:t>obs_time BETWEEN ? AND ?</a:t>
            </a:r>
          </a:p>
          <a:p>
            <a:pPr algn="l">
              <a:spcBef>
                <a:spcPts val="0"/>
              </a:spcBef>
              <a:spcAft>
                <a:spcPts val="300"/>
              </a:spcAft>
            </a:pPr>
            <a:r>
              <a:rPr sz="1000" b="0">
                <a:solidFill>
                  <a:srgbClr val="5A6677"/>
                </a:solidFill>
                <a:latin typeface="Meiryo"/>
              </a:rPr>
              <a:t>索引: B-tree 索引</a:t>
            </a:r>
          </a:p>
          <a:p>
            <a:pPr algn="l">
              <a:spcBef>
                <a:spcPts val="0"/>
              </a:spcBef>
              <a:spcAft>
                <a:spcPts val="0"/>
              </a:spcAft>
            </a:pPr>
            <a:r>
              <a:rPr sz="1000" b="0">
                <a:solidFill>
                  <a:srgbClr val="5A6677"/>
                </a:solidFill>
                <a:latin typeface="Meiryo"/>
              </a:rPr>
              <a:t>対象: obs_time / event_time</a:t>
            </a:r>
          </a:p>
        </p:txBody>
      </p:sp>
      <p:sp>
        <p:nvSpPr>
          <p:cNvPr id="15" name="Rectangle 14"/>
          <p:cNvSpPr/>
          <p:nvPr/>
        </p:nvSpPr>
        <p:spPr>
          <a:xfrm>
            <a:off x="8092440" y="2011680"/>
            <a:ext cx="3520440" cy="1965960"/>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92440" y="2011680"/>
            <a:ext cx="3520440" cy="82296"/>
          </a:xfrm>
          <a:prstGeom prst="rect">
            <a:avLst/>
          </a:prstGeom>
          <a:solidFill>
            <a:srgbClr val="D16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48471" y="2231136"/>
            <a:ext cx="3017520" cy="1645920"/>
          </a:xfrm>
          <a:prstGeom prst="rect">
            <a:avLst/>
          </a:prstGeom>
          <a:noFill/>
        </p:spPr>
        <p:txBody>
          <a:bodyPr wrap="square" lIns="0" rIns="0" tIns="0" bIns="0">
            <a:spAutoFit/>
          </a:bodyPr>
          <a:lstStyle/>
          <a:p>
            <a:pPr algn="l">
              <a:spcBef>
                <a:spcPts val="0"/>
              </a:spcBef>
              <a:spcAft>
                <a:spcPts val="100"/>
              </a:spcAft>
            </a:pPr>
            <a:r>
              <a:rPr sz="1600" b="1">
                <a:solidFill>
                  <a:srgbClr val="D1661E"/>
                </a:solidFill>
                <a:latin typeface="Meiryo"/>
              </a:rPr>
              <a:t>意味的選択</a:t>
            </a:r>
          </a:p>
          <a:p>
            <a:pPr algn="l">
              <a:spcBef>
                <a:spcPts val="0"/>
              </a:spcBef>
              <a:spcAft>
                <a:spcPts val="1100"/>
              </a:spcAft>
            </a:pPr>
            <a:r>
              <a:rPr sz="950" b="0">
                <a:solidFill>
                  <a:srgbClr val="5A6677"/>
                </a:solidFill>
                <a:latin typeface="Meiryo"/>
              </a:rPr>
              <a:t>Semantic Selection</a:t>
            </a:r>
          </a:p>
          <a:p>
            <a:pPr algn="l">
              <a:spcBef>
                <a:spcPts val="0"/>
              </a:spcBef>
              <a:spcAft>
                <a:spcPts val="800"/>
              </a:spcAft>
            </a:pPr>
            <a:r>
              <a:rPr sz="1000" b="0">
                <a:solidFill>
                  <a:srgbClr val="182A3E"/>
                </a:solidFill>
                <a:latin typeface="Consolas"/>
              </a:rPr>
              <a:t>embedding &lt;=&gt; query_vec</a:t>
            </a:r>
          </a:p>
          <a:p>
            <a:pPr algn="l">
              <a:spcBef>
                <a:spcPts val="0"/>
              </a:spcBef>
              <a:spcAft>
                <a:spcPts val="300"/>
              </a:spcAft>
            </a:pPr>
            <a:r>
              <a:rPr sz="1000" b="0">
                <a:solidFill>
                  <a:srgbClr val="5A6677"/>
                </a:solidFill>
                <a:latin typeface="Meiryo"/>
              </a:rPr>
              <a:t>索引: pgvector  IVFFlat 索引</a:t>
            </a:r>
          </a:p>
          <a:p>
            <a:pPr algn="l">
              <a:spcBef>
                <a:spcPts val="0"/>
              </a:spcBef>
              <a:spcAft>
                <a:spcPts val="0"/>
              </a:spcAft>
            </a:pPr>
            <a:r>
              <a:rPr sz="1000" b="0">
                <a:solidFill>
                  <a:srgbClr val="5A6677"/>
                </a:solidFill>
                <a:latin typeface="Meiryo"/>
              </a:rPr>
              <a:t>対象: 384 次元 / JP·EN·CN 共有</a:t>
            </a:r>
          </a:p>
        </p:txBody>
      </p:sp>
      <p:sp>
        <p:nvSpPr>
          <p:cNvPr id="18" name="Rectangle 17"/>
          <p:cNvSpPr/>
          <p:nvPr/>
        </p:nvSpPr>
        <p:spPr>
          <a:xfrm>
            <a:off x="2377440" y="4160520"/>
            <a:ext cx="7452360" cy="77724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651760" y="4315968"/>
            <a:ext cx="6949440" cy="548640"/>
          </a:xfrm>
          <a:prstGeom prst="rect">
            <a:avLst/>
          </a:prstGeom>
          <a:noFill/>
        </p:spPr>
        <p:txBody>
          <a:bodyPr wrap="square" lIns="0" rIns="0" tIns="0" bIns="0">
            <a:spAutoFit/>
          </a:bodyPr>
          <a:lstStyle/>
          <a:p>
            <a:pPr algn="ctr">
              <a:spcBef>
                <a:spcPts val="0"/>
              </a:spcBef>
              <a:spcAft>
                <a:spcPts val="200"/>
              </a:spcAft>
            </a:pPr>
            <a:r>
              <a:rPr sz="1500" b="1">
                <a:solidFill>
                  <a:srgbClr val="FFFFFF"/>
                </a:solidFill>
                <a:latin typeface="Meiryo"/>
              </a:rPr>
              <a:t>結合 (Join) — 時空間で候補を絞り、意味距離で並べ替える</a:t>
            </a:r>
          </a:p>
          <a:p>
            <a:pPr algn="ctr">
              <a:spcBef>
                <a:spcPts val="0"/>
              </a:spcBef>
              <a:spcAft>
                <a:spcPts val="0"/>
              </a:spcAft>
            </a:pPr>
            <a:r>
              <a:rPr sz="1050" b="0">
                <a:solidFill>
                  <a:srgbClr val="9FC4E2"/>
                </a:solidFill>
                <a:latin typeface="Meiryo"/>
              </a:rPr>
              <a:t>/search/hybrid  →  「意味的結合」の工学的実装</a:t>
            </a:r>
          </a:p>
        </p:txBody>
      </p:sp>
      <p:sp>
        <p:nvSpPr>
          <p:cNvPr id="20" name="Rectangle 19"/>
          <p:cNvSpPr/>
          <p:nvPr/>
        </p:nvSpPr>
        <p:spPr>
          <a:xfrm>
            <a:off x="685800" y="5120640"/>
            <a:ext cx="10789920" cy="1051560"/>
          </a:xfrm>
          <a:prstGeom prst="rect">
            <a:avLst/>
          </a:prstGeom>
          <a:solidFill>
            <a:srgbClr val="ECF6F6"/>
          </a:solidFill>
          <a:ln w="12700">
            <a:solidFill>
              <a:srgbClr val="00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50392" y="5230368"/>
            <a:ext cx="10460736" cy="832103"/>
          </a:xfrm>
          <a:prstGeom prst="rect">
            <a:avLst/>
          </a:prstGeom>
          <a:noFill/>
        </p:spPr>
        <p:txBody>
          <a:bodyPr wrap="square" lIns="0" rIns="0" tIns="0" bIns="0">
            <a:spAutoFit/>
          </a:bodyPr>
          <a:lstStyle/>
          <a:p>
            <a:pPr algn="l">
              <a:lnSpc>
                <a:spcPct val="115000"/>
              </a:lnSpc>
              <a:spcBef>
                <a:spcPts val="0"/>
              </a:spcBef>
              <a:spcAft>
                <a:spcPts val="0"/>
              </a:spcAft>
            </a:pPr>
            <a:r>
              <a:rPr sz="1200" b="0">
                <a:solidFill>
                  <a:srgbClr val="0B4C4C"/>
                </a:solidFill>
                <a:latin typeface="Meiryo"/>
              </a:rPr>
              <a:t>多言語モデル paraphrase-multilingual-MiniLM-L12-v2 により JP / EN / CN が同一の 384 次元意味空間を共有する。
検証済み: 「洪水と土砂災害をもたらした台風」と "severe flooding typhoon" の類似度 0.82、無関係文とは 0.10。
英語クエリ "severe flooding and heavy rain warning" が中国語「暴雨预警信号」を距離 0.33 で命中する。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1. システム設計思路 — 構成と実装規模</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分散ソース → 統合 → 知識ベース → API → UI ／ 実データは 2026-07 現在</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2</a:t>
            </a:r>
          </a:p>
        </p:txBody>
      </p:sp>
      <p:sp>
        <p:nvSpPr>
          <p:cNvPr id="7" name="Rectangle 6"/>
          <p:cNvSpPr/>
          <p:nvPr/>
        </p:nvSpPr>
        <p:spPr>
          <a:xfrm>
            <a:off x="685800" y="1207008"/>
            <a:ext cx="653796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1207008"/>
            <a:ext cx="82296" cy="896112"/>
          </a:xfrm>
          <a:prstGeom prst="rect">
            <a:avLst/>
          </a:prstGeom>
          <a:solidFill>
            <a:srgbClr val="4A6C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1307592"/>
            <a:ext cx="6172200" cy="749808"/>
          </a:xfrm>
          <a:prstGeom prst="rect">
            <a:avLst/>
          </a:prstGeom>
          <a:noFill/>
        </p:spPr>
        <p:txBody>
          <a:bodyPr wrap="square" lIns="0" rIns="0" tIns="0" bIns="0">
            <a:spAutoFit/>
          </a:bodyPr>
          <a:lstStyle/>
          <a:p>
            <a:pPr algn="l">
              <a:spcBef>
                <a:spcPts val="0"/>
              </a:spcBef>
              <a:spcAft>
                <a:spcPts val="300"/>
              </a:spcAft>
            </a:pPr>
            <a:r>
              <a:rPr sz="1250" b="1">
                <a:solidFill>
                  <a:srgbClr val="4A6C8E"/>
                </a:solidFill>
                <a:latin typeface="Meiryo"/>
              </a:rPr>
              <a:t>分散データソース</a:t>
            </a:r>
          </a:p>
          <a:p>
            <a:pPr algn="l">
              <a:lnSpc>
                <a:spcPct val="110000"/>
              </a:lnSpc>
              <a:spcBef>
                <a:spcPts val="0"/>
              </a:spcBef>
              <a:spcAft>
                <a:spcPts val="0"/>
              </a:spcAft>
            </a:pPr>
            <a:r>
              <a:rPr sz="950" b="0">
                <a:solidFill>
                  <a:srgbClr val="5A6677"/>
                </a:solidFill>
                <a:latin typeface="Meiryo"/>
              </a:rPr>
              <a:t>IBTrACS(NOAA) ／ GDACS(UN/EC) ／ Digital Typhoon(NII) ／ Natural Earth ／ GADM 4.1
中央气象台・香港天文台・気象庁警報 ／ 応急管理部・消防庁・ReliefWeb</a:t>
            </a:r>
          </a:p>
        </p:txBody>
      </p:sp>
      <p:sp>
        <p:nvSpPr>
          <p:cNvPr id="10" name="TextBox 9"/>
          <p:cNvSpPr txBox="1"/>
          <p:nvPr/>
        </p:nvSpPr>
        <p:spPr>
          <a:xfrm>
            <a:off x="3840480" y="2057400"/>
            <a:ext cx="457200" cy="182880"/>
          </a:xfrm>
          <a:prstGeom prst="rect">
            <a:avLst/>
          </a:prstGeom>
          <a:noFill/>
        </p:spPr>
        <p:txBody>
          <a:bodyPr wrap="square" lIns="0" rIns="0" tIns="0" bIns="0">
            <a:spAutoFit/>
          </a:bodyPr>
          <a:lstStyle/>
          <a:p>
            <a:pPr algn="l">
              <a:spcBef>
                <a:spcPts val="0"/>
              </a:spcBef>
              <a:spcAft>
                <a:spcPts val="0"/>
              </a:spcAft>
            </a:pPr>
            <a:r>
              <a:rPr sz="800" b="0">
                <a:solidFill>
                  <a:srgbClr val="C9D3E4"/>
                </a:solidFill>
                <a:latin typeface="Meiryo"/>
              </a:rPr>
              <a:t>▼</a:t>
            </a:r>
          </a:p>
        </p:txBody>
      </p:sp>
      <p:sp>
        <p:nvSpPr>
          <p:cNvPr id="11" name="Rectangle 10"/>
          <p:cNvSpPr/>
          <p:nvPr/>
        </p:nvSpPr>
        <p:spPr>
          <a:xfrm>
            <a:off x="685800" y="2185415"/>
            <a:ext cx="653796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85800" y="2185415"/>
            <a:ext cx="82296" cy="896112"/>
          </a:xfrm>
          <a:prstGeom prst="rect">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285999"/>
            <a:ext cx="6172200" cy="749808"/>
          </a:xfrm>
          <a:prstGeom prst="rect">
            <a:avLst/>
          </a:prstGeom>
          <a:noFill/>
        </p:spPr>
        <p:txBody>
          <a:bodyPr wrap="square" lIns="0" rIns="0" tIns="0" bIns="0">
            <a:spAutoFit/>
          </a:bodyPr>
          <a:lstStyle/>
          <a:p>
            <a:pPr algn="l">
              <a:spcBef>
                <a:spcPts val="0"/>
              </a:spcBef>
              <a:spcAft>
                <a:spcPts val="300"/>
              </a:spcAft>
            </a:pPr>
            <a:r>
              <a:rPr sz="1250" b="1">
                <a:solidFill>
                  <a:srgbClr val="1F5C99"/>
                </a:solidFill>
                <a:latin typeface="Meiryo"/>
              </a:rPr>
              <a:t>クローラ / 統合  backend/crawler/</a:t>
            </a:r>
          </a:p>
          <a:p>
            <a:pPr algn="l">
              <a:lnSpc>
                <a:spcPct val="110000"/>
              </a:lnSpc>
              <a:spcBef>
                <a:spcPts val="0"/>
              </a:spcBef>
              <a:spcAft>
                <a:spcPts val="0"/>
              </a:spcAft>
            </a:pPr>
            <a:r>
              <a:rPr sz="950" b="0">
                <a:solidFill>
                  <a:srgbClr val="5A6677"/>
                </a:solidFill>
                <a:latin typeface="Meiryo"/>
              </a:rPr>
              <a:t>load.py 三段階マッチング (intl_id → 名称 → 時空間近傍)
enrich.py 地理影響の導出 ／ embed.py 多言語ベクトル化 ／ pipeline.py 統括</a:t>
            </a:r>
          </a:p>
        </p:txBody>
      </p:sp>
      <p:sp>
        <p:nvSpPr>
          <p:cNvPr id="14" name="TextBox 13"/>
          <p:cNvSpPr txBox="1"/>
          <p:nvPr/>
        </p:nvSpPr>
        <p:spPr>
          <a:xfrm>
            <a:off x="3840480" y="3035808"/>
            <a:ext cx="457200" cy="182880"/>
          </a:xfrm>
          <a:prstGeom prst="rect">
            <a:avLst/>
          </a:prstGeom>
          <a:noFill/>
        </p:spPr>
        <p:txBody>
          <a:bodyPr wrap="square" lIns="0" rIns="0" tIns="0" bIns="0">
            <a:spAutoFit/>
          </a:bodyPr>
          <a:lstStyle/>
          <a:p>
            <a:pPr algn="l">
              <a:spcBef>
                <a:spcPts val="0"/>
              </a:spcBef>
              <a:spcAft>
                <a:spcPts val="0"/>
              </a:spcAft>
            </a:pPr>
            <a:r>
              <a:rPr sz="800" b="0">
                <a:solidFill>
                  <a:srgbClr val="C9D3E4"/>
                </a:solidFill>
                <a:latin typeface="Meiryo"/>
              </a:rPr>
              <a:t>▼</a:t>
            </a:r>
          </a:p>
        </p:txBody>
      </p:sp>
      <p:sp>
        <p:nvSpPr>
          <p:cNvPr id="15" name="Rectangle 14"/>
          <p:cNvSpPr/>
          <p:nvPr/>
        </p:nvSpPr>
        <p:spPr>
          <a:xfrm>
            <a:off x="685800" y="3163823"/>
            <a:ext cx="653796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85800" y="3163823"/>
            <a:ext cx="82296" cy="89611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3264407"/>
            <a:ext cx="6172200" cy="749808"/>
          </a:xfrm>
          <a:prstGeom prst="rect">
            <a:avLst/>
          </a:prstGeom>
          <a:noFill/>
        </p:spPr>
        <p:txBody>
          <a:bodyPr wrap="square" lIns="0" rIns="0" tIns="0" bIns="0">
            <a:spAutoFit/>
          </a:bodyPr>
          <a:lstStyle/>
          <a:p>
            <a:pPr algn="l">
              <a:spcBef>
                <a:spcPts val="0"/>
              </a:spcBef>
              <a:spcAft>
                <a:spcPts val="300"/>
              </a:spcAft>
            </a:pPr>
            <a:r>
              <a:rPr sz="1250" b="1">
                <a:solidFill>
                  <a:srgbClr val="008C8C"/>
                </a:solidFill>
                <a:latin typeface="Meiryo"/>
              </a:rPr>
              <a:t>知識ベース  PostgreSQL 18.4</a:t>
            </a:r>
          </a:p>
          <a:p>
            <a:pPr algn="l">
              <a:lnSpc>
                <a:spcPct val="110000"/>
              </a:lnSpc>
              <a:spcBef>
                <a:spcPts val="0"/>
              </a:spcBef>
              <a:spcAft>
                <a:spcPts val="0"/>
              </a:spcAft>
            </a:pPr>
            <a:r>
              <a:rPr sz="950" b="0">
                <a:solidFill>
                  <a:srgbClr val="5A6677"/>
                </a:solidFill>
                <a:latin typeface="Meiryo"/>
              </a:rPr>
              <a:t>9 テーブル ／ PostGIS 3.6.2 + pgvector 0.8.5
トリガ 7 本・関数 6 本 ／ GiST + IVFFlat + B-tree 索引</a:t>
            </a:r>
          </a:p>
        </p:txBody>
      </p:sp>
      <p:sp>
        <p:nvSpPr>
          <p:cNvPr id="18" name="TextBox 17"/>
          <p:cNvSpPr txBox="1"/>
          <p:nvPr/>
        </p:nvSpPr>
        <p:spPr>
          <a:xfrm>
            <a:off x="3840480" y="4014215"/>
            <a:ext cx="457200" cy="182880"/>
          </a:xfrm>
          <a:prstGeom prst="rect">
            <a:avLst/>
          </a:prstGeom>
          <a:noFill/>
        </p:spPr>
        <p:txBody>
          <a:bodyPr wrap="square" lIns="0" rIns="0" tIns="0" bIns="0">
            <a:spAutoFit/>
          </a:bodyPr>
          <a:lstStyle/>
          <a:p>
            <a:pPr algn="l">
              <a:spcBef>
                <a:spcPts val="0"/>
              </a:spcBef>
              <a:spcAft>
                <a:spcPts val="0"/>
              </a:spcAft>
            </a:pPr>
            <a:r>
              <a:rPr sz="800" b="0">
                <a:solidFill>
                  <a:srgbClr val="C9D3E4"/>
                </a:solidFill>
                <a:latin typeface="Meiryo"/>
              </a:rPr>
              <a:t>▼</a:t>
            </a:r>
          </a:p>
        </p:txBody>
      </p:sp>
      <p:sp>
        <p:nvSpPr>
          <p:cNvPr id="19" name="Rectangle 18"/>
          <p:cNvSpPr/>
          <p:nvPr/>
        </p:nvSpPr>
        <p:spPr>
          <a:xfrm>
            <a:off x="685800" y="4142231"/>
            <a:ext cx="653796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85800" y="4142231"/>
            <a:ext cx="82296" cy="89611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4242816"/>
            <a:ext cx="6172200" cy="749808"/>
          </a:xfrm>
          <a:prstGeom prst="rect">
            <a:avLst/>
          </a:prstGeom>
          <a:noFill/>
        </p:spPr>
        <p:txBody>
          <a:bodyPr wrap="square" lIns="0" rIns="0" tIns="0" bIns="0">
            <a:spAutoFit/>
          </a:bodyPr>
          <a:lstStyle/>
          <a:p>
            <a:pPr algn="l">
              <a:spcBef>
                <a:spcPts val="0"/>
              </a:spcBef>
              <a:spcAft>
                <a:spcPts val="300"/>
              </a:spcAft>
            </a:pPr>
            <a:r>
              <a:rPr sz="1250" b="1">
                <a:solidFill>
                  <a:srgbClr val="2E7D5B"/>
                </a:solidFill>
                <a:latin typeface="Meiryo"/>
              </a:rPr>
              <a:t>バックエンド  FastAPI + SQLAlchemy</a:t>
            </a:r>
          </a:p>
          <a:p>
            <a:pPr algn="l">
              <a:lnSpc>
                <a:spcPct val="110000"/>
              </a:lnSpc>
              <a:spcBef>
                <a:spcPts val="0"/>
              </a:spcBef>
              <a:spcAft>
                <a:spcPts val="0"/>
              </a:spcAft>
            </a:pPr>
            <a:r>
              <a:rPr sz="950" b="0">
                <a:solidFill>
                  <a:srgbClr val="5A6677"/>
                </a:solidFill>
                <a:latin typeface="Meiryo"/>
              </a:rPr>
              <a:t>/typhoons 属性 ・ /search/spatiotemporal ・ /search/semantic
/search/hybrid 結合 ・ /stats/* 集計 — すべて GeoJSON で応答</a:t>
            </a:r>
          </a:p>
        </p:txBody>
      </p:sp>
      <p:sp>
        <p:nvSpPr>
          <p:cNvPr id="22" name="TextBox 21"/>
          <p:cNvSpPr txBox="1"/>
          <p:nvPr/>
        </p:nvSpPr>
        <p:spPr>
          <a:xfrm>
            <a:off x="3840480" y="4992624"/>
            <a:ext cx="457200" cy="182880"/>
          </a:xfrm>
          <a:prstGeom prst="rect">
            <a:avLst/>
          </a:prstGeom>
          <a:noFill/>
        </p:spPr>
        <p:txBody>
          <a:bodyPr wrap="square" lIns="0" rIns="0" tIns="0" bIns="0">
            <a:spAutoFit/>
          </a:bodyPr>
          <a:lstStyle/>
          <a:p>
            <a:pPr algn="l">
              <a:spcBef>
                <a:spcPts val="0"/>
              </a:spcBef>
              <a:spcAft>
                <a:spcPts val="0"/>
              </a:spcAft>
            </a:pPr>
            <a:r>
              <a:rPr sz="800" b="0">
                <a:solidFill>
                  <a:srgbClr val="C9D3E4"/>
                </a:solidFill>
                <a:latin typeface="Meiryo"/>
              </a:rPr>
              <a:t>▼</a:t>
            </a:r>
          </a:p>
        </p:txBody>
      </p:sp>
      <p:sp>
        <p:nvSpPr>
          <p:cNvPr id="23" name="Rectangle 22"/>
          <p:cNvSpPr/>
          <p:nvPr/>
        </p:nvSpPr>
        <p:spPr>
          <a:xfrm>
            <a:off x="685800" y="5120640"/>
            <a:ext cx="653796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85800" y="5120640"/>
            <a:ext cx="82296" cy="896112"/>
          </a:xfrm>
          <a:prstGeom prst="rect">
            <a:avLst/>
          </a:prstGeom>
          <a:solidFill>
            <a:srgbClr val="D16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221224"/>
            <a:ext cx="6172200" cy="749808"/>
          </a:xfrm>
          <a:prstGeom prst="rect">
            <a:avLst/>
          </a:prstGeom>
          <a:noFill/>
        </p:spPr>
        <p:txBody>
          <a:bodyPr wrap="square" lIns="0" rIns="0" tIns="0" bIns="0">
            <a:spAutoFit/>
          </a:bodyPr>
          <a:lstStyle/>
          <a:p>
            <a:pPr algn="l">
              <a:spcBef>
                <a:spcPts val="0"/>
              </a:spcBef>
              <a:spcAft>
                <a:spcPts val="300"/>
              </a:spcAft>
            </a:pPr>
            <a:r>
              <a:rPr sz="1250" b="1">
                <a:solidFill>
                  <a:srgbClr val="D1661E"/>
                </a:solidFill>
                <a:latin typeface="Meiryo"/>
              </a:rPr>
              <a:t>フロントエンド  Vue 3 + Leaflet</a:t>
            </a:r>
          </a:p>
          <a:p>
            <a:pPr algn="l">
              <a:lnSpc>
                <a:spcPct val="110000"/>
              </a:lnSpc>
              <a:spcBef>
                <a:spcPts val="0"/>
              </a:spcBef>
              <a:spcAft>
                <a:spcPts val="0"/>
              </a:spcAft>
            </a:pPr>
            <a:r>
              <a:rPr sz="950" b="0">
                <a:solidFill>
                  <a:srgbClr val="5A6677"/>
                </a:solidFill>
                <a:latin typeface="Meiryo"/>
              </a:rPr>
              <a:t>地図 (経路・強度配色・被害点・上陸点) ／ 時間軸再生
意味連想検索 ／ 三段階コロプレス統計</a:t>
            </a:r>
          </a:p>
        </p:txBody>
      </p:sp>
      <p:sp>
        <p:nvSpPr>
          <p:cNvPr id="26" name="Rectangle 25"/>
          <p:cNvSpPr/>
          <p:nvPr/>
        </p:nvSpPr>
        <p:spPr>
          <a:xfrm>
            <a:off x="7452360" y="1207008"/>
            <a:ext cx="192024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452360" y="1207008"/>
            <a:ext cx="68580" cy="896112"/>
          </a:xfrm>
          <a:prstGeom prst="rect">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671816" y="1353312"/>
            <a:ext cx="1600200" cy="667512"/>
          </a:xfrm>
          <a:prstGeom prst="rect">
            <a:avLst/>
          </a:prstGeom>
          <a:noFill/>
        </p:spPr>
        <p:txBody>
          <a:bodyPr wrap="square" lIns="0" rIns="0" tIns="0" bIns="0">
            <a:spAutoFit/>
          </a:bodyPr>
          <a:lstStyle/>
          <a:p>
            <a:pPr algn="l">
              <a:spcBef>
                <a:spcPts val="0"/>
              </a:spcBef>
              <a:spcAft>
                <a:spcPts val="100"/>
              </a:spcAft>
            </a:pPr>
            <a:r>
              <a:rPr sz="2200" b="1">
                <a:solidFill>
                  <a:srgbClr val="1F5C99"/>
                </a:solidFill>
                <a:latin typeface="Meiryo"/>
              </a:rPr>
              <a:t>1,993</a:t>
            </a:r>
          </a:p>
          <a:p>
            <a:pPr algn="l">
              <a:spcBef>
                <a:spcPts val="0"/>
              </a:spcBef>
              <a:spcAft>
                <a:spcPts val="0"/>
              </a:spcAft>
            </a:pPr>
            <a:r>
              <a:rPr sz="1050" b="0">
                <a:solidFill>
                  <a:srgbClr val="5A6677"/>
                </a:solidFill>
                <a:latin typeface="Meiryo"/>
              </a:rPr>
              <a:t>台風 (1949–2026)</a:t>
            </a:r>
          </a:p>
        </p:txBody>
      </p:sp>
      <p:sp>
        <p:nvSpPr>
          <p:cNvPr id="29" name="Rectangle 28"/>
          <p:cNvSpPr/>
          <p:nvPr/>
        </p:nvSpPr>
        <p:spPr>
          <a:xfrm>
            <a:off x="9482328" y="1207008"/>
            <a:ext cx="192024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482328" y="1207008"/>
            <a:ext cx="68580" cy="896112"/>
          </a:xfrm>
          <a:prstGeom prst="rect">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701784" y="1353312"/>
            <a:ext cx="1600200" cy="667512"/>
          </a:xfrm>
          <a:prstGeom prst="rect">
            <a:avLst/>
          </a:prstGeom>
          <a:noFill/>
        </p:spPr>
        <p:txBody>
          <a:bodyPr wrap="square" lIns="0" rIns="0" tIns="0" bIns="0">
            <a:spAutoFit/>
          </a:bodyPr>
          <a:lstStyle/>
          <a:p>
            <a:pPr algn="l">
              <a:spcBef>
                <a:spcPts val="0"/>
              </a:spcBef>
              <a:spcAft>
                <a:spcPts val="100"/>
              </a:spcAft>
            </a:pPr>
            <a:r>
              <a:rPr sz="2200" b="1">
                <a:solidFill>
                  <a:srgbClr val="1F5C99"/>
                </a:solidFill>
                <a:latin typeface="Meiryo"/>
              </a:rPr>
              <a:t>135,228</a:t>
            </a:r>
          </a:p>
          <a:p>
            <a:pPr algn="l">
              <a:spcBef>
                <a:spcPts val="0"/>
              </a:spcBef>
              <a:spcAft>
                <a:spcPts val="0"/>
              </a:spcAft>
            </a:pPr>
            <a:r>
              <a:rPr sz="1050" b="0">
                <a:solidFill>
                  <a:srgbClr val="5A6677"/>
                </a:solidFill>
                <a:latin typeface="Meiryo"/>
              </a:rPr>
              <a:t>経路点</a:t>
            </a:r>
          </a:p>
        </p:txBody>
      </p:sp>
      <p:sp>
        <p:nvSpPr>
          <p:cNvPr id="32" name="Rectangle 31"/>
          <p:cNvSpPr/>
          <p:nvPr/>
        </p:nvSpPr>
        <p:spPr>
          <a:xfrm>
            <a:off x="7452360" y="2185416"/>
            <a:ext cx="192024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452360" y="2185416"/>
            <a:ext cx="68580" cy="896112"/>
          </a:xfrm>
          <a:prstGeom prst="rect">
            <a:avLst/>
          </a:prstGeom>
          <a:solidFill>
            <a:srgbClr val="D16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671816" y="2331720"/>
            <a:ext cx="1600200" cy="667512"/>
          </a:xfrm>
          <a:prstGeom prst="rect">
            <a:avLst/>
          </a:prstGeom>
          <a:noFill/>
        </p:spPr>
        <p:txBody>
          <a:bodyPr wrap="square" lIns="0" rIns="0" tIns="0" bIns="0">
            <a:spAutoFit/>
          </a:bodyPr>
          <a:lstStyle/>
          <a:p>
            <a:pPr algn="l">
              <a:spcBef>
                <a:spcPts val="0"/>
              </a:spcBef>
              <a:spcAft>
                <a:spcPts val="100"/>
              </a:spcAft>
            </a:pPr>
            <a:r>
              <a:rPr sz="2200" b="1">
                <a:solidFill>
                  <a:srgbClr val="D1661E"/>
                </a:solidFill>
                <a:latin typeface="Meiryo"/>
              </a:rPr>
              <a:t>929</a:t>
            </a:r>
          </a:p>
          <a:p>
            <a:pPr algn="l">
              <a:spcBef>
                <a:spcPts val="0"/>
              </a:spcBef>
              <a:spcAft>
                <a:spcPts val="0"/>
              </a:spcAft>
            </a:pPr>
            <a:r>
              <a:rPr sz="1050" b="0">
                <a:solidFill>
                  <a:srgbClr val="5A6677"/>
                </a:solidFill>
                <a:latin typeface="Meiryo"/>
              </a:rPr>
              <a:t>受灾情報</a:t>
            </a:r>
          </a:p>
        </p:txBody>
      </p:sp>
      <p:sp>
        <p:nvSpPr>
          <p:cNvPr id="35" name="Rectangle 34"/>
          <p:cNvSpPr/>
          <p:nvPr/>
        </p:nvSpPr>
        <p:spPr>
          <a:xfrm>
            <a:off x="9482328" y="2185416"/>
            <a:ext cx="192024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9482328" y="2185416"/>
            <a:ext cx="68580" cy="896112"/>
          </a:xfrm>
          <a:prstGeom prst="rect">
            <a:avLst/>
          </a:prstGeom>
          <a:solidFill>
            <a:srgbClr val="D16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01784" y="2331720"/>
            <a:ext cx="1600200" cy="667512"/>
          </a:xfrm>
          <a:prstGeom prst="rect">
            <a:avLst/>
          </a:prstGeom>
          <a:noFill/>
        </p:spPr>
        <p:txBody>
          <a:bodyPr wrap="square" lIns="0" rIns="0" tIns="0" bIns="0">
            <a:spAutoFit/>
          </a:bodyPr>
          <a:lstStyle/>
          <a:p>
            <a:pPr algn="l">
              <a:spcBef>
                <a:spcPts val="0"/>
              </a:spcBef>
              <a:spcAft>
                <a:spcPts val="100"/>
              </a:spcAft>
            </a:pPr>
            <a:r>
              <a:rPr sz="2200" b="1">
                <a:solidFill>
                  <a:srgbClr val="D1661E"/>
                </a:solidFill>
                <a:latin typeface="Meiryo"/>
              </a:rPr>
              <a:t>210</a:t>
            </a:r>
          </a:p>
          <a:p>
            <a:pPr algn="l">
              <a:spcBef>
                <a:spcPts val="0"/>
              </a:spcBef>
              <a:spcAft>
                <a:spcPts val="0"/>
              </a:spcAft>
            </a:pPr>
            <a:r>
              <a:rPr sz="1050" b="0">
                <a:solidFill>
                  <a:srgbClr val="5A6677"/>
                </a:solidFill>
                <a:latin typeface="Meiryo"/>
              </a:rPr>
              <a:t>公共情報</a:t>
            </a:r>
          </a:p>
        </p:txBody>
      </p:sp>
      <p:sp>
        <p:nvSpPr>
          <p:cNvPr id="38" name="Rectangle 37"/>
          <p:cNvSpPr/>
          <p:nvPr/>
        </p:nvSpPr>
        <p:spPr>
          <a:xfrm>
            <a:off x="7452360" y="3163824"/>
            <a:ext cx="192024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452360" y="3163824"/>
            <a:ext cx="68580" cy="89611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71816" y="3310128"/>
            <a:ext cx="1600200" cy="667512"/>
          </a:xfrm>
          <a:prstGeom prst="rect">
            <a:avLst/>
          </a:prstGeom>
          <a:noFill/>
        </p:spPr>
        <p:txBody>
          <a:bodyPr wrap="square" lIns="0" rIns="0" tIns="0" bIns="0">
            <a:spAutoFit/>
          </a:bodyPr>
          <a:lstStyle/>
          <a:p>
            <a:pPr algn="l">
              <a:spcBef>
                <a:spcPts val="0"/>
              </a:spcBef>
              <a:spcAft>
                <a:spcPts val="100"/>
              </a:spcAft>
            </a:pPr>
            <a:r>
              <a:rPr sz="2200" b="1">
                <a:solidFill>
                  <a:srgbClr val="008C8C"/>
                </a:solidFill>
                <a:latin typeface="Meiryo"/>
              </a:rPr>
              <a:t>5,400</a:t>
            </a:r>
          </a:p>
          <a:p>
            <a:pPr algn="l">
              <a:spcBef>
                <a:spcPts val="0"/>
              </a:spcBef>
              <a:spcAft>
                <a:spcPts val="0"/>
              </a:spcAft>
            </a:pPr>
            <a:r>
              <a:rPr sz="1050" b="0">
                <a:solidFill>
                  <a:srgbClr val="5A6677"/>
                </a:solidFill>
                <a:latin typeface="Meiryo"/>
              </a:rPr>
              <a:t>行政区 (国22/省591/市4787)</a:t>
            </a:r>
          </a:p>
        </p:txBody>
      </p:sp>
      <p:sp>
        <p:nvSpPr>
          <p:cNvPr id="41" name="Rectangle 40"/>
          <p:cNvSpPr/>
          <p:nvPr/>
        </p:nvSpPr>
        <p:spPr>
          <a:xfrm>
            <a:off x="9482328" y="3163824"/>
            <a:ext cx="192024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9482328" y="3163824"/>
            <a:ext cx="68580" cy="89611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701784" y="3310128"/>
            <a:ext cx="1600200" cy="667512"/>
          </a:xfrm>
          <a:prstGeom prst="rect">
            <a:avLst/>
          </a:prstGeom>
          <a:noFill/>
        </p:spPr>
        <p:txBody>
          <a:bodyPr wrap="square" lIns="0" rIns="0" tIns="0" bIns="0">
            <a:spAutoFit/>
          </a:bodyPr>
          <a:lstStyle/>
          <a:p>
            <a:pPr algn="l">
              <a:spcBef>
                <a:spcPts val="0"/>
              </a:spcBef>
              <a:spcAft>
                <a:spcPts val="100"/>
              </a:spcAft>
            </a:pPr>
            <a:r>
              <a:rPr sz="2200" b="1">
                <a:solidFill>
                  <a:srgbClr val="008C8C"/>
                </a:solidFill>
                <a:latin typeface="Meiryo"/>
              </a:rPr>
              <a:t>383,707</a:t>
            </a:r>
          </a:p>
          <a:p>
            <a:pPr algn="l">
              <a:spcBef>
                <a:spcPts val="0"/>
              </a:spcBef>
              <a:spcAft>
                <a:spcPts val="0"/>
              </a:spcAft>
            </a:pPr>
            <a:r>
              <a:rPr sz="1050" b="0">
                <a:solidFill>
                  <a:srgbClr val="5A6677"/>
                </a:solidFill>
                <a:latin typeface="Meiryo"/>
              </a:rPr>
              <a:t>影響事実</a:t>
            </a:r>
          </a:p>
        </p:txBody>
      </p:sp>
      <p:sp>
        <p:nvSpPr>
          <p:cNvPr id="44" name="Rectangle 43"/>
          <p:cNvSpPr/>
          <p:nvPr/>
        </p:nvSpPr>
        <p:spPr>
          <a:xfrm>
            <a:off x="7452360" y="4142232"/>
            <a:ext cx="192024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452360" y="4142232"/>
            <a:ext cx="68580" cy="896112"/>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671816" y="4288536"/>
            <a:ext cx="1600200" cy="667512"/>
          </a:xfrm>
          <a:prstGeom prst="rect">
            <a:avLst/>
          </a:prstGeom>
          <a:noFill/>
        </p:spPr>
        <p:txBody>
          <a:bodyPr wrap="square" lIns="0" rIns="0" tIns="0" bIns="0">
            <a:spAutoFit/>
          </a:bodyPr>
          <a:lstStyle/>
          <a:p>
            <a:pPr algn="l">
              <a:spcBef>
                <a:spcPts val="0"/>
              </a:spcBef>
              <a:spcAft>
                <a:spcPts val="100"/>
              </a:spcAft>
            </a:pPr>
            <a:r>
              <a:rPr sz="2200" b="1">
                <a:solidFill>
                  <a:srgbClr val="2E7D5B"/>
                </a:solidFill>
                <a:latin typeface="Meiryo"/>
              </a:rPr>
              <a:t>1,905</a:t>
            </a:r>
          </a:p>
          <a:p>
            <a:pPr algn="l">
              <a:spcBef>
                <a:spcPts val="0"/>
              </a:spcBef>
              <a:spcAft>
                <a:spcPts val="0"/>
              </a:spcAft>
            </a:pPr>
            <a:r>
              <a:rPr sz="1050" b="0">
                <a:solidFill>
                  <a:srgbClr val="5A6677"/>
                </a:solidFill>
                <a:latin typeface="Meiryo"/>
              </a:rPr>
              <a:t>上陸イベント</a:t>
            </a:r>
          </a:p>
        </p:txBody>
      </p:sp>
      <p:sp>
        <p:nvSpPr>
          <p:cNvPr id="47" name="Rectangle 46"/>
          <p:cNvSpPr/>
          <p:nvPr/>
        </p:nvSpPr>
        <p:spPr>
          <a:xfrm>
            <a:off x="9482328" y="4142232"/>
            <a:ext cx="1920240" cy="896112"/>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9482328" y="4142232"/>
            <a:ext cx="68580" cy="896112"/>
          </a:xfrm>
          <a:prstGeom prst="rect">
            <a:avLst/>
          </a:prstGeom>
          <a:solidFill>
            <a:srgbClr val="5A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701784" y="4288536"/>
            <a:ext cx="1600200" cy="667512"/>
          </a:xfrm>
          <a:prstGeom prst="rect">
            <a:avLst/>
          </a:prstGeom>
          <a:noFill/>
        </p:spPr>
        <p:txBody>
          <a:bodyPr wrap="square" lIns="0" rIns="0" tIns="0" bIns="0">
            <a:spAutoFit/>
          </a:bodyPr>
          <a:lstStyle/>
          <a:p>
            <a:pPr algn="l">
              <a:spcBef>
                <a:spcPts val="0"/>
              </a:spcBef>
              <a:spcAft>
                <a:spcPts val="100"/>
              </a:spcAft>
            </a:pPr>
            <a:r>
              <a:rPr sz="2200" b="1">
                <a:solidFill>
                  <a:srgbClr val="5A6677"/>
                </a:solidFill>
                <a:latin typeface="Meiryo"/>
              </a:rPr>
              <a:t>158 MB</a:t>
            </a:r>
          </a:p>
          <a:p>
            <a:pPr algn="l">
              <a:spcBef>
                <a:spcPts val="0"/>
              </a:spcBef>
              <a:spcAft>
                <a:spcPts val="0"/>
              </a:spcAft>
            </a:pPr>
            <a:r>
              <a:rPr sz="1050" b="0">
                <a:solidFill>
                  <a:srgbClr val="5A6677"/>
                </a:solidFill>
                <a:latin typeface="Meiryo"/>
              </a:rPr>
              <a:t>DB 総容量</a:t>
            </a:r>
          </a:p>
        </p:txBody>
      </p:sp>
      <p:sp>
        <p:nvSpPr>
          <p:cNvPr id="50" name="Rectangle 49"/>
          <p:cNvSpPr/>
          <p:nvPr/>
        </p:nvSpPr>
        <p:spPr>
          <a:xfrm>
            <a:off x="7452360" y="5120640"/>
            <a:ext cx="4023360" cy="1051560"/>
          </a:xfrm>
          <a:prstGeom prst="rect">
            <a:avLst/>
          </a:prstGeom>
          <a:solidFill>
            <a:srgbClr val="ECF6F6"/>
          </a:solidFill>
          <a:ln w="12700">
            <a:solidFill>
              <a:srgbClr val="00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616952" y="5230368"/>
            <a:ext cx="3694176" cy="832103"/>
          </a:xfrm>
          <a:prstGeom prst="rect">
            <a:avLst/>
          </a:prstGeom>
          <a:noFill/>
        </p:spPr>
        <p:txBody>
          <a:bodyPr wrap="square" lIns="0" rIns="0" tIns="0" bIns="0">
            <a:spAutoFit/>
          </a:bodyPr>
          <a:lstStyle/>
          <a:p>
            <a:pPr algn="l">
              <a:lnSpc>
                <a:spcPct val="115000"/>
              </a:lnSpc>
              <a:spcBef>
                <a:spcPts val="0"/>
              </a:spcBef>
              <a:spcAft>
                <a:spcPts val="0"/>
              </a:spcAft>
            </a:pPr>
            <a:r>
              <a:rPr sz="1200" b="0">
                <a:solidFill>
                  <a:srgbClr val="0B4C4C"/>
                </a:solidFill>
                <a:latin typeface="Meiryo"/>
              </a:rPr>
              <a:t>観測機関別  JMA 71,163 ／ CMA 60,498 ／ JTWC 3,567
上陸回数 (実測)  China 600 ＞ Philippines 527
＞ Japan 284 ＞ Vietnam 250 ＞ Taiwan 106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2. 主なシーン</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地図可視化 ／ 意味連想検索 ／ 統計分析 ／ データ取込</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3</a:t>
            </a:r>
          </a:p>
        </p:txBody>
      </p:sp>
      <p:sp>
        <p:nvSpPr>
          <p:cNvPr id="7" name="Rectangle 6"/>
          <p:cNvSpPr/>
          <p:nvPr/>
        </p:nvSpPr>
        <p:spPr>
          <a:xfrm>
            <a:off x="685800" y="1188720"/>
            <a:ext cx="5303520" cy="2395728"/>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1188720"/>
            <a:ext cx="5303520" cy="64008"/>
          </a:xfrm>
          <a:prstGeom prst="rect">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86968" y="1371600"/>
            <a:ext cx="4892040" cy="502920"/>
          </a:xfrm>
          <a:prstGeom prst="rect">
            <a:avLst/>
          </a:prstGeom>
          <a:noFill/>
        </p:spPr>
        <p:txBody>
          <a:bodyPr wrap="square" lIns="0" rIns="0" tIns="0" bIns="0">
            <a:spAutoFit/>
          </a:bodyPr>
          <a:lstStyle/>
          <a:p>
            <a:pPr algn="l">
              <a:spcBef>
                <a:spcPts val="0"/>
              </a:spcBef>
              <a:spcAft>
                <a:spcPts val="300"/>
              </a:spcAft>
            </a:pPr>
            <a:r>
              <a:rPr sz="1350" b="1">
                <a:solidFill>
                  <a:srgbClr val="1F5C99"/>
                </a:solidFill>
                <a:latin typeface="Meiryo"/>
              </a:rPr>
              <a:t>① 地図可視化と時間軸再生</a:t>
            </a:r>
          </a:p>
          <a:p>
            <a:pPr algn="l">
              <a:lnSpc>
                <a:spcPct val="112000"/>
              </a:lnSpc>
              <a:spcBef>
                <a:spcPts val="0"/>
              </a:spcBef>
              <a:spcAft>
                <a:spcPts val="0"/>
              </a:spcAft>
            </a:pPr>
            <a:r>
              <a:rPr sz="950" b="0">
                <a:solidFill>
                  <a:srgbClr val="5A6677"/>
                </a:solidFill>
                <a:latin typeface="Meiryo"/>
              </a:rPr>
              <a:t>経路を強度で配色して描画し、時間軸スライダで進行を再生。被害点・公共情報・上陸点を重畳</a:t>
            </a:r>
          </a:p>
        </p:txBody>
      </p:sp>
      <p:sp>
        <p:nvSpPr>
          <p:cNvPr id="10" name="Rectangle 9"/>
          <p:cNvSpPr/>
          <p:nvPr/>
        </p:nvSpPr>
        <p:spPr>
          <a:xfrm>
            <a:off x="886968" y="2084832"/>
            <a:ext cx="4892040" cy="1371600"/>
          </a:xfrm>
          <a:prstGeom prst="rect">
            <a:avLst/>
          </a:prstGeom>
          <a:solidFill>
            <a:srgbClr val="FAFBFD"/>
          </a:solidFill>
          <a:ln w="12700">
            <a:solidFill>
              <a:srgbClr val="9FB2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250" b="1">
                <a:solidFill>
                  <a:srgbClr val="7F92AD"/>
                </a:solidFill>
                <a:latin typeface="Meiryo"/>
              </a:rPr>
              <a:t>📷  地図画面 (MapPage.vue)</a:t>
            </a:r>
          </a:p>
        </p:txBody>
      </p:sp>
      <p:sp>
        <p:nvSpPr>
          <p:cNvPr id="11" name="Rectangle 10"/>
          <p:cNvSpPr/>
          <p:nvPr/>
        </p:nvSpPr>
        <p:spPr>
          <a:xfrm>
            <a:off x="6172200" y="1188720"/>
            <a:ext cx="5303520" cy="2395728"/>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172200" y="1188720"/>
            <a:ext cx="5303520" cy="64008"/>
          </a:xfrm>
          <a:prstGeom prst="rect">
            <a:avLst/>
          </a:prstGeom>
          <a:solidFill>
            <a:srgbClr val="D16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73368" y="1371600"/>
            <a:ext cx="4892040" cy="502920"/>
          </a:xfrm>
          <a:prstGeom prst="rect">
            <a:avLst/>
          </a:prstGeom>
          <a:noFill/>
        </p:spPr>
        <p:txBody>
          <a:bodyPr wrap="square" lIns="0" rIns="0" tIns="0" bIns="0">
            <a:spAutoFit/>
          </a:bodyPr>
          <a:lstStyle/>
          <a:p>
            <a:pPr algn="l">
              <a:spcBef>
                <a:spcPts val="0"/>
              </a:spcBef>
              <a:spcAft>
                <a:spcPts val="300"/>
              </a:spcAft>
            </a:pPr>
            <a:r>
              <a:rPr sz="1350" b="1">
                <a:solidFill>
                  <a:srgbClr val="D1661E"/>
                </a:solidFill>
                <a:latin typeface="Meiryo"/>
              </a:rPr>
              <a:t>② 意味連想検索</a:t>
            </a:r>
          </a:p>
          <a:p>
            <a:pPr algn="l">
              <a:lnSpc>
                <a:spcPct val="112000"/>
              </a:lnSpc>
              <a:spcBef>
                <a:spcPts val="0"/>
              </a:spcBef>
              <a:spcAft>
                <a:spcPts val="0"/>
              </a:spcAft>
            </a:pPr>
            <a:r>
              <a:rPr sz="950" b="0">
                <a:solidFill>
                  <a:srgbClr val="5A6677"/>
                </a:solidFill>
                <a:latin typeface="Meiryo"/>
              </a:rPr>
              <a:t>自然言語を JP/EN/CN いずれでも入力。台風・受灾情報・公共情報の 3 層を同時に意味検索</a:t>
            </a:r>
          </a:p>
        </p:txBody>
      </p:sp>
      <p:sp>
        <p:nvSpPr>
          <p:cNvPr id="14" name="Rectangle 13"/>
          <p:cNvSpPr/>
          <p:nvPr/>
        </p:nvSpPr>
        <p:spPr>
          <a:xfrm>
            <a:off x="6373368" y="2084832"/>
            <a:ext cx="4892040" cy="1371600"/>
          </a:xfrm>
          <a:prstGeom prst="rect">
            <a:avLst/>
          </a:prstGeom>
          <a:solidFill>
            <a:srgbClr val="FAFBFD"/>
          </a:solidFill>
          <a:ln w="12700">
            <a:solidFill>
              <a:srgbClr val="9FB2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250" b="1">
                <a:solidFill>
                  <a:srgbClr val="7F92AD"/>
                </a:solidFill>
                <a:latin typeface="Meiryo"/>
              </a:rPr>
              <a:t>📷  意味検索 (SemanticSearchBox.vue)</a:t>
            </a:r>
          </a:p>
        </p:txBody>
      </p:sp>
      <p:sp>
        <p:nvSpPr>
          <p:cNvPr id="15" name="Rectangle 14"/>
          <p:cNvSpPr/>
          <p:nvPr/>
        </p:nvSpPr>
        <p:spPr>
          <a:xfrm>
            <a:off x="685800" y="3703320"/>
            <a:ext cx="5303520" cy="2395728"/>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85800" y="3703320"/>
            <a:ext cx="5303520" cy="64008"/>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3886200"/>
            <a:ext cx="4892040" cy="502920"/>
          </a:xfrm>
          <a:prstGeom prst="rect">
            <a:avLst/>
          </a:prstGeom>
          <a:noFill/>
        </p:spPr>
        <p:txBody>
          <a:bodyPr wrap="square" lIns="0" rIns="0" tIns="0" bIns="0">
            <a:spAutoFit/>
          </a:bodyPr>
          <a:lstStyle/>
          <a:p>
            <a:pPr algn="l">
              <a:spcBef>
                <a:spcPts val="0"/>
              </a:spcBef>
              <a:spcAft>
                <a:spcPts val="300"/>
              </a:spcAft>
            </a:pPr>
            <a:r>
              <a:rPr sz="1350" b="1">
                <a:solidFill>
                  <a:srgbClr val="008C8C"/>
                </a:solidFill>
                <a:latin typeface="Meiryo"/>
              </a:rPr>
              <a:t>③ 統計 — 三段階コロプレス地図</a:t>
            </a:r>
          </a:p>
          <a:p>
            <a:pPr algn="l">
              <a:lnSpc>
                <a:spcPct val="112000"/>
              </a:lnSpc>
              <a:spcBef>
                <a:spcPts val="0"/>
              </a:spcBef>
              <a:spcAft>
                <a:spcPts val="0"/>
              </a:spcAft>
            </a:pPr>
            <a:r>
              <a:rPr sz="950" b="0">
                <a:solidFill>
                  <a:srgbClr val="5A6677"/>
                </a:solidFill>
                <a:latin typeface="Meiryo"/>
              </a:rPr>
              <a:t>国 / 省 / 地級市を切替。行政区クリックで影響した台風の経路を地図に描画</a:t>
            </a:r>
          </a:p>
        </p:txBody>
      </p:sp>
      <p:sp>
        <p:nvSpPr>
          <p:cNvPr id="18" name="Rectangle 17"/>
          <p:cNvSpPr/>
          <p:nvPr/>
        </p:nvSpPr>
        <p:spPr>
          <a:xfrm>
            <a:off x="886968" y="4599431"/>
            <a:ext cx="4892040" cy="1371600"/>
          </a:xfrm>
          <a:prstGeom prst="rect">
            <a:avLst/>
          </a:prstGeom>
          <a:solidFill>
            <a:srgbClr val="FAFBFD"/>
          </a:solidFill>
          <a:ln w="12700">
            <a:solidFill>
              <a:srgbClr val="9FB2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250" b="1">
                <a:solidFill>
                  <a:srgbClr val="7F92AD"/>
                </a:solidFill>
                <a:latin typeface="Meiryo"/>
              </a:rPr>
              <a:t>📷  統計画面 (StatsView.vue)</a:t>
            </a:r>
          </a:p>
        </p:txBody>
      </p:sp>
      <p:sp>
        <p:nvSpPr>
          <p:cNvPr id="19" name="Rectangle 18"/>
          <p:cNvSpPr/>
          <p:nvPr/>
        </p:nvSpPr>
        <p:spPr>
          <a:xfrm>
            <a:off x="6172200" y="3703320"/>
            <a:ext cx="5303520" cy="2395728"/>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72200" y="3703320"/>
            <a:ext cx="5303520" cy="6400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73368" y="3886200"/>
            <a:ext cx="4892040" cy="502920"/>
          </a:xfrm>
          <a:prstGeom prst="rect">
            <a:avLst/>
          </a:prstGeom>
          <a:noFill/>
        </p:spPr>
        <p:txBody>
          <a:bodyPr wrap="square" lIns="0" rIns="0" tIns="0" bIns="0">
            <a:spAutoFit/>
          </a:bodyPr>
          <a:lstStyle/>
          <a:p>
            <a:pPr algn="l">
              <a:spcBef>
                <a:spcPts val="0"/>
              </a:spcBef>
              <a:spcAft>
                <a:spcPts val="300"/>
              </a:spcAft>
            </a:pPr>
            <a:r>
              <a:rPr sz="1350" b="1">
                <a:solidFill>
                  <a:srgbClr val="2E7D5B"/>
                </a:solidFill>
                <a:latin typeface="Meiryo"/>
              </a:rPr>
              <a:t>④ データソース管理と取込</a:t>
            </a:r>
          </a:p>
          <a:p>
            <a:pPr algn="l">
              <a:lnSpc>
                <a:spcPct val="112000"/>
              </a:lnSpc>
              <a:spcBef>
                <a:spcPts val="0"/>
              </a:spcBef>
              <a:spcAft>
                <a:spcPts val="0"/>
              </a:spcAft>
            </a:pPr>
            <a:r>
              <a:rPr sz="950" b="0">
                <a:solidFill>
                  <a:srgbClr val="5A6677"/>
                </a:solidFill>
                <a:latin typeface="Meiryo"/>
              </a:rPr>
              <a:t>各ソースの取得状況を一覧。Web UI から取込を実行し進捗を監視</a:t>
            </a:r>
          </a:p>
        </p:txBody>
      </p:sp>
      <p:sp>
        <p:nvSpPr>
          <p:cNvPr id="22" name="Rectangle 21"/>
          <p:cNvSpPr/>
          <p:nvPr/>
        </p:nvSpPr>
        <p:spPr>
          <a:xfrm>
            <a:off x="6373368" y="4599431"/>
            <a:ext cx="4892040" cy="1371600"/>
          </a:xfrm>
          <a:prstGeom prst="rect">
            <a:avLst/>
          </a:prstGeom>
          <a:solidFill>
            <a:srgbClr val="FAFBFD"/>
          </a:solidFill>
          <a:ln w="12700">
            <a:solidFill>
              <a:srgbClr val="9FB2C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1250" b="1">
                <a:solidFill>
                  <a:srgbClr val="7F92AD"/>
                </a:solidFill>
                <a:latin typeface="Meiryo"/>
              </a:rPr>
              <a:t>📷  データソース画面 (DataSources.vue)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3. データベース設計 — 全体像</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9 テーブル ／ SQLAlchemy ORM (models.py) で定義し create_all で生成</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4</a:t>
            </a:r>
          </a:p>
        </p:txBody>
      </p:sp>
      <p:sp>
        <p:nvSpPr>
          <p:cNvPr id="7" name="Rectangle 6"/>
          <p:cNvSpPr/>
          <p:nvPr/>
        </p:nvSpPr>
        <p:spPr>
          <a:xfrm>
            <a:off x="685800" y="1207008"/>
            <a:ext cx="3520440" cy="3749039"/>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1207008"/>
            <a:ext cx="3520440" cy="384048"/>
          </a:xfrm>
          <a:prstGeom prst="rect">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86968" y="1298448"/>
            <a:ext cx="3108960" cy="274320"/>
          </a:xfrm>
          <a:prstGeom prst="rect">
            <a:avLst/>
          </a:prstGeom>
          <a:noFill/>
        </p:spPr>
        <p:txBody>
          <a:bodyPr wrap="square" lIns="0" rIns="0" tIns="0" bIns="0">
            <a:spAutoFit/>
          </a:bodyPr>
          <a:lstStyle/>
          <a:p>
            <a:pPr algn="l">
              <a:spcBef>
                <a:spcPts val="0"/>
              </a:spcBef>
              <a:spcAft>
                <a:spcPts val="0"/>
              </a:spcAft>
            </a:pPr>
            <a:r>
              <a:rPr sz="1300" b="1">
                <a:solidFill>
                  <a:srgbClr val="FFFFFF"/>
                </a:solidFill>
                <a:latin typeface="Meiryo"/>
              </a:rPr>
              <a:t>中核 (Core)</a:t>
            </a:r>
          </a:p>
        </p:txBody>
      </p:sp>
      <p:sp>
        <p:nvSpPr>
          <p:cNvPr id="10" name="TextBox 9"/>
          <p:cNvSpPr txBox="1"/>
          <p:nvPr/>
        </p:nvSpPr>
        <p:spPr>
          <a:xfrm>
            <a:off x="886968" y="1755648"/>
            <a:ext cx="3154680" cy="3063240"/>
          </a:xfrm>
          <a:prstGeom prst="rect">
            <a:avLst/>
          </a:prstGeom>
          <a:noFill/>
        </p:spPr>
        <p:txBody>
          <a:bodyPr wrap="square" lIns="0" rIns="0" tIns="0" bIns="0">
            <a:spAutoFit/>
          </a:bodyPr>
          <a:lstStyle/>
          <a:p>
            <a:pPr algn="l">
              <a:spcBef>
                <a:spcPts val="0"/>
              </a:spcBef>
              <a:spcAft>
                <a:spcPts val="200"/>
              </a:spcAft>
            </a:pPr>
            <a:r>
              <a:rPr sz="1250" b="1">
                <a:solidFill>
                  <a:srgbClr val="D1661E"/>
                </a:solidFill>
                <a:latin typeface="Meiryo"/>
              </a:rPr>
              <a:t>★ typhoon</a:t>
            </a:r>
          </a:p>
          <a:p>
            <a:pPr algn="l">
              <a:lnSpc>
                <a:spcPct val="110000"/>
              </a:lnSpc>
              <a:spcBef>
                <a:spcPts val="0"/>
              </a:spcBef>
              <a:spcAft>
                <a:spcPts val="1100"/>
              </a:spcAft>
            </a:pPr>
            <a:r>
              <a:rPr sz="950" b="0">
                <a:solidFill>
                  <a:srgbClr val="5A6677"/>
                </a:solidFill>
                <a:latin typeface="Meiryo"/>
              </a:rPr>
              <a:t>      台風 = 最上位知識単位 + 意味ベクトル</a:t>
            </a:r>
          </a:p>
          <a:p>
            <a:pPr algn="l">
              <a:spcBef>
                <a:spcPts val="0"/>
              </a:spcBef>
              <a:spcAft>
                <a:spcPts val="200"/>
              </a:spcAft>
            </a:pPr>
            <a:r>
              <a:rPr sz="1250" b="1">
                <a:solidFill>
                  <a:srgbClr val="D1661E"/>
                </a:solidFill>
                <a:latin typeface="Meiryo"/>
              </a:rPr>
              <a:t>★ track_point</a:t>
            </a:r>
          </a:p>
          <a:p>
            <a:pPr algn="l">
              <a:lnSpc>
                <a:spcPct val="110000"/>
              </a:lnSpc>
              <a:spcBef>
                <a:spcPts val="0"/>
              </a:spcBef>
              <a:spcAft>
                <a:spcPts val="1100"/>
              </a:spcAft>
            </a:pPr>
            <a:r>
              <a:rPr sz="950" b="0">
                <a:solidFill>
                  <a:srgbClr val="5A6677"/>
                </a:solidFill>
                <a:latin typeface="Meiryo"/>
              </a:rPr>
              <a:t>      経路点 = 時空間の核 (135,228 行)</a:t>
            </a:r>
          </a:p>
        </p:txBody>
      </p:sp>
      <p:sp>
        <p:nvSpPr>
          <p:cNvPr id="11" name="Rectangle 10"/>
          <p:cNvSpPr/>
          <p:nvPr/>
        </p:nvSpPr>
        <p:spPr>
          <a:xfrm>
            <a:off x="4389120" y="1207008"/>
            <a:ext cx="3520440" cy="3749039"/>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89120" y="1207008"/>
            <a:ext cx="3520440" cy="384048"/>
          </a:xfrm>
          <a:prstGeom prst="rect">
            <a:avLst/>
          </a:prstGeom>
          <a:solidFill>
            <a:srgbClr val="D16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90288" y="1298448"/>
            <a:ext cx="3108960" cy="274320"/>
          </a:xfrm>
          <a:prstGeom prst="rect">
            <a:avLst/>
          </a:prstGeom>
          <a:noFill/>
        </p:spPr>
        <p:txBody>
          <a:bodyPr wrap="square" lIns="0" rIns="0" tIns="0" bIns="0">
            <a:spAutoFit/>
          </a:bodyPr>
          <a:lstStyle/>
          <a:p>
            <a:pPr algn="l">
              <a:spcBef>
                <a:spcPts val="0"/>
              </a:spcBef>
              <a:spcAft>
                <a:spcPts val="0"/>
              </a:spcAft>
            </a:pPr>
            <a:r>
              <a:rPr sz="1300" b="1">
                <a:solidFill>
                  <a:srgbClr val="FFFFFF"/>
                </a:solidFill>
                <a:latin typeface="Meiryo"/>
              </a:rPr>
              <a:t>情報層 (Information)</a:t>
            </a:r>
          </a:p>
        </p:txBody>
      </p:sp>
      <p:sp>
        <p:nvSpPr>
          <p:cNvPr id="14" name="TextBox 13"/>
          <p:cNvSpPr txBox="1"/>
          <p:nvPr/>
        </p:nvSpPr>
        <p:spPr>
          <a:xfrm>
            <a:off x="4590288" y="1755648"/>
            <a:ext cx="3154680" cy="3063240"/>
          </a:xfrm>
          <a:prstGeom prst="rect">
            <a:avLst/>
          </a:prstGeom>
          <a:noFill/>
        </p:spPr>
        <p:txBody>
          <a:bodyPr wrap="square" lIns="0" rIns="0" tIns="0" bIns="0">
            <a:spAutoFit/>
          </a:bodyPr>
          <a:lstStyle/>
          <a:p>
            <a:pPr algn="l">
              <a:spcBef>
                <a:spcPts val="0"/>
              </a:spcBef>
              <a:spcAft>
                <a:spcPts val="200"/>
              </a:spcAft>
            </a:pPr>
            <a:r>
              <a:rPr sz="1250" b="1">
                <a:solidFill>
                  <a:srgbClr val="D1661E"/>
                </a:solidFill>
                <a:latin typeface="Meiryo"/>
              </a:rPr>
              <a:t>★ secondary_disaster</a:t>
            </a:r>
          </a:p>
          <a:p>
            <a:pPr algn="l">
              <a:lnSpc>
                <a:spcPct val="110000"/>
              </a:lnSpc>
              <a:spcBef>
                <a:spcPts val="0"/>
              </a:spcBef>
              <a:spcAft>
                <a:spcPts val="1100"/>
              </a:spcAft>
            </a:pPr>
            <a:r>
              <a:rPr sz="950" b="0">
                <a:solidFill>
                  <a:srgbClr val="5A6677"/>
                </a:solidFill>
                <a:latin typeface="Meiryo"/>
              </a:rPr>
              <a:t>      受灾情報 — 実際に発生した被害 + ベクトル</a:t>
            </a:r>
          </a:p>
          <a:p>
            <a:pPr algn="l">
              <a:spcBef>
                <a:spcPts val="0"/>
              </a:spcBef>
              <a:spcAft>
                <a:spcPts val="200"/>
              </a:spcAft>
            </a:pPr>
            <a:r>
              <a:rPr sz="1250" b="1">
                <a:solidFill>
                  <a:srgbClr val="142B4A"/>
                </a:solidFill>
                <a:latin typeface="Meiryo"/>
              </a:rPr>
              <a:t>・ public_info</a:t>
            </a:r>
          </a:p>
          <a:p>
            <a:pPr algn="l">
              <a:lnSpc>
                <a:spcPct val="110000"/>
              </a:lnSpc>
              <a:spcBef>
                <a:spcPts val="0"/>
              </a:spcBef>
              <a:spcAft>
                <a:spcPts val="1100"/>
              </a:spcAft>
            </a:pPr>
            <a:r>
              <a:rPr sz="950" b="0">
                <a:solidFill>
                  <a:srgbClr val="5A6677"/>
                </a:solidFill>
                <a:latin typeface="Meiryo"/>
              </a:rPr>
              <a:t>      公共情報 — 当局発表の警報・避難 + ベクトル</a:t>
            </a:r>
          </a:p>
          <a:p>
            <a:pPr algn="l">
              <a:spcBef>
                <a:spcPts val="0"/>
              </a:spcBef>
              <a:spcAft>
                <a:spcPts val="200"/>
              </a:spcAft>
            </a:pPr>
            <a:r>
              <a:rPr sz="1250" b="1">
                <a:solidFill>
                  <a:srgbClr val="142B4A"/>
                </a:solidFill>
                <a:latin typeface="Meiryo"/>
              </a:rPr>
              <a:t>・ media_asset</a:t>
            </a:r>
          </a:p>
          <a:p>
            <a:pPr algn="l">
              <a:lnSpc>
                <a:spcPct val="110000"/>
              </a:lnSpc>
              <a:spcBef>
                <a:spcPts val="0"/>
              </a:spcBef>
              <a:spcAft>
                <a:spcPts val="1100"/>
              </a:spcAft>
            </a:pPr>
            <a:r>
              <a:rPr sz="950" b="0">
                <a:solidFill>
                  <a:srgbClr val="5A6677"/>
                </a:solidFill>
                <a:latin typeface="Meiryo"/>
              </a:rPr>
              <a:t>      衛星画像・写真のメタデータ</a:t>
            </a:r>
          </a:p>
        </p:txBody>
      </p:sp>
      <p:sp>
        <p:nvSpPr>
          <p:cNvPr id="15" name="Rectangle 14"/>
          <p:cNvSpPr/>
          <p:nvPr/>
        </p:nvSpPr>
        <p:spPr>
          <a:xfrm>
            <a:off x="8092440" y="1207008"/>
            <a:ext cx="3520440" cy="3749039"/>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92440" y="1207008"/>
            <a:ext cx="3520440" cy="384048"/>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93608" y="1298448"/>
            <a:ext cx="3108960" cy="274320"/>
          </a:xfrm>
          <a:prstGeom prst="rect">
            <a:avLst/>
          </a:prstGeom>
          <a:noFill/>
        </p:spPr>
        <p:txBody>
          <a:bodyPr wrap="square" lIns="0" rIns="0" tIns="0" bIns="0">
            <a:spAutoFit/>
          </a:bodyPr>
          <a:lstStyle/>
          <a:p>
            <a:pPr algn="l">
              <a:spcBef>
                <a:spcPts val="0"/>
              </a:spcBef>
              <a:spcAft>
                <a:spcPts val="0"/>
              </a:spcAft>
            </a:pPr>
            <a:r>
              <a:rPr sz="1300" b="1">
                <a:solidFill>
                  <a:srgbClr val="FFFFFF"/>
                </a:solidFill>
                <a:latin typeface="Meiryo"/>
              </a:rPr>
              <a:t>地理層 (Geography)</a:t>
            </a:r>
          </a:p>
        </p:txBody>
      </p:sp>
      <p:sp>
        <p:nvSpPr>
          <p:cNvPr id="18" name="TextBox 17"/>
          <p:cNvSpPr txBox="1"/>
          <p:nvPr/>
        </p:nvSpPr>
        <p:spPr>
          <a:xfrm>
            <a:off x="8293608" y="1755648"/>
            <a:ext cx="3154680" cy="3063240"/>
          </a:xfrm>
          <a:prstGeom prst="rect">
            <a:avLst/>
          </a:prstGeom>
          <a:noFill/>
        </p:spPr>
        <p:txBody>
          <a:bodyPr wrap="square" lIns="0" rIns="0" tIns="0" bIns="0">
            <a:spAutoFit/>
          </a:bodyPr>
          <a:lstStyle/>
          <a:p>
            <a:pPr algn="l">
              <a:spcBef>
                <a:spcPts val="0"/>
              </a:spcBef>
              <a:spcAft>
                <a:spcPts val="200"/>
              </a:spcAft>
            </a:pPr>
            <a:r>
              <a:rPr sz="1250" b="1">
                <a:solidFill>
                  <a:srgbClr val="142B4A"/>
                </a:solidFill>
                <a:latin typeface="Meiryo"/>
              </a:rPr>
              <a:t>・ admin_region</a:t>
            </a:r>
          </a:p>
          <a:p>
            <a:pPr algn="l">
              <a:lnSpc>
                <a:spcPct val="110000"/>
              </a:lnSpc>
              <a:spcBef>
                <a:spcPts val="0"/>
              </a:spcBef>
              <a:spcAft>
                <a:spcPts val="1100"/>
              </a:spcAft>
            </a:pPr>
            <a:r>
              <a:rPr sz="950" b="0">
                <a:solidFill>
                  <a:srgbClr val="5A6677"/>
                </a:solidFill>
                <a:latin typeface="Meiryo"/>
              </a:rPr>
              <a:t>      参照行政境界 国 / 省 / 地級市</a:t>
            </a:r>
          </a:p>
          <a:p>
            <a:pPr algn="l">
              <a:spcBef>
                <a:spcPts val="0"/>
              </a:spcBef>
              <a:spcAft>
                <a:spcPts val="200"/>
              </a:spcAft>
            </a:pPr>
            <a:r>
              <a:rPr sz="1250" b="1">
                <a:solidFill>
                  <a:srgbClr val="142B4A"/>
                </a:solidFill>
                <a:latin typeface="Meiryo"/>
              </a:rPr>
              <a:t>・ typhoon_region_impact</a:t>
            </a:r>
          </a:p>
          <a:p>
            <a:pPr algn="l">
              <a:lnSpc>
                <a:spcPct val="110000"/>
              </a:lnSpc>
              <a:spcBef>
                <a:spcPts val="0"/>
              </a:spcBef>
              <a:spcAft>
                <a:spcPts val="1100"/>
              </a:spcAft>
            </a:pPr>
            <a:r>
              <a:rPr sz="950" b="0">
                <a:solidFill>
                  <a:srgbClr val="5A6677"/>
                </a:solidFill>
                <a:latin typeface="Meiryo"/>
              </a:rPr>
              <a:t>      台風 × 行政区 の影響事実 (導出)</a:t>
            </a:r>
          </a:p>
          <a:p>
            <a:pPr algn="l">
              <a:spcBef>
                <a:spcPts val="0"/>
              </a:spcBef>
              <a:spcAft>
                <a:spcPts val="200"/>
              </a:spcAft>
            </a:pPr>
            <a:r>
              <a:rPr sz="1250" b="1">
                <a:solidFill>
                  <a:srgbClr val="142B4A"/>
                </a:solidFill>
                <a:latin typeface="Meiryo"/>
              </a:rPr>
              <a:t>・ landfall</a:t>
            </a:r>
          </a:p>
          <a:p>
            <a:pPr algn="l">
              <a:lnSpc>
                <a:spcPct val="110000"/>
              </a:lnSpc>
              <a:spcBef>
                <a:spcPts val="0"/>
              </a:spcBef>
              <a:spcAft>
                <a:spcPts val="1100"/>
              </a:spcAft>
            </a:pPr>
            <a:r>
              <a:rPr sz="950" b="0">
                <a:solidFill>
                  <a:srgbClr val="5A6677"/>
                </a:solidFill>
                <a:latin typeface="Meiryo"/>
              </a:rPr>
              <a:t>      上陸イベント (導出)</a:t>
            </a:r>
          </a:p>
          <a:p>
            <a:pPr algn="l">
              <a:spcBef>
                <a:spcPts val="0"/>
              </a:spcBef>
              <a:spcAft>
                <a:spcPts val="200"/>
              </a:spcAft>
            </a:pPr>
            <a:r>
              <a:rPr sz="1250" b="1">
                <a:solidFill>
                  <a:srgbClr val="142B4A"/>
                </a:solidFill>
                <a:latin typeface="Meiryo"/>
              </a:rPr>
              <a:t>・ affected_region</a:t>
            </a:r>
          </a:p>
          <a:p>
            <a:pPr algn="l">
              <a:lnSpc>
                <a:spcPct val="110000"/>
              </a:lnSpc>
              <a:spcBef>
                <a:spcPts val="0"/>
              </a:spcBef>
              <a:spcAft>
                <a:spcPts val="1100"/>
              </a:spcAft>
            </a:pPr>
            <a:r>
              <a:rPr sz="950" b="0">
                <a:solidFill>
                  <a:srgbClr val="5A6677"/>
                </a:solidFill>
                <a:latin typeface="Meiryo"/>
              </a:rPr>
              <a:t>      影響範囲ポリゴン</a:t>
            </a:r>
          </a:p>
        </p:txBody>
      </p:sp>
      <p:sp>
        <p:nvSpPr>
          <p:cNvPr id="19" name="Rectangle 18"/>
          <p:cNvSpPr/>
          <p:nvPr/>
        </p:nvSpPr>
        <p:spPr>
          <a:xfrm>
            <a:off x="685800" y="5138928"/>
            <a:ext cx="10789920" cy="1005840"/>
          </a:xfrm>
          <a:prstGeom prst="rect">
            <a:avLst/>
          </a:prstGeom>
          <a:solidFill>
            <a:srgbClr val="ECF6F6"/>
          </a:solidFill>
          <a:ln w="12700">
            <a:solidFill>
              <a:srgbClr val="00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0392" y="5248656"/>
            <a:ext cx="10460736" cy="786384"/>
          </a:xfrm>
          <a:prstGeom prst="rect">
            <a:avLst/>
          </a:prstGeom>
          <a:noFill/>
        </p:spPr>
        <p:txBody>
          <a:bodyPr wrap="square" lIns="0" rIns="0" tIns="0" bIns="0">
            <a:spAutoFit/>
          </a:bodyPr>
          <a:lstStyle/>
          <a:p>
            <a:pPr algn="l">
              <a:lnSpc>
                <a:spcPct val="115000"/>
              </a:lnSpc>
              <a:spcBef>
                <a:spcPts val="0"/>
              </a:spcBef>
              <a:spcAft>
                <a:spcPts val="0"/>
              </a:spcAft>
            </a:pPr>
            <a:r>
              <a:rPr sz="1200" b="0">
                <a:solidFill>
                  <a:srgbClr val="0B4C4C"/>
                </a:solidFill>
                <a:latin typeface="Meiryo"/>
              </a:rPr>
              <a:t>★ = 本発表で DDL を提示する主要 3 テーブル。台風 (知識単位) → 経路点 (時空間) → 受灾情報 (意味) の順に、
設計の 3 本柱をそれぞれ代表している。他テーブルは同じ設計原則の適用例のため割愛する。
共通原則: すべての知識単位が「空間列 geom」と「意味列 embedding」を同時に持ち、親台風へ CASCADE で従属する。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3. 主要テーブル ① typhoon</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台風 = 最上位の知識単位。構造化属性と意味ベクトルを同居させる</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5</a:t>
            </a:r>
          </a:p>
        </p:txBody>
      </p:sp>
      <p:sp>
        <p:nvSpPr>
          <p:cNvPr id="7" name="Rectangle 6"/>
          <p:cNvSpPr/>
          <p:nvPr/>
        </p:nvSpPr>
        <p:spPr>
          <a:xfrm>
            <a:off x="685800" y="1207008"/>
            <a:ext cx="676656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DDL — typhoon  (1,993 行)</a:t>
            </a:r>
          </a:p>
        </p:txBody>
      </p:sp>
      <p:sp>
        <p:nvSpPr>
          <p:cNvPr id="8" name="Rectangle 7"/>
          <p:cNvSpPr/>
          <p:nvPr/>
        </p:nvSpPr>
        <p:spPr>
          <a:xfrm>
            <a:off x="685800" y="1481328"/>
            <a:ext cx="6766560" cy="352044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510528" cy="3337560"/>
          </a:xfrm>
          <a:prstGeom prst="rect">
            <a:avLst/>
          </a:prstGeom>
          <a:noFill/>
        </p:spPr>
        <p:txBody>
          <a:bodyPr wrap="none" lIns="0" rIns="0" tIns="0" bIns="0">
            <a:spAutoFit/>
          </a:bodyPr>
          <a:lstStyle/>
          <a:p>
            <a:pPr algn="l">
              <a:lnSpc>
                <a:spcPct val="106000"/>
              </a:lnSpc>
              <a:spcBef>
                <a:spcPts val="0"/>
              </a:spcBef>
              <a:spcAft>
                <a:spcPts val="0"/>
              </a:spcAft>
            </a:pPr>
            <a:r>
              <a:rPr sz="1050" b="0">
                <a:solidFill>
                  <a:srgbClr val="182A3E"/>
                </a:solidFill>
                <a:latin typeface="Consolas"/>
              </a:rPr>
              <a:t>CREATE TABLE typhoon (</a:t>
            </a:r>
          </a:p>
          <a:p>
            <a:pPr algn="l">
              <a:lnSpc>
                <a:spcPct val="106000"/>
              </a:lnSpc>
              <a:spcBef>
                <a:spcPts val="0"/>
              </a:spcBef>
              <a:spcAft>
                <a:spcPts val="0"/>
              </a:spcAft>
            </a:pPr>
            <a:r>
              <a:rPr sz="1050" b="0">
                <a:solidFill>
                  <a:srgbClr val="182A3E"/>
                </a:solidFill>
                <a:latin typeface="Consolas"/>
              </a:rPr>
              <a:t>    id               SERIAL       PRIMARY KEY,</a:t>
            </a:r>
          </a:p>
          <a:p>
            <a:pPr algn="l">
              <a:lnSpc>
                <a:spcPct val="106000"/>
              </a:lnSpc>
              <a:spcBef>
                <a:spcPts val="0"/>
              </a:spcBef>
              <a:spcAft>
                <a:spcPts val="0"/>
              </a:spcAft>
            </a:pPr>
            <a:r>
              <a:rPr sz="1050" b="0">
                <a:solidFill>
                  <a:srgbClr val="182A3E"/>
                </a:solidFill>
                <a:latin typeface="Consolas"/>
              </a:rPr>
              <a:t>    intl_id          VARCHAR(16)  UNIQUE NOT NULL,  -- 国際番号 例:2306</a:t>
            </a:r>
          </a:p>
          <a:p>
            <a:pPr algn="l">
              <a:lnSpc>
                <a:spcPct val="106000"/>
              </a:lnSpc>
              <a:spcBef>
                <a:spcPts val="0"/>
              </a:spcBef>
              <a:spcAft>
                <a:spcPts val="0"/>
              </a:spcAft>
            </a:pPr>
            <a:r>
              <a:rPr sz="1050" b="0">
                <a:solidFill>
                  <a:srgbClr val="182A3E"/>
                </a:solidFill>
                <a:latin typeface="Consolas"/>
              </a:rPr>
              <a:t>    sid              VARCHAR(32),                   -- IBTrACS storm id</a:t>
            </a:r>
          </a:p>
          <a:p>
            <a:pPr algn="l">
              <a:lnSpc>
                <a:spcPct val="106000"/>
              </a:lnSpc>
              <a:spcBef>
                <a:spcPts val="0"/>
              </a:spcBef>
              <a:spcAft>
                <a:spcPts val="0"/>
              </a:spcAft>
            </a:pPr>
            <a:r>
              <a:rPr sz="1050" b="0">
                <a:solidFill>
                  <a:srgbClr val="182A3E"/>
                </a:solidFill>
                <a:latin typeface="Consolas"/>
              </a:rPr>
              <a:t>    name             VARCHAR(64),   name_jp VARCHAR(64),</a:t>
            </a:r>
          </a:p>
          <a:p>
            <a:pPr algn="l">
              <a:lnSpc>
                <a:spcPct val="106000"/>
              </a:lnSpc>
              <a:spcBef>
                <a:spcPts val="0"/>
              </a:spcBef>
              <a:spcAft>
                <a:spcPts val="0"/>
              </a:spcAft>
            </a:pPr>
            <a:r>
              <a:rPr sz="1050" b="0">
                <a:solidFill>
                  <a:srgbClr val="182A3E"/>
                </a:solidFill>
                <a:latin typeface="Consolas"/>
              </a:rPr>
              <a:t>    name_cn          VARCHAR(64),   season_year INTEGER,</a:t>
            </a:r>
          </a:p>
          <a:p>
            <a:pPr algn="l">
              <a:lnSpc>
                <a:spcPct val="106000"/>
              </a:lnSpc>
              <a:spcBef>
                <a:spcPts val="0"/>
              </a:spcBef>
              <a:spcAft>
                <a:spcPts val="0"/>
              </a:spcAft>
            </a:pPr>
            <a:r>
              <a:rPr sz="1050" b="0">
                <a:solidFill>
                  <a:srgbClr val="182A3E"/>
                </a:solidFill>
                <a:latin typeface="Consolas"/>
              </a:rPr>
              <a:t>    category         VARCHAR(32),      -- TY / STS / SuperTY</a:t>
            </a:r>
          </a:p>
          <a:p>
            <a:pPr algn="l">
              <a:lnSpc>
                <a:spcPct val="106000"/>
              </a:lnSpc>
              <a:spcBef>
                <a:spcPts val="0"/>
              </a:spcBef>
              <a:spcAft>
                <a:spcPts val="0"/>
              </a:spcAft>
            </a:pPr>
            <a:r>
              <a:rPr sz="1050" b="0">
                <a:solidFill>
                  <a:srgbClr val="182A3E"/>
                </a:solidFill>
                <a:latin typeface="Consolas"/>
              </a:rPr>
              <a:t>    max_wind_kt      DOUBLE PRECISION, -- トリガ#2 が自動更新</a:t>
            </a:r>
          </a:p>
          <a:p>
            <a:pPr algn="l">
              <a:lnSpc>
                <a:spcPct val="106000"/>
              </a:lnSpc>
              <a:spcBef>
                <a:spcPts val="0"/>
              </a:spcBef>
              <a:spcAft>
                <a:spcPts val="0"/>
              </a:spcAft>
            </a:pPr>
            <a:r>
              <a:rPr sz="1050" b="0">
                <a:solidFill>
                  <a:srgbClr val="182A3E"/>
                </a:solidFill>
                <a:latin typeface="Consolas"/>
              </a:rPr>
              <a:t>    min_pressure_hpa DOUBLE PRECISION, -- トリガ#2 が自動更新</a:t>
            </a:r>
          </a:p>
          <a:p>
            <a:pPr algn="l">
              <a:lnSpc>
                <a:spcPct val="106000"/>
              </a:lnSpc>
              <a:spcBef>
                <a:spcPts val="0"/>
              </a:spcBef>
              <a:spcAft>
                <a:spcPts val="0"/>
              </a:spcAft>
            </a:pPr>
            <a:r>
              <a:rPr sz="1050" b="0">
                <a:solidFill>
                  <a:srgbClr val="182A3E"/>
                </a:solidFill>
                <a:latin typeface="Consolas"/>
              </a:rPr>
              <a:t>    start_time       TIMESTAMPTZ,   end_time TIMESTAMPTZ,</a:t>
            </a:r>
          </a:p>
          <a:p>
            <a:pPr algn="l">
              <a:lnSpc>
                <a:spcPct val="106000"/>
              </a:lnSpc>
              <a:spcBef>
                <a:spcPts val="0"/>
              </a:spcBef>
              <a:spcAft>
                <a:spcPts val="0"/>
              </a:spcAft>
            </a:pPr>
            <a:r>
              <a:rPr sz="1050" b="0">
                <a:solidFill>
                  <a:srgbClr val="182A3E"/>
                </a:solidFill>
                <a:latin typeface="Consolas"/>
              </a:rPr>
              <a:t>    source           VARCHAR(32),   is_active BOOLEAN,</a:t>
            </a:r>
          </a:p>
          <a:p>
            <a:pPr algn="l">
              <a:lnSpc>
                <a:spcPct val="106000"/>
              </a:lnSpc>
              <a:spcBef>
                <a:spcPts val="0"/>
              </a:spcBef>
              <a:spcAft>
                <a:spcPts val="0"/>
              </a:spcAft>
            </a:pPr>
            <a:r>
              <a:rPr sz="1050" b="0">
                <a:solidFill>
                  <a:srgbClr val="6E8A5E"/>
                </a:solidFill>
                <a:latin typeface="Consolas"/>
              </a:rPr>
              <a:t>    -- ▼ 意味層: 属性から生成した多言語要約と、その 384 次元ベクトル</a:t>
            </a:r>
          </a:p>
          <a:p>
            <a:pPr algn="l">
              <a:lnSpc>
                <a:spcPct val="106000"/>
              </a:lnSpc>
              <a:spcBef>
                <a:spcPts val="0"/>
              </a:spcBef>
              <a:spcAft>
                <a:spcPts val="0"/>
              </a:spcAft>
            </a:pPr>
            <a:r>
              <a:rPr sz="1050" b="0">
                <a:solidFill>
                  <a:srgbClr val="182A3E"/>
                </a:solidFill>
                <a:latin typeface="Consolas"/>
              </a:rPr>
              <a:t>    summary_text     TEXT,</a:t>
            </a:r>
          </a:p>
          <a:p>
            <a:pPr algn="l">
              <a:lnSpc>
                <a:spcPct val="106000"/>
              </a:lnSpc>
              <a:spcBef>
                <a:spcPts val="0"/>
              </a:spcBef>
              <a:spcAft>
                <a:spcPts val="0"/>
              </a:spcAft>
            </a:pPr>
            <a:r>
              <a:rPr sz="1050" b="0">
                <a:solidFill>
                  <a:srgbClr val="182A3E"/>
                </a:solidFill>
                <a:latin typeface="Consolas"/>
              </a:rPr>
              <a:t>    embedding        VECTOR(384)</a:t>
            </a:r>
          </a:p>
          <a:p>
            <a:pPr algn="l">
              <a:lnSpc>
                <a:spcPct val="106000"/>
              </a:lnSpc>
              <a:spcBef>
                <a:spcPts val="0"/>
              </a:spcBef>
              <a:spcAft>
                <a:spcPts val="0"/>
              </a:spcAft>
            </a:pPr>
            <a:r>
              <a:rPr sz="1050" b="0">
                <a:solidFill>
                  <a:srgbClr val="182A3E"/>
                </a:solidFill>
                <a:latin typeface="Consolas"/>
              </a:rPr>
              <a:t>);</a:t>
            </a:r>
          </a:p>
          <a:p>
            <a:pPr algn="l">
              <a:lnSpc>
                <a:spcPct val="106000"/>
              </a:lnSpc>
              <a:spcBef>
                <a:spcPts val="0"/>
              </a:spcBef>
              <a:spcAft>
                <a:spcPts val="0"/>
              </a:spcAft>
            </a:pPr>
            <a:r>
              <a:rPr sz="1050" b="0">
                <a:solidFill>
                  <a:srgbClr val="182A3E"/>
                </a:solidFill>
                <a:latin typeface="Consolas"/>
              </a:rPr>
              <a:t>CREATE INDEX ix_typhoon_season_year ON typhoon (season_year);</a:t>
            </a:r>
          </a:p>
          <a:p>
            <a:pPr algn="l">
              <a:lnSpc>
                <a:spcPct val="106000"/>
              </a:lnSpc>
              <a:spcBef>
                <a:spcPts val="0"/>
              </a:spcBef>
              <a:spcAft>
                <a:spcPts val="0"/>
              </a:spcAft>
            </a:pPr>
            <a:r>
              <a:rPr sz="1050" b="0">
                <a:solidFill>
                  <a:srgbClr val="6E8A5E"/>
                </a:solidFill>
                <a:latin typeface="Consolas"/>
              </a:rPr>
              <a:t>-- 意味的選択のためのコサイン距離用 IVFFlat 索引</a:t>
            </a:r>
          </a:p>
          <a:p>
            <a:pPr algn="l">
              <a:lnSpc>
                <a:spcPct val="106000"/>
              </a:lnSpc>
              <a:spcBef>
                <a:spcPts val="0"/>
              </a:spcBef>
              <a:spcAft>
                <a:spcPts val="0"/>
              </a:spcAft>
            </a:pPr>
            <a:r>
              <a:rPr sz="1050" b="0">
                <a:solidFill>
                  <a:srgbClr val="182A3E"/>
                </a:solidFill>
                <a:latin typeface="Consolas"/>
              </a:rPr>
              <a:t>CREATE INDEX ix_typhoon_embedding ON typhoon</a:t>
            </a:r>
          </a:p>
          <a:p>
            <a:pPr algn="l">
              <a:lnSpc>
                <a:spcPct val="106000"/>
              </a:lnSpc>
              <a:spcBef>
                <a:spcPts val="0"/>
              </a:spcBef>
              <a:spcAft>
                <a:spcPts val="0"/>
              </a:spcAft>
            </a:pPr>
            <a:r>
              <a:rPr sz="1050" b="0">
                <a:solidFill>
                  <a:srgbClr val="182A3E"/>
                </a:solidFill>
                <a:latin typeface="Consolas"/>
              </a:rPr>
              <a:t>    USING ivfflat (embedding vector_cosine_ops) WITH (lists = 100);</a:t>
            </a:r>
          </a:p>
        </p:txBody>
      </p:sp>
      <p:sp>
        <p:nvSpPr>
          <p:cNvPr id="10" name="Rectangle 9"/>
          <p:cNvSpPr/>
          <p:nvPr/>
        </p:nvSpPr>
        <p:spPr>
          <a:xfrm>
            <a:off x="685800" y="5120640"/>
            <a:ext cx="676656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主要クエリ Q1 — 属性選択 (Attribute Selection)</a:t>
            </a:r>
          </a:p>
        </p:txBody>
      </p:sp>
      <p:sp>
        <p:nvSpPr>
          <p:cNvPr id="11" name="Rectangle 10"/>
          <p:cNvSpPr/>
          <p:nvPr/>
        </p:nvSpPr>
        <p:spPr>
          <a:xfrm>
            <a:off x="685800" y="5394959"/>
            <a:ext cx="6766560" cy="777239"/>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3816" y="5486399"/>
            <a:ext cx="6510528" cy="594359"/>
          </a:xfrm>
          <a:prstGeom prst="rect">
            <a:avLst/>
          </a:prstGeom>
          <a:noFill/>
        </p:spPr>
        <p:txBody>
          <a:bodyPr wrap="none" lIns="0" rIns="0" tIns="0" bIns="0">
            <a:spAutoFit/>
          </a:bodyPr>
          <a:lstStyle/>
          <a:p>
            <a:pPr algn="l">
              <a:lnSpc>
                <a:spcPct val="106000"/>
              </a:lnSpc>
              <a:spcBef>
                <a:spcPts val="0"/>
              </a:spcBef>
              <a:spcAft>
                <a:spcPts val="0"/>
              </a:spcAft>
            </a:pPr>
            <a:r>
              <a:rPr sz="1000" b="0">
                <a:solidFill>
                  <a:srgbClr val="6E8A5E"/>
                </a:solidFill>
                <a:latin typeface="Consolas"/>
              </a:rPr>
              <a:t>-- 主要クエリ Q1 : 属性選択  → 2302 Mawar / 2315 Bolaven / 2309 Saola (SuperTY)</a:t>
            </a:r>
          </a:p>
          <a:p>
            <a:pPr algn="l">
              <a:lnSpc>
                <a:spcPct val="106000"/>
              </a:lnSpc>
              <a:spcBef>
                <a:spcPts val="0"/>
              </a:spcBef>
              <a:spcAft>
                <a:spcPts val="0"/>
              </a:spcAft>
            </a:pPr>
            <a:r>
              <a:rPr sz="1000" b="0">
                <a:solidFill>
                  <a:srgbClr val="182A3E"/>
                </a:solidFill>
                <a:latin typeface="Consolas"/>
              </a:rPr>
              <a:t>SELECT intl_id, name, category, max_wind_kt FROM typhoon</a:t>
            </a:r>
          </a:p>
          <a:p>
            <a:pPr algn="l">
              <a:lnSpc>
                <a:spcPct val="106000"/>
              </a:lnSpc>
              <a:spcBef>
                <a:spcPts val="0"/>
              </a:spcBef>
              <a:spcAft>
                <a:spcPts val="0"/>
              </a:spcAft>
            </a:pPr>
            <a:r>
              <a:rPr sz="1000" b="0">
                <a:solidFill>
                  <a:srgbClr val="182A3E"/>
                </a:solidFill>
                <a:latin typeface="Consolas"/>
              </a:rPr>
              <a:t> WHERE season_year = 2023 AND max_wind_kt &gt;= 100 ORDER BY max_wind_kt DESC;</a:t>
            </a:r>
          </a:p>
        </p:txBody>
      </p:sp>
      <p:sp>
        <p:nvSpPr>
          <p:cNvPr id="13" name="TextBox 12"/>
          <p:cNvSpPr txBox="1"/>
          <p:nvPr/>
        </p:nvSpPr>
        <p:spPr>
          <a:xfrm>
            <a:off x="7680960" y="1280160"/>
            <a:ext cx="3840480" cy="4846320"/>
          </a:xfrm>
          <a:prstGeom prst="rect">
            <a:avLst/>
          </a:prstGeom>
          <a:noFill/>
        </p:spPr>
        <p:txBody>
          <a:bodyPr wrap="square" lIns="0" rIns="0" tIns="0" bIns="0">
            <a:spAutoFit/>
          </a:bodyPr>
          <a:lstStyle/>
          <a:p>
            <a:pPr algn="l">
              <a:spcBef>
                <a:spcPts val="0"/>
              </a:spcBef>
              <a:spcAft>
                <a:spcPts val="1200"/>
              </a:spcAft>
            </a:pPr>
            <a:r>
              <a:rPr sz="1500" b="1">
                <a:solidFill>
                  <a:srgbClr val="1F5C99"/>
                </a:solidFill>
                <a:latin typeface="Meiryo"/>
              </a:rPr>
              <a:t>設計のポイント</a:t>
            </a:r>
          </a:p>
          <a:p>
            <a:pPr algn="l">
              <a:spcBef>
                <a:spcPts val="0"/>
              </a:spcBef>
              <a:spcAft>
                <a:spcPts val="200"/>
              </a:spcAft>
            </a:pPr>
            <a:r>
              <a:rPr sz="1200" b="1">
                <a:solidFill>
                  <a:srgbClr val="142B4A"/>
                </a:solidFill>
                <a:latin typeface="Meiryo"/>
              </a:rPr>
              <a:t>● intl_id が冪等キー</a:t>
            </a:r>
          </a:p>
          <a:p>
            <a:pPr algn="l">
              <a:lnSpc>
                <a:spcPct val="115000"/>
              </a:lnSpc>
              <a:spcBef>
                <a:spcPts val="0"/>
              </a:spcBef>
              <a:spcAft>
                <a:spcPts val="1300"/>
              </a:spcAft>
            </a:pPr>
            <a:r>
              <a:rPr sz="1000" b="0">
                <a:solidFill>
                  <a:srgbClr val="5A6677"/>
                </a:solidFill>
                <a:latin typeface="Meiryo"/>
              </a:rPr>
              <a:t>   再クロール時の UPSERT はここで一意に解決する</a:t>
            </a:r>
          </a:p>
          <a:p>
            <a:pPr algn="l">
              <a:spcBef>
                <a:spcPts val="0"/>
              </a:spcBef>
              <a:spcAft>
                <a:spcPts val="200"/>
              </a:spcAft>
            </a:pPr>
            <a:r>
              <a:rPr sz="1200" b="1">
                <a:solidFill>
                  <a:srgbClr val="142B4A"/>
                </a:solidFill>
                <a:latin typeface="Meiryo"/>
              </a:rPr>
              <a:t>● summary_text + embedding</a:t>
            </a:r>
          </a:p>
          <a:p>
            <a:pPr algn="l">
              <a:lnSpc>
                <a:spcPct val="115000"/>
              </a:lnSpc>
              <a:spcBef>
                <a:spcPts val="0"/>
              </a:spcBef>
              <a:spcAft>
                <a:spcPts val="1300"/>
              </a:spcAft>
            </a:pPr>
            <a:r>
              <a:rPr sz="1000" b="0">
                <a:solidFill>
                  <a:srgbClr val="5A6677"/>
                </a:solidFill>
                <a:latin typeface="Meiryo"/>
              </a:rPr>
              <a:t>   属性から可読な要約文を生成し、多言語モデルで
ベクトル化。属性が変われば トリガ#3 が失効させる</a:t>
            </a:r>
          </a:p>
          <a:p>
            <a:pPr algn="l">
              <a:spcBef>
                <a:spcPts val="0"/>
              </a:spcBef>
              <a:spcAft>
                <a:spcPts val="200"/>
              </a:spcAft>
            </a:pPr>
            <a:r>
              <a:rPr sz="1200" b="1">
                <a:solidFill>
                  <a:srgbClr val="142B4A"/>
                </a:solidFill>
                <a:latin typeface="Meiryo"/>
              </a:rPr>
              <a:t>● VECTOR(384)</a:t>
            </a:r>
          </a:p>
          <a:p>
            <a:pPr algn="l">
              <a:lnSpc>
                <a:spcPct val="115000"/>
              </a:lnSpc>
              <a:spcBef>
                <a:spcPts val="0"/>
              </a:spcBef>
              <a:spcAft>
                <a:spcPts val="1300"/>
              </a:spcAft>
            </a:pPr>
            <a:r>
              <a:rPr sz="1000" b="0">
                <a:solidFill>
                  <a:srgbClr val="5A6677"/>
                </a:solidFill>
                <a:latin typeface="Meiryo"/>
              </a:rPr>
              <a:t>   pgvector 型。JP / EN / CN が同一の意味空間を共有する</a:t>
            </a:r>
          </a:p>
          <a:p>
            <a:pPr algn="l">
              <a:spcBef>
                <a:spcPts val="0"/>
              </a:spcBef>
              <a:spcAft>
                <a:spcPts val="200"/>
              </a:spcAft>
            </a:pPr>
            <a:r>
              <a:rPr sz="1200" b="1">
                <a:solidFill>
                  <a:srgbClr val="142B4A"/>
                </a:solidFill>
                <a:latin typeface="Meiryo"/>
              </a:rPr>
              <a:t>● IVFFlat / lists=100</a:t>
            </a:r>
          </a:p>
          <a:p>
            <a:pPr algn="l">
              <a:lnSpc>
                <a:spcPct val="115000"/>
              </a:lnSpc>
              <a:spcBef>
                <a:spcPts val="0"/>
              </a:spcBef>
              <a:spcAft>
                <a:spcPts val="1300"/>
              </a:spcAft>
            </a:pPr>
            <a:r>
              <a:rPr sz="1000" b="0">
                <a:solidFill>
                  <a:srgbClr val="5A6677"/>
                </a:solidFill>
                <a:latin typeface="Meiryo"/>
              </a:rPr>
              <a:t>   コサイン距離の Top-K を高速化。空表で作ると
索引が劣化するため、データ投入後に REINDEX する</a:t>
            </a:r>
          </a:p>
          <a:p>
            <a:pPr algn="l">
              <a:spcBef>
                <a:spcPts val="0"/>
              </a:spcBef>
              <a:spcAft>
                <a:spcPts val="200"/>
              </a:spcAft>
            </a:pPr>
            <a:r>
              <a:rPr sz="1200" b="1">
                <a:solidFill>
                  <a:srgbClr val="142B4A"/>
                </a:solidFill>
                <a:latin typeface="Meiryo"/>
              </a:rPr>
              <a:t>● max_wind_kt は導出値</a:t>
            </a:r>
          </a:p>
          <a:p>
            <a:pPr algn="l">
              <a:lnSpc>
                <a:spcPct val="115000"/>
              </a:lnSpc>
              <a:spcBef>
                <a:spcPts val="0"/>
              </a:spcBef>
              <a:spcAft>
                <a:spcPts val="1300"/>
              </a:spcAft>
            </a:pPr>
            <a:r>
              <a:rPr sz="1000" b="0">
                <a:solidFill>
                  <a:srgbClr val="5A6677"/>
                </a:solidFill>
                <a:latin typeface="Meiryo"/>
              </a:rPr>
              <a:t>   経路点から トリガ#2 が自動で上卷するため、
アプリ側の計算と二重管理にならない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3. 主要テーブル ② track_point</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経路点 = 時空間計算の核。PostGIS ジオメトリと観測時刻を持つ</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6</a:t>
            </a:r>
          </a:p>
        </p:txBody>
      </p:sp>
      <p:sp>
        <p:nvSpPr>
          <p:cNvPr id="7" name="Rectangle 6"/>
          <p:cNvSpPr/>
          <p:nvPr/>
        </p:nvSpPr>
        <p:spPr>
          <a:xfrm>
            <a:off x="685800" y="1207008"/>
            <a:ext cx="676656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DDL — track_point  (135,228 行)</a:t>
            </a:r>
          </a:p>
        </p:txBody>
      </p:sp>
      <p:sp>
        <p:nvSpPr>
          <p:cNvPr id="8" name="Rectangle 7"/>
          <p:cNvSpPr/>
          <p:nvPr/>
        </p:nvSpPr>
        <p:spPr>
          <a:xfrm>
            <a:off x="685800" y="1481328"/>
            <a:ext cx="6766560" cy="3364992"/>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510528" cy="3182112"/>
          </a:xfrm>
          <a:prstGeom prst="rect">
            <a:avLst/>
          </a:prstGeom>
          <a:noFill/>
        </p:spPr>
        <p:txBody>
          <a:bodyPr wrap="none" lIns="0" rIns="0" tIns="0" bIns="0">
            <a:spAutoFit/>
          </a:bodyPr>
          <a:lstStyle/>
          <a:p>
            <a:pPr algn="l">
              <a:lnSpc>
                <a:spcPct val="106000"/>
              </a:lnSpc>
              <a:spcBef>
                <a:spcPts val="0"/>
              </a:spcBef>
              <a:spcAft>
                <a:spcPts val="0"/>
              </a:spcAft>
            </a:pPr>
            <a:r>
              <a:rPr sz="1050" b="0">
                <a:solidFill>
                  <a:srgbClr val="182A3E"/>
                </a:solidFill>
                <a:latin typeface="Consolas"/>
              </a:rPr>
              <a:t>CREATE TABLE track_point (</a:t>
            </a:r>
          </a:p>
          <a:p>
            <a:pPr algn="l">
              <a:lnSpc>
                <a:spcPct val="106000"/>
              </a:lnSpc>
              <a:spcBef>
                <a:spcPts val="0"/>
              </a:spcBef>
              <a:spcAft>
                <a:spcPts val="0"/>
              </a:spcAft>
            </a:pPr>
            <a:r>
              <a:rPr sz="1050" b="0">
                <a:solidFill>
                  <a:srgbClr val="182A3E"/>
                </a:solidFill>
                <a:latin typeface="Consolas"/>
              </a:rPr>
              <a:t>    id           SERIAL      PRIMARY KEY,</a:t>
            </a:r>
          </a:p>
          <a:p>
            <a:pPr algn="l">
              <a:lnSpc>
                <a:spcPct val="106000"/>
              </a:lnSpc>
              <a:spcBef>
                <a:spcPts val="0"/>
              </a:spcBef>
              <a:spcAft>
                <a:spcPts val="0"/>
              </a:spcAft>
            </a:pPr>
            <a:r>
              <a:rPr sz="1050" b="0">
                <a:solidFill>
                  <a:srgbClr val="182A3E"/>
                </a:solidFill>
                <a:latin typeface="Consolas"/>
              </a:rPr>
              <a:t>    typhoon_id   INTEGER     NOT NULL</a:t>
            </a:r>
          </a:p>
          <a:p>
            <a:pPr algn="l">
              <a:lnSpc>
                <a:spcPct val="106000"/>
              </a:lnSpc>
              <a:spcBef>
                <a:spcPts val="0"/>
              </a:spcBef>
              <a:spcAft>
                <a:spcPts val="0"/>
              </a:spcAft>
            </a:pPr>
            <a:r>
              <a:rPr sz="1050" b="0">
                <a:solidFill>
                  <a:srgbClr val="182A3E"/>
                </a:solidFill>
                <a:latin typeface="Consolas"/>
              </a:rPr>
              <a:t>                 REFERENCES typhoon(id) ON DELETE CASCADE,</a:t>
            </a:r>
          </a:p>
          <a:p>
            <a:pPr algn="l">
              <a:lnSpc>
                <a:spcPct val="106000"/>
              </a:lnSpc>
              <a:spcBef>
                <a:spcPts val="0"/>
              </a:spcBef>
              <a:spcAft>
                <a:spcPts val="0"/>
              </a:spcAft>
            </a:pPr>
            <a:r>
              <a:rPr sz="1050" b="0">
                <a:solidFill>
                  <a:srgbClr val="182A3E"/>
                </a:solidFill>
                <a:latin typeface="Consolas"/>
              </a:rPr>
              <a:t>    agency       VARCHAR(16),        -- CMA / JMA / JTWC / IBTrACS</a:t>
            </a:r>
          </a:p>
          <a:p>
            <a:pPr algn="l">
              <a:lnSpc>
                <a:spcPct val="106000"/>
              </a:lnSpc>
              <a:spcBef>
                <a:spcPts val="0"/>
              </a:spcBef>
              <a:spcAft>
                <a:spcPts val="0"/>
              </a:spcAft>
            </a:pPr>
            <a:r>
              <a:rPr sz="1050" b="0">
                <a:solidFill>
                  <a:srgbClr val="182A3E"/>
                </a:solidFill>
                <a:latin typeface="Consolas"/>
              </a:rPr>
              <a:t>    obs_time     TIMESTAMPTZ NOT NULL,           -- ▼ 時間軸</a:t>
            </a:r>
          </a:p>
          <a:p>
            <a:pPr algn="l">
              <a:lnSpc>
                <a:spcPct val="106000"/>
              </a:lnSpc>
              <a:spcBef>
                <a:spcPts val="0"/>
              </a:spcBef>
              <a:spcAft>
                <a:spcPts val="0"/>
              </a:spcAft>
            </a:pPr>
            <a:r>
              <a:rPr sz="1050" b="0">
                <a:solidFill>
                  <a:srgbClr val="182A3E"/>
                </a:solidFill>
                <a:latin typeface="Consolas"/>
              </a:rPr>
              <a:t>    geom         GEOMETRY(POINT, 4326) NOT NULL, -- ▼ 空間軸</a:t>
            </a:r>
          </a:p>
          <a:p>
            <a:pPr algn="l">
              <a:lnSpc>
                <a:spcPct val="106000"/>
              </a:lnSpc>
              <a:spcBef>
                <a:spcPts val="0"/>
              </a:spcBef>
              <a:spcAft>
                <a:spcPts val="0"/>
              </a:spcAft>
            </a:pPr>
            <a:r>
              <a:rPr sz="1050" b="0">
                <a:solidFill>
                  <a:srgbClr val="182A3E"/>
                </a:solidFill>
                <a:latin typeface="Consolas"/>
              </a:rPr>
              <a:t>    lat          DOUBLE PRECISION NOT NULL,</a:t>
            </a:r>
          </a:p>
          <a:p>
            <a:pPr algn="l">
              <a:lnSpc>
                <a:spcPct val="106000"/>
              </a:lnSpc>
              <a:spcBef>
                <a:spcPts val="0"/>
              </a:spcBef>
              <a:spcAft>
                <a:spcPts val="0"/>
              </a:spcAft>
            </a:pPr>
            <a:r>
              <a:rPr sz="1050" b="0">
                <a:solidFill>
                  <a:srgbClr val="182A3E"/>
                </a:solidFill>
                <a:latin typeface="Consolas"/>
              </a:rPr>
              <a:t>    lon          DOUBLE PRECISION NOT NULL,</a:t>
            </a:r>
          </a:p>
          <a:p>
            <a:pPr algn="l">
              <a:lnSpc>
                <a:spcPct val="106000"/>
              </a:lnSpc>
              <a:spcBef>
                <a:spcPts val="0"/>
              </a:spcBef>
              <a:spcAft>
                <a:spcPts val="0"/>
              </a:spcAft>
            </a:pPr>
            <a:r>
              <a:rPr sz="1050" b="0">
                <a:solidFill>
                  <a:srgbClr val="182A3E"/>
                </a:solidFill>
                <a:latin typeface="Consolas"/>
              </a:rPr>
              <a:t>    wind_kt      DOUBLE PRECISION,  pressure_hpa DOUBLE PRECISION,</a:t>
            </a:r>
          </a:p>
          <a:p>
            <a:pPr algn="l">
              <a:lnSpc>
                <a:spcPct val="106000"/>
              </a:lnSpc>
              <a:spcBef>
                <a:spcPts val="0"/>
              </a:spcBef>
              <a:spcAft>
                <a:spcPts val="0"/>
              </a:spcAft>
            </a:pPr>
            <a:r>
              <a:rPr sz="1050" b="0">
                <a:solidFill>
                  <a:srgbClr val="182A3E"/>
                </a:solidFill>
                <a:latin typeface="Consolas"/>
              </a:rPr>
              <a:t>    grade        VARCHAR(32),       rmw_km       DOUBLE PRECISION,</a:t>
            </a:r>
          </a:p>
          <a:p>
            <a:pPr algn="l">
              <a:lnSpc>
                <a:spcPct val="106000"/>
              </a:lnSpc>
              <a:spcBef>
                <a:spcPts val="0"/>
              </a:spcBef>
              <a:spcAft>
                <a:spcPts val="0"/>
              </a:spcAft>
            </a:pPr>
            <a:r>
              <a:rPr sz="1050" b="0">
                <a:solidFill>
                  <a:srgbClr val="182A3E"/>
                </a:solidFill>
                <a:latin typeface="Consolas"/>
              </a:rPr>
              <a:t>    move_dir     DOUBLE PRECISION,  move_speed   DOUBLE PRECISION</a:t>
            </a:r>
          </a:p>
          <a:p>
            <a:pPr algn="l">
              <a:lnSpc>
                <a:spcPct val="106000"/>
              </a:lnSpc>
              <a:spcBef>
                <a:spcPts val="0"/>
              </a:spcBef>
              <a:spcAft>
                <a:spcPts val="0"/>
              </a:spcAft>
            </a:pPr>
            <a:r>
              <a:rPr sz="1050" b="0">
                <a:solidFill>
                  <a:srgbClr val="182A3E"/>
                </a:solidFill>
                <a:latin typeface="Consolas"/>
              </a:rPr>
              <a:t>);</a:t>
            </a:r>
          </a:p>
          <a:p>
            <a:pPr algn="l">
              <a:lnSpc>
                <a:spcPct val="106000"/>
              </a:lnSpc>
              <a:spcBef>
                <a:spcPts val="0"/>
              </a:spcBef>
              <a:spcAft>
                <a:spcPts val="0"/>
              </a:spcAft>
            </a:pPr>
            <a:r>
              <a:rPr sz="1050" b="0">
                <a:solidFill>
                  <a:srgbClr val="182A3E"/>
                </a:solidFill>
                <a:latin typeface="Consolas"/>
              </a:rPr>
              <a:t>CREATE INDEX ix_track_point_typhoon_id ON track_point (typhoon_id);</a:t>
            </a:r>
          </a:p>
          <a:p>
            <a:pPr algn="l">
              <a:lnSpc>
                <a:spcPct val="106000"/>
              </a:lnSpc>
              <a:spcBef>
                <a:spcPts val="0"/>
              </a:spcBef>
              <a:spcAft>
                <a:spcPts val="0"/>
              </a:spcAft>
            </a:pPr>
            <a:r>
              <a:rPr sz="1050" b="0">
                <a:solidFill>
                  <a:srgbClr val="182A3E"/>
                </a:solidFill>
                <a:latin typeface="Consolas"/>
              </a:rPr>
              <a:t>CREATE INDEX ix_track_point_obs_time   ON track_point (obs_time);</a:t>
            </a:r>
          </a:p>
          <a:p>
            <a:pPr algn="l">
              <a:lnSpc>
                <a:spcPct val="106000"/>
              </a:lnSpc>
              <a:spcBef>
                <a:spcPts val="0"/>
              </a:spcBef>
              <a:spcAft>
                <a:spcPts val="0"/>
              </a:spcAft>
            </a:pPr>
            <a:r>
              <a:rPr sz="1050" b="0">
                <a:solidFill>
                  <a:srgbClr val="6E8A5E"/>
                </a:solidFill>
                <a:latin typeface="Consolas"/>
              </a:rPr>
              <a:t>-- 空間的選択のための GiST 索引</a:t>
            </a:r>
          </a:p>
          <a:p>
            <a:pPr algn="l">
              <a:lnSpc>
                <a:spcPct val="106000"/>
              </a:lnSpc>
              <a:spcBef>
                <a:spcPts val="0"/>
              </a:spcBef>
              <a:spcAft>
                <a:spcPts val="0"/>
              </a:spcAft>
            </a:pPr>
            <a:r>
              <a:rPr sz="1050" b="0">
                <a:solidFill>
                  <a:srgbClr val="182A3E"/>
                </a:solidFill>
                <a:latin typeface="Consolas"/>
              </a:rPr>
              <a:t>CREATE INDEX ix_track_point_geom ON track_point USING gist (geom);</a:t>
            </a:r>
          </a:p>
        </p:txBody>
      </p:sp>
      <p:sp>
        <p:nvSpPr>
          <p:cNvPr id="10" name="Rectangle 9"/>
          <p:cNvSpPr/>
          <p:nvPr/>
        </p:nvSpPr>
        <p:spPr>
          <a:xfrm>
            <a:off x="685800" y="4956048"/>
            <a:ext cx="676656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主要クエリ Q2 — 時空間選択 (Spatio-temporal Selection)</a:t>
            </a:r>
          </a:p>
        </p:txBody>
      </p:sp>
      <p:sp>
        <p:nvSpPr>
          <p:cNvPr id="11" name="Rectangle 10"/>
          <p:cNvSpPr/>
          <p:nvPr/>
        </p:nvSpPr>
        <p:spPr>
          <a:xfrm>
            <a:off x="685800" y="5230368"/>
            <a:ext cx="6766560" cy="96012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3816" y="5321807"/>
            <a:ext cx="6510528" cy="777240"/>
          </a:xfrm>
          <a:prstGeom prst="rect">
            <a:avLst/>
          </a:prstGeom>
          <a:noFill/>
        </p:spPr>
        <p:txBody>
          <a:bodyPr wrap="none" lIns="0" rIns="0" tIns="0" bIns="0">
            <a:spAutoFit/>
          </a:bodyPr>
          <a:lstStyle/>
          <a:p>
            <a:pPr algn="l">
              <a:lnSpc>
                <a:spcPct val="106000"/>
              </a:lnSpc>
              <a:spcBef>
                <a:spcPts val="0"/>
              </a:spcBef>
              <a:spcAft>
                <a:spcPts val="0"/>
              </a:spcAft>
            </a:pPr>
            <a:r>
              <a:rPr sz="940" b="0">
                <a:solidFill>
                  <a:srgbClr val="6E8A5E"/>
                </a:solidFill>
                <a:latin typeface="Consolas"/>
              </a:rPr>
              <a:t>-- 主要クエリ Q2 : 時空間選択 → 2306 Khanun が 147 点 (約1か月) 同海域に停滞</a:t>
            </a:r>
          </a:p>
          <a:p>
            <a:pPr algn="l">
              <a:lnSpc>
                <a:spcPct val="106000"/>
              </a:lnSpc>
              <a:spcBef>
                <a:spcPts val="0"/>
              </a:spcBef>
              <a:spcAft>
                <a:spcPts val="0"/>
              </a:spcAft>
            </a:pPr>
            <a:r>
              <a:rPr sz="940" b="0">
                <a:solidFill>
                  <a:srgbClr val="182A3E"/>
                </a:solidFill>
                <a:latin typeface="Consolas"/>
              </a:rPr>
              <a:t>SELECT t.intl_id, t.name, COUNT(*) AS hits FROM typhoon t</a:t>
            </a:r>
          </a:p>
          <a:p>
            <a:pPr algn="l">
              <a:lnSpc>
                <a:spcPct val="106000"/>
              </a:lnSpc>
              <a:spcBef>
                <a:spcPts val="0"/>
              </a:spcBef>
              <a:spcAft>
                <a:spcPts val="0"/>
              </a:spcAft>
            </a:pPr>
            <a:r>
              <a:rPr sz="940" b="0">
                <a:solidFill>
                  <a:srgbClr val="182A3E"/>
                </a:solidFill>
                <a:latin typeface="Consolas"/>
              </a:rPr>
              <a:t>  JOIN track_point tp ON tp.typhoon_id = t.id</a:t>
            </a:r>
          </a:p>
          <a:p>
            <a:pPr algn="l">
              <a:lnSpc>
                <a:spcPct val="106000"/>
              </a:lnSpc>
              <a:spcBef>
                <a:spcPts val="0"/>
              </a:spcBef>
              <a:spcAft>
                <a:spcPts val="0"/>
              </a:spcAft>
            </a:pPr>
            <a:r>
              <a:rPr sz="940" b="0">
                <a:solidFill>
                  <a:srgbClr val="182A3E"/>
                </a:solidFill>
                <a:latin typeface="Consolas"/>
              </a:rPr>
              <a:t> WHERE ST_Intersects(tp.geom, ST_MakeEnvelope(120,20,135,30,4326))</a:t>
            </a:r>
          </a:p>
          <a:p>
            <a:pPr algn="l">
              <a:lnSpc>
                <a:spcPct val="106000"/>
              </a:lnSpc>
              <a:spcBef>
                <a:spcPts val="0"/>
              </a:spcBef>
              <a:spcAft>
                <a:spcPts val="0"/>
              </a:spcAft>
            </a:pPr>
            <a:r>
              <a:rPr sz="940" b="0">
                <a:solidFill>
                  <a:srgbClr val="182A3E"/>
                </a:solidFill>
                <a:latin typeface="Consolas"/>
              </a:rPr>
              <a:t>   AND tp.obs_time BETWEEN '2023-07-01' AND '2023-09-30' GROUP BY 1,2;</a:t>
            </a:r>
          </a:p>
        </p:txBody>
      </p:sp>
      <p:sp>
        <p:nvSpPr>
          <p:cNvPr id="13" name="TextBox 12"/>
          <p:cNvSpPr txBox="1"/>
          <p:nvPr/>
        </p:nvSpPr>
        <p:spPr>
          <a:xfrm>
            <a:off x="7680960" y="1280160"/>
            <a:ext cx="3840480" cy="4846320"/>
          </a:xfrm>
          <a:prstGeom prst="rect">
            <a:avLst/>
          </a:prstGeom>
          <a:noFill/>
        </p:spPr>
        <p:txBody>
          <a:bodyPr wrap="square" lIns="0" rIns="0" tIns="0" bIns="0">
            <a:spAutoFit/>
          </a:bodyPr>
          <a:lstStyle/>
          <a:p>
            <a:pPr algn="l">
              <a:spcBef>
                <a:spcPts val="0"/>
              </a:spcBef>
              <a:spcAft>
                <a:spcPts val="1200"/>
              </a:spcAft>
            </a:pPr>
            <a:r>
              <a:rPr sz="1500" b="1">
                <a:solidFill>
                  <a:srgbClr val="1F5C99"/>
                </a:solidFill>
                <a:latin typeface="Meiryo"/>
              </a:rPr>
              <a:t>設計のポイント</a:t>
            </a:r>
          </a:p>
          <a:p>
            <a:pPr algn="l">
              <a:spcBef>
                <a:spcPts val="0"/>
              </a:spcBef>
              <a:spcAft>
                <a:spcPts val="200"/>
              </a:spcAft>
            </a:pPr>
            <a:r>
              <a:rPr sz="1200" b="1">
                <a:solidFill>
                  <a:srgbClr val="142B4A"/>
                </a:solidFill>
                <a:latin typeface="Meiryo"/>
              </a:rPr>
              <a:t>● agency 列で多機関共存</a:t>
            </a:r>
          </a:p>
          <a:p>
            <a:pPr algn="l">
              <a:lnSpc>
                <a:spcPct val="115000"/>
              </a:lnSpc>
              <a:spcBef>
                <a:spcPts val="0"/>
              </a:spcBef>
              <a:spcAft>
                <a:spcPts val="1300"/>
              </a:spcAft>
            </a:pPr>
            <a:r>
              <a:rPr sz="1000" b="0">
                <a:solidFill>
                  <a:srgbClr val="5A6677"/>
                </a:solidFill>
                <a:latin typeface="Meiryo"/>
              </a:rPr>
              <a:t>   同一台風に CMA / JMA / JTWC の実況経路が並存する。
実測 JMA 71,163 ／ CMA 60,498 ／ JTWC 3,567 点</a:t>
            </a:r>
          </a:p>
          <a:p>
            <a:pPr algn="l">
              <a:spcBef>
                <a:spcPts val="0"/>
              </a:spcBef>
              <a:spcAft>
                <a:spcPts val="200"/>
              </a:spcAft>
            </a:pPr>
            <a:r>
              <a:rPr sz="1200" b="1">
                <a:solidFill>
                  <a:srgbClr val="142B4A"/>
                </a:solidFill>
                <a:latin typeface="Meiryo"/>
              </a:rPr>
              <a:t>● 統計時は主機関 1 本に正規化</a:t>
            </a:r>
          </a:p>
          <a:p>
            <a:pPr algn="l">
              <a:lnSpc>
                <a:spcPct val="115000"/>
              </a:lnSpc>
              <a:spcBef>
                <a:spcPts val="0"/>
              </a:spcBef>
              <a:spcAft>
                <a:spcPts val="1300"/>
              </a:spcAft>
            </a:pPr>
            <a:r>
              <a:rPr sz="1000" b="0">
                <a:solidFill>
                  <a:srgbClr val="5A6677"/>
                </a:solidFill>
                <a:latin typeface="Meiryo"/>
              </a:rPr>
              <a:t>   CMA→JMA→JTWC の優先順で 1 本だけ採用し、
多重計上を防ぐ</a:t>
            </a:r>
          </a:p>
          <a:p>
            <a:pPr algn="l">
              <a:spcBef>
                <a:spcPts val="0"/>
              </a:spcBef>
              <a:spcAft>
                <a:spcPts val="200"/>
              </a:spcAft>
            </a:pPr>
            <a:r>
              <a:rPr sz="1200" b="1">
                <a:solidFill>
                  <a:srgbClr val="142B4A"/>
                </a:solidFill>
                <a:latin typeface="Meiryo"/>
              </a:rPr>
              <a:t>● geom と lat/lon の二重保持</a:t>
            </a:r>
          </a:p>
          <a:p>
            <a:pPr algn="l">
              <a:lnSpc>
                <a:spcPct val="115000"/>
              </a:lnSpc>
              <a:spcBef>
                <a:spcPts val="0"/>
              </a:spcBef>
              <a:spcAft>
                <a:spcPts val="1300"/>
              </a:spcAft>
            </a:pPr>
            <a:r>
              <a:rPr sz="1000" b="0">
                <a:solidFill>
                  <a:srgbClr val="5A6677"/>
                </a:solidFill>
                <a:latin typeface="Meiryo"/>
              </a:rPr>
              <a:t>   geom は空間演算用、lat/lon は API 出力用。
両者の整合性は トリガ#1 が保証する</a:t>
            </a:r>
          </a:p>
          <a:p>
            <a:pPr algn="l">
              <a:spcBef>
                <a:spcPts val="0"/>
              </a:spcBef>
              <a:spcAft>
                <a:spcPts val="200"/>
              </a:spcAft>
            </a:pPr>
            <a:r>
              <a:rPr sz="1200" b="1">
                <a:solidFill>
                  <a:srgbClr val="142B4A"/>
                </a:solidFill>
                <a:latin typeface="Meiryo"/>
              </a:rPr>
              <a:t>● GiST + B-tree の併用</a:t>
            </a:r>
          </a:p>
          <a:p>
            <a:pPr algn="l">
              <a:lnSpc>
                <a:spcPct val="115000"/>
              </a:lnSpc>
              <a:spcBef>
                <a:spcPts val="0"/>
              </a:spcBef>
              <a:spcAft>
                <a:spcPts val="1300"/>
              </a:spcAft>
            </a:pPr>
            <a:r>
              <a:rPr sz="1000" b="0">
                <a:solidFill>
                  <a:srgbClr val="5A6677"/>
                </a:solidFill>
                <a:latin typeface="Meiryo"/>
              </a:rPr>
              <a:t>   ST_Intersects は GiST、obs_time 範囲は B-tree が
効くため、時空間選択が両軸とも高速</a:t>
            </a:r>
          </a:p>
          <a:p>
            <a:pPr algn="l">
              <a:spcBef>
                <a:spcPts val="0"/>
              </a:spcBef>
              <a:spcAft>
                <a:spcPts val="200"/>
              </a:spcAft>
            </a:pPr>
            <a:r>
              <a:rPr sz="1200" b="1">
                <a:solidFill>
                  <a:srgbClr val="142B4A"/>
                </a:solidFill>
                <a:latin typeface="Meiryo"/>
              </a:rPr>
              <a:t>● ON DELETE CASCADE</a:t>
            </a:r>
          </a:p>
          <a:p>
            <a:pPr algn="l">
              <a:lnSpc>
                <a:spcPct val="115000"/>
              </a:lnSpc>
              <a:spcBef>
                <a:spcPts val="0"/>
              </a:spcBef>
              <a:spcAft>
                <a:spcPts val="1300"/>
              </a:spcAft>
            </a:pPr>
            <a:r>
              <a:rPr sz="1000" b="0">
                <a:solidFill>
                  <a:srgbClr val="5A6677"/>
                </a:solidFill>
                <a:latin typeface="Meiryo"/>
              </a:rPr>
              <a:t>   台風を消せば経路点も消える。全子テーブルで統一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3. 主要テーブル ③ secondary_disaster</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受灾情報 = 実際に発生した被害。空間列と意味列を同時に持つ情報層</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7</a:t>
            </a:r>
          </a:p>
        </p:txBody>
      </p:sp>
      <p:sp>
        <p:nvSpPr>
          <p:cNvPr id="7" name="Rectangle 6"/>
          <p:cNvSpPr/>
          <p:nvPr/>
        </p:nvSpPr>
        <p:spPr>
          <a:xfrm>
            <a:off x="685800" y="1207008"/>
            <a:ext cx="676656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DDL — secondary_disaster  (929 行)</a:t>
            </a:r>
          </a:p>
        </p:txBody>
      </p:sp>
      <p:sp>
        <p:nvSpPr>
          <p:cNvPr id="8" name="Rectangle 7"/>
          <p:cNvSpPr/>
          <p:nvPr/>
        </p:nvSpPr>
        <p:spPr>
          <a:xfrm>
            <a:off x="685800" y="1481328"/>
            <a:ext cx="6766560" cy="370332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510528" cy="3520439"/>
          </a:xfrm>
          <a:prstGeom prst="rect">
            <a:avLst/>
          </a:prstGeom>
          <a:noFill/>
        </p:spPr>
        <p:txBody>
          <a:bodyPr wrap="none" lIns="0" rIns="0" tIns="0" bIns="0">
            <a:spAutoFit/>
          </a:bodyPr>
          <a:lstStyle/>
          <a:p>
            <a:pPr algn="l">
              <a:lnSpc>
                <a:spcPct val="106000"/>
              </a:lnSpc>
              <a:spcBef>
                <a:spcPts val="0"/>
              </a:spcBef>
              <a:spcAft>
                <a:spcPts val="0"/>
              </a:spcAft>
            </a:pPr>
            <a:r>
              <a:rPr sz="1050" b="0">
                <a:solidFill>
                  <a:srgbClr val="182A3E"/>
                </a:solidFill>
                <a:latin typeface="Consolas"/>
              </a:rPr>
              <a:t>CREATE TABLE secondary_disaster (</a:t>
            </a:r>
          </a:p>
          <a:p>
            <a:pPr algn="l">
              <a:lnSpc>
                <a:spcPct val="106000"/>
              </a:lnSpc>
              <a:spcBef>
                <a:spcPts val="0"/>
              </a:spcBef>
              <a:spcAft>
                <a:spcPts val="0"/>
              </a:spcAft>
            </a:pPr>
            <a:r>
              <a:rPr sz="1050" b="0">
                <a:solidFill>
                  <a:srgbClr val="182A3E"/>
                </a:solidFill>
                <a:latin typeface="Consolas"/>
              </a:rPr>
              <a:t>    id                SERIAL      PRIMARY KEY,</a:t>
            </a:r>
          </a:p>
          <a:p>
            <a:pPr algn="l">
              <a:lnSpc>
                <a:spcPct val="106000"/>
              </a:lnSpc>
              <a:spcBef>
                <a:spcPts val="0"/>
              </a:spcBef>
              <a:spcAft>
                <a:spcPts val="0"/>
              </a:spcAft>
            </a:pPr>
            <a:r>
              <a:rPr sz="1050" b="0">
                <a:solidFill>
                  <a:srgbClr val="182A3E"/>
                </a:solidFill>
                <a:latin typeface="Consolas"/>
              </a:rPr>
              <a:t>    typhoon_id        INTEGER     NOT NULL</a:t>
            </a:r>
          </a:p>
          <a:p>
            <a:pPr algn="l">
              <a:lnSpc>
                <a:spcPct val="106000"/>
              </a:lnSpc>
              <a:spcBef>
                <a:spcPts val="0"/>
              </a:spcBef>
              <a:spcAft>
                <a:spcPts val="0"/>
              </a:spcAft>
            </a:pPr>
            <a:r>
              <a:rPr sz="1050" b="0">
                <a:solidFill>
                  <a:srgbClr val="182A3E"/>
                </a:solidFill>
                <a:latin typeface="Consolas"/>
              </a:rPr>
              <a:t>                      REFERENCES typhoon(id) ON DELETE CASCADE,</a:t>
            </a:r>
          </a:p>
          <a:p>
            <a:pPr algn="l">
              <a:lnSpc>
                <a:spcPct val="106000"/>
              </a:lnSpc>
              <a:spcBef>
                <a:spcPts val="0"/>
              </a:spcBef>
              <a:spcAft>
                <a:spcPts val="0"/>
              </a:spcAft>
            </a:pPr>
            <a:r>
              <a:rPr sz="1050" b="0">
                <a:solidFill>
                  <a:srgbClr val="182A3E"/>
                </a:solidFill>
                <a:latin typeface="Consolas"/>
              </a:rPr>
              <a:t>    disaster_type     VARCHAR(32) NOT NULL,  -- flood / landslide /</a:t>
            </a:r>
          </a:p>
          <a:p>
            <a:pPr algn="l">
              <a:lnSpc>
                <a:spcPct val="106000"/>
              </a:lnSpc>
              <a:spcBef>
                <a:spcPts val="0"/>
              </a:spcBef>
              <a:spcAft>
                <a:spcPts val="0"/>
              </a:spcAft>
            </a:pPr>
            <a:r>
              <a:rPr sz="1050" b="0">
                <a:solidFill>
                  <a:srgbClr val="6E8A5E"/>
                </a:solidFill>
                <a:latin typeface="Consolas"/>
              </a:rPr>
              <a:t>                                           -- storm_surge / casualty</a:t>
            </a:r>
          </a:p>
          <a:p>
            <a:pPr algn="l">
              <a:lnSpc>
                <a:spcPct val="106000"/>
              </a:lnSpc>
              <a:spcBef>
                <a:spcPts val="0"/>
              </a:spcBef>
              <a:spcAft>
                <a:spcPts val="0"/>
              </a:spcAft>
            </a:pPr>
            <a:r>
              <a:rPr sz="1050" b="0">
                <a:solidFill>
                  <a:srgbClr val="182A3E"/>
                </a:solidFill>
                <a:latin typeface="Consolas"/>
              </a:rPr>
              <a:t>    geom              GEOMETRY(POINT, 4326),  -- ▼ 空間軸</a:t>
            </a:r>
          </a:p>
          <a:p>
            <a:pPr algn="l">
              <a:lnSpc>
                <a:spcPct val="106000"/>
              </a:lnSpc>
              <a:spcBef>
                <a:spcPts val="0"/>
              </a:spcBef>
              <a:spcAft>
                <a:spcPts val="0"/>
              </a:spcAft>
            </a:pPr>
            <a:r>
              <a:rPr sz="1050" b="0">
                <a:solidFill>
                  <a:srgbClr val="182A3E"/>
                </a:solidFill>
                <a:latin typeface="Consolas"/>
              </a:rPr>
              <a:t>    lat DOUBLE PRECISION,  lon DOUBLE PRECISION,</a:t>
            </a:r>
          </a:p>
          <a:p>
            <a:pPr algn="l">
              <a:lnSpc>
                <a:spcPct val="106000"/>
              </a:lnSpc>
              <a:spcBef>
                <a:spcPts val="0"/>
              </a:spcBef>
              <a:spcAft>
                <a:spcPts val="0"/>
              </a:spcAft>
            </a:pPr>
            <a:r>
              <a:rPr sz="1050" b="0">
                <a:solidFill>
                  <a:srgbClr val="182A3E"/>
                </a:solidFill>
                <a:latin typeface="Consolas"/>
              </a:rPr>
              <a:t>    event_time        TIMESTAMPTZ,            -- ▼ 時間軸</a:t>
            </a:r>
          </a:p>
          <a:p>
            <a:pPr algn="l">
              <a:lnSpc>
                <a:spcPct val="106000"/>
              </a:lnSpc>
              <a:spcBef>
                <a:spcPts val="0"/>
              </a:spcBef>
              <a:spcAft>
                <a:spcPts val="0"/>
              </a:spcAft>
            </a:pPr>
            <a:r>
              <a:rPr sz="1050" b="0">
                <a:solidFill>
                  <a:srgbClr val="182A3E"/>
                </a:solidFill>
                <a:latin typeface="Consolas"/>
              </a:rPr>
              <a:t>    casualties        INTEGER,                -- 死傷者数</a:t>
            </a:r>
          </a:p>
          <a:p>
            <a:pPr algn="l">
              <a:lnSpc>
                <a:spcPct val="106000"/>
              </a:lnSpc>
              <a:spcBef>
                <a:spcPts val="0"/>
              </a:spcBef>
              <a:spcAft>
                <a:spcPts val="0"/>
              </a:spcAft>
            </a:pPr>
            <a:r>
              <a:rPr sz="1050" b="0">
                <a:solidFill>
                  <a:srgbClr val="182A3E"/>
                </a:solidFill>
                <a:latin typeface="Consolas"/>
              </a:rPr>
              <a:t>    economic_loss_usd DOUBLE PRECISION,       -- 経済損失</a:t>
            </a:r>
          </a:p>
          <a:p>
            <a:pPr algn="l">
              <a:lnSpc>
                <a:spcPct val="106000"/>
              </a:lnSpc>
              <a:spcBef>
                <a:spcPts val="0"/>
              </a:spcBef>
              <a:spcAft>
                <a:spcPts val="0"/>
              </a:spcAft>
            </a:pPr>
            <a:r>
              <a:rPr sz="1050" b="0">
                <a:solidFill>
                  <a:srgbClr val="182A3E"/>
                </a:solidFill>
                <a:latin typeface="Consolas"/>
              </a:rPr>
              <a:t>    description       TEXT,</a:t>
            </a:r>
          </a:p>
          <a:p>
            <a:pPr algn="l">
              <a:lnSpc>
                <a:spcPct val="106000"/>
              </a:lnSpc>
              <a:spcBef>
                <a:spcPts val="0"/>
              </a:spcBef>
              <a:spcAft>
                <a:spcPts val="0"/>
              </a:spcAft>
            </a:pPr>
            <a:r>
              <a:rPr sz="1050" b="0">
                <a:solidFill>
                  <a:srgbClr val="182A3E"/>
                </a:solidFill>
                <a:latin typeface="Consolas"/>
              </a:rPr>
              <a:t>    region_name       VARCHAR(128),  -- 発信元が報じた地域</a:t>
            </a:r>
          </a:p>
          <a:p>
            <a:pPr algn="l">
              <a:lnSpc>
                <a:spcPct val="106000"/>
              </a:lnSpc>
              <a:spcBef>
                <a:spcPts val="0"/>
              </a:spcBef>
              <a:spcAft>
                <a:spcPts val="0"/>
              </a:spcAft>
            </a:pPr>
            <a:r>
              <a:rPr sz="1050" b="0">
                <a:solidFill>
                  <a:srgbClr val="182A3E"/>
                </a:solidFill>
                <a:latin typeface="Consolas"/>
              </a:rPr>
              <a:t>    source            VARCHAR(32),   -- GDACS / MEM / FDMA</a:t>
            </a:r>
          </a:p>
          <a:p>
            <a:pPr algn="l">
              <a:lnSpc>
                <a:spcPct val="106000"/>
              </a:lnSpc>
              <a:spcBef>
                <a:spcPts val="0"/>
              </a:spcBef>
              <a:spcAft>
                <a:spcPts val="0"/>
              </a:spcAft>
            </a:pPr>
            <a:r>
              <a:rPr sz="1050" b="0">
                <a:solidFill>
                  <a:srgbClr val="182A3E"/>
                </a:solidFill>
                <a:latin typeface="Consolas"/>
              </a:rPr>
              <a:t>    source_url        TEXT,</a:t>
            </a:r>
          </a:p>
          <a:p>
            <a:pPr algn="l">
              <a:lnSpc>
                <a:spcPct val="106000"/>
              </a:lnSpc>
              <a:spcBef>
                <a:spcPts val="0"/>
              </a:spcBef>
              <a:spcAft>
                <a:spcPts val="0"/>
              </a:spcAft>
            </a:pPr>
            <a:r>
              <a:rPr sz="1050" b="0">
                <a:solidFill>
                  <a:srgbClr val="182A3E"/>
                </a:solidFill>
                <a:latin typeface="Consolas"/>
              </a:rPr>
              <a:t>    embedding         VECTOR(384)             -- ▼ 意味軸</a:t>
            </a:r>
          </a:p>
          <a:p>
            <a:pPr algn="l">
              <a:lnSpc>
                <a:spcPct val="106000"/>
              </a:lnSpc>
              <a:spcBef>
                <a:spcPts val="0"/>
              </a:spcBef>
              <a:spcAft>
                <a:spcPts val="0"/>
              </a:spcAft>
            </a:pPr>
            <a:r>
              <a:rPr sz="1050" b="0">
                <a:solidFill>
                  <a:srgbClr val="182A3E"/>
                </a:solidFill>
                <a:latin typeface="Consolas"/>
              </a:rPr>
              <a:t>);</a:t>
            </a:r>
          </a:p>
          <a:p>
            <a:pPr algn="l">
              <a:lnSpc>
                <a:spcPct val="106000"/>
              </a:lnSpc>
              <a:spcBef>
                <a:spcPts val="0"/>
              </a:spcBef>
              <a:spcAft>
                <a:spcPts val="0"/>
              </a:spcAft>
            </a:pPr>
            <a:r>
              <a:rPr sz="1050" b="0">
                <a:solidFill>
                  <a:srgbClr val="182A3E"/>
                </a:solidFill>
                <a:latin typeface="Consolas"/>
              </a:rPr>
              <a:t>CREATE INDEX ix_disaster_geom ON secondary_disaster USING gist (geom);</a:t>
            </a:r>
          </a:p>
          <a:p>
            <a:pPr algn="l">
              <a:lnSpc>
                <a:spcPct val="106000"/>
              </a:lnSpc>
              <a:spcBef>
                <a:spcPts val="0"/>
              </a:spcBef>
              <a:spcAft>
                <a:spcPts val="0"/>
              </a:spcAft>
            </a:pPr>
            <a:r>
              <a:rPr sz="1050" b="0">
                <a:solidFill>
                  <a:srgbClr val="182A3E"/>
                </a:solidFill>
                <a:latin typeface="Consolas"/>
              </a:rPr>
              <a:t>CREATE INDEX ix_disaster_embedding ON secondary_disaster</a:t>
            </a:r>
          </a:p>
          <a:p>
            <a:pPr algn="l">
              <a:lnSpc>
                <a:spcPct val="106000"/>
              </a:lnSpc>
              <a:spcBef>
                <a:spcPts val="0"/>
              </a:spcBef>
              <a:spcAft>
                <a:spcPts val="0"/>
              </a:spcAft>
            </a:pPr>
            <a:r>
              <a:rPr sz="1050" b="0">
                <a:solidFill>
                  <a:srgbClr val="182A3E"/>
                </a:solidFill>
                <a:latin typeface="Consolas"/>
              </a:rPr>
              <a:t>    USING ivfflat (embedding vector_cosine_ops) WITH (lists = 100);</a:t>
            </a:r>
          </a:p>
        </p:txBody>
      </p:sp>
      <p:sp>
        <p:nvSpPr>
          <p:cNvPr id="10" name="TextBox 9"/>
          <p:cNvSpPr txBox="1"/>
          <p:nvPr/>
        </p:nvSpPr>
        <p:spPr>
          <a:xfrm>
            <a:off x="7680960" y="1280160"/>
            <a:ext cx="3840480" cy="2743200"/>
          </a:xfrm>
          <a:prstGeom prst="rect">
            <a:avLst/>
          </a:prstGeom>
          <a:noFill/>
        </p:spPr>
        <p:txBody>
          <a:bodyPr wrap="square" lIns="0" rIns="0" tIns="0" bIns="0">
            <a:spAutoFit/>
          </a:bodyPr>
          <a:lstStyle/>
          <a:p>
            <a:pPr algn="l">
              <a:spcBef>
                <a:spcPts val="0"/>
              </a:spcBef>
              <a:spcAft>
                <a:spcPts val="1000"/>
              </a:spcAft>
            </a:pPr>
            <a:r>
              <a:rPr sz="1500" b="1">
                <a:solidFill>
                  <a:srgbClr val="1F5C99"/>
                </a:solidFill>
                <a:latin typeface="Meiryo"/>
              </a:rPr>
              <a:t>情報の二層分離</a:t>
            </a:r>
          </a:p>
          <a:p>
            <a:pPr algn="l">
              <a:lnSpc>
                <a:spcPct val="115000"/>
              </a:lnSpc>
              <a:spcBef>
                <a:spcPts val="0"/>
              </a:spcBef>
              <a:spcAft>
                <a:spcPts val="1200"/>
              </a:spcAft>
            </a:pPr>
            <a:r>
              <a:rPr sz="1100" b="0">
                <a:solidFill>
                  <a:srgbClr val="5A6677"/>
                </a:solidFill>
                <a:latin typeface="Meiryo"/>
              </a:rPr>
              <a:t>台風に付随する非構造テキストを、意味的役割で 2 つの対等な表に分ける。</a:t>
            </a:r>
          </a:p>
          <a:p>
            <a:pPr algn="l">
              <a:spcBef>
                <a:spcPts val="0"/>
              </a:spcBef>
              <a:spcAft>
                <a:spcPts val="300"/>
              </a:spcAft>
            </a:pPr>
            <a:r>
              <a:rPr sz="1200" b="1">
                <a:solidFill>
                  <a:srgbClr val="D1661E"/>
                </a:solidFill>
                <a:latin typeface="Meiryo"/>
              </a:rPr>
              <a:t>■ secondary_disaster ＝ 受灾情報</a:t>
            </a:r>
          </a:p>
          <a:p>
            <a:pPr algn="l">
              <a:lnSpc>
                <a:spcPct val="120000"/>
              </a:lnSpc>
              <a:spcBef>
                <a:spcPts val="0"/>
              </a:spcBef>
              <a:spcAft>
                <a:spcPts val="1300"/>
              </a:spcAft>
            </a:pPr>
            <a:r>
              <a:rPr sz="1000" b="0">
                <a:solidFill>
                  <a:srgbClr val="5A6677"/>
                </a:solidFill>
                <a:latin typeface="Meiryo"/>
              </a:rPr>
              <a:t>   既に発生した損失
死傷・経済損失・洪水 / 土砂 / 高潮
GDACS 事件・応急管理部・消防庁</a:t>
            </a:r>
          </a:p>
          <a:p>
            <a:pPr algn="l">
              <a:spcBef>
                <a:spcPts val="0"/>
              </a:spcBef>
              <a:spcAft>
                <a:spcPts val="300"/>
              </a:spcAft>
            </a:pPr>
            <a:r>
              <a:rPr sz="1200" b="1">
                <a:solidFill>
                  <a:srgbClr val="008C8C"/>
                </a:solidFill>
                <a:latin typeface="Meiryo"/>
              </a:rPr>
              <a:t>■ public_info ＝ 公共情報</a:t>
            </a:r>
          </a:p>
          <a:p>
            <a:pPr algn="l">
              <a:lnSpc>
                <a:spcPct val="120000"/>
              </a:lnSpc>
              <a:spcBef>
                <a:spcPts val="0"/>
              </a:spcBef>
              <a:spcAft>
                <a:spcPts val="1300"/>
              </a:spcAft>
            </a:pPr>
            <a:r>
              <a:rPr sz="1000" b="0">
                <a:solidFill>
                  <a:srgbClr val="5A6677"/>
                </a:solidFill>
                <a:latin typeface="Meiryo"/>
              </a:rPr>
              <a:t>   当局が公開発表した情報
警報・避難指示・報道
気象庁・中央气象台・香港天文台</a:t>
            </a:r>
          </a:p>
        </p:txBody>
      </p:sp>
      <p:sp>
        <p:nvSpPr>
          <p:cNvPr id="11" name="Rectangle 10"/>
          <p:cNvSpPr/>
          <p:nvPr/>
        </p:nvSpPr>
        <p:spPr>
          <a:xfrm>
            <a:off x="7680960" y="4114800"/>
            <a:ext cx="3840480" cy="1069848"/>
          </a:xfrm>
          <a:prstGeom prst="rect">
            <a:avLst/>
          </a:prstGeom>
          <a:solidFill>
            <a:srgbClr val="ECF6F6"/>
          </a:solidFill>
          <a:ln w="12700">
            <a:solidFill>
              <a:srgbClr val="00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45552" y="4224528"/>
            <a:ext cx="3511296" cy="850392"/>
          </a:xfrm>
          <a:prstGeom prst="rect">
            <a:avLst/>
          </a:prstGeom>
          <a:noFill/>
        </p:spPr>
        <p:txBody>
          <a:bodyPr wrap="square" lIns="0" rIns="0" tIns="0" bIns="0">
            <a:spAutoFit/>
          </a:bodyPr>
          <a:lstStyle/>
          <a:p>
            <a:pPr algn="l">
              <a:lnSpc>
                <a:spcPct val="115000"/>
              </a:lnSpc>
              <a:spcBef>
                <a:spcPts val="0"/>
              </a:spcBef>
              <a:spcAft>
                <a:spcPts val="0"/>
              </a:spcAft>
            </a:pPr>
            <a:r>
              <a:rPr sz="1200" b="0">
                <a:solidFill>
                  <a:srgbClr val="0B4C4C"/>
                </a:solidFill>
                <a:latin typeface="Meiryo"/>
              </a:rPr>
              <a:t>両表とも geom + embedding を持つため、被害情報も警報情報も「時空間でも意味でも」検索できる</a:t>
            </a:r>
          </a:p>
        </p:txBody>
      </p:sp>
      <p:sp>
        <p:nvSpPr>
          <p:cNvPr id="13" name="Rectangle 12"/>
          <p:cNvSpPr/>
          <p:nvPr/>
        </p:nvSpPr>
        <p:spPr>
          <a:xfrm>
            <a:off x="685800" y="5321808"/>
            <a:ext cx="10789920" cy="841248"/>
          </a:xfrm>
          <a:prstGeom prst="rect">
            <a:avLst/>
          </a:prstGeom>
          <a:solidFill>
            <a:srgbClr val="ECF6F6"/>
          </a:solidFill>
          <a:ln w="12700">
            <a:solidFill>
              <a:srgbClr val="00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0392" y="5431536"/>
            <a:ext cx="10460736" cy="621792"/>
          </a:xfrm>
          <a:prstGeom prst="rect">
            <a:avLst/>
          </a:prstGeom>
          <a:noFill/>
        </p:spPr>
        <p:txBody>
          <a:bodyPr wrap="square" lIns="0" rIns="0" tIns="0" bIns="0">
            <a:spAutoFit/>
          </a:bodyPr>
          <a:lstStyle/>
          <a:p>
            <a:pPr algn="l">
              <a:lnSpc>
                <a:spcPct val="115000"/>
              </a:lnSpc>
              <a:spcBef>
                <a:spcPts val="0"/>
              </a:spcBef>
              <a:spcAft>
                <a:spcPts val="0"/>
              </a:spcAft>
            </a:pPr>
            <a:r>
              <a:rPr sz="1200" b="0">
                <a:solidFill>
                  <a:srgbClr val="0B4C4C"/>
                </a:solidFill>
                <a:latin typeface="Meiryo"/>
              </a:rPr>
              <a:t>情報を台風へ紐付ける三段階マッチング (load.py)   ① intl_id 一致  →  ② 台風名一致  →  ③ 時空間近傍
同一機関が両層を供給することもある。例: GDACS の「事件」は受灾情報、「報道ページ」は公共情報として扱う。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4. トリガ ① 空間整合性 — fn_sync_geom()</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緯度経度だけを書いても PostGIS ジオメトリが必ず埋まる</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8</a:t>
            </a:r>
          </a:p>
        </p:txBody>
      </p:sp>
      <p:sp>
        <p:nvSpPr>
          <p:cNvPr id="7" name="Rectangle 6"/>
          <p:cNvSpPr/>
          <p:nvPr/>
        </p:nvSpPr>
        <p:spPr>
          <a:xfrm>
            <a:off x="685800" y="1207008"/>
            <a:ext cx="690372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トリガ関数 + トリガ定義</a:t>
            </a:r>
          </a:p>
        </p:txBody>
      </p:sp>
      <p:sp>
        <p:nvSpPr>
          <p:cNvPr id="8" name="Rectangle 7"/>
          <p:cNvSpPr/>
          <p:nvPr/>
        </p:nvSpPr>
        <p:spPr>
          <a:xfrm>
            <a:off x="685800" y="1481328"/>
            <a:ext cx="6903720" cy="416052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647688" cy="3977639"/>
          </a:xfrm>
          <a:prstGeom prst="rect">
            <a:avLst/>
          </a:prstGeom>
          <a:noFill/>
        </p:spPr>
        <p:txBody>
          <a:bodyPr wrap="none" lIns="0" rIns="0" tIns="0" bIns="0">
            <a:spAutoFit/>
          </a:bodyPr>
          <a:lstStyle/>
          <a:p>
            <a:pPr algn="l">
              <a:lnSpc>
                <a:spcPct val="106000"/>
              </a:lnSpc>
              <a:spcBef>
                <a:spcPts val="0"/>
              </a:spcBef>
              <a:spcAft>
                <a:spcPts val="0"/>
              </a:spcAft>
            </a:pPr>
            <a:r>
              <a:rPr sz="1050" b="0">
                <a:solidFill>
                  <a:srgbClr val="182A3E"/>
                </a:solidFill>
                <a:latin typeface="Consolas"/>
              </a:rPr>
              <a:t>CREATE OR REPLACE FUNCTION fn_sync_geom() RETURNS trigger AS $$</a:t>
            </a:r>
          </a:p>
          <a:p>
            <a:pPr algn="l">
              <a:lnSpc>
                <a:spcPct val="106000"/>
              </a:lnSpc>
              <a:spcBef>
                <a:spcPts val="0"/>
              </a:spcBef>
              <a:spcAft>
                <a:spcPts val="0"/>
              </a:spcAft>
            </a:pPr>
            <a:r>
              <a:rPr sz="1050" b="0">
                <a:solidFill>
                  <a:srgbClr val="182A3E"/>
                </a:solidFill>
                <a:latin typeface="Consolas"/>
              </a:rPr>
              <a:t>BEGIN</a:t>
            </a:r>
          </a:p>
          <a:p>
            <a:pPr algn="l">
              <a:lnSpc>
                <a:spcPct val="106000"/>
              </a:lnSpc>
              <a:spcBef>
                <a:spcPts val="0"/>
              </a:spcBef>
              <a:spcAft>
                <a:spcPts val="0"/>
              </a:spcAft>
            </a:pPr>
            <a:r>
              <a:rPr sz="1050" b="0">
                <a:solidFill>
                  <a:srgbClr val="6E8A5E"/>
                </a:solidFill>
                <a:latin typeface="Consolas"/>
              </a:rPr>
              <a:t>    -- lon/lat が揃い、geom が未設定 or 座標がずれている時だけ作り直す</a:t>
            </a:r>
          </a:p>
          <a:p>
            <a:pPr algn="l">
              <a:lnSpc>
                <a:spcPct val="106000"/>
              </a:lnSpc>
              <a:spcBef>
                <a:spcPts val="0"/>
              </a:spcBef>
              <a:spcAft>
                <a:spcPts val="0"/>
              </a:spcAft>
            </a:pPr>
            <a:r>
              <a:rPr sz="1050" b="0">
                <a:solidFill>
                  <a:srgbClr val="182A3E"/>
                </a:solidFill>
                <a:latin typeface="Consolas"/>
              </a:rPr>
              <a:t>    IF NEW.lon IS NOT NULL AND NEW.lat IS NOT NULL THEN</a:t>
            </a:r>
          </a:p>
          <a:p>
            <a:pPr algn="l">
              <a:lnSpc>
                <a:spcPct val="106000"/>
              </a:lnSpc>
              <a:spcBef>
                <a:spcPts val="0"/>
              </a:spcBef>
              <a:spcAft>
                <a:spcPts val="0"/>
              </a:spcAft>
            </a:pPr>
            <a:r>
              <a:rPr sz="1050" b="0">
                <a:solidFill>
                  <a:srgbClr val="182A3E"/>
                </a:solidFill>
                <a:latin typeface="Consolas"/>
              </a:rPr>
              <a:t>        IF NEW.geom IS NULL</a:t>
            </a:r>
          </a:p>
          <a:p>
            <a:pPr algn="l">
              <a:lnSpc>
                <a:spcPct val="106000"/>
              </a:lnSpc>
              <a:spcBef>
                <a:spcPts val="0"/>
              </a:spcBef>
              <a:spcAft>
                <a:spcPts val="0"/>
              </a:spcAft>
            </a:pPr>
            <a:r>
              <a:rPr sz="1050" b="0">
                <a:solidFill>
                  <a:srgbClr val="182A3E"/>
                </a:solidFill>
                <a:latin typeface="Consolas"/>
              </a:rPr>
              <a:t>           OR ST_X(NEW.geom) IS DISTINCT FROM NEW.lon</a:t>
            </a:r>
          </a:p>
          <a:p>
            <a:pPr algn="l">
              <a:lnSpc>
                <a:spcPct val="106000"/>
              </a:lnSpc>
              <a:spcBef>
                <a:spcPts val="0"/>
              </a:spcBef>
              <a:spcAft>
                <a:spcPts val="0"/>
              </a:spcAft>
            </a:pPr>
            <a:r>
              <a:rPr sz="1050" b="0">
                <a:solidFill>
                  <a:srgbClr val="182A3E"/>
                </a:solidFill>
                <a:latin typeface="Consolas"/>
              </a:rPr>
              <a:t>           OR ST_Y(NEW.geom) IS DISTINCT FROM NEW.lat THEN</a:t>
            </a:r>
          </a:p>
          <a:p>
            <a:pPr algn="l">
              <a:lnSpc>
                <a:spcPct val="106000"/>
              </a:lnSpc>
              <a:spcBef>
                <a:spcPts val="0"/>
              </a:spcBef>
              <a:spcAft>
                <a:spcPts val="0"/>
              </a:spcAft>
            </a:pPr>
            <a:r>
              <a:rPr sz="1050" b="0">
                <a:solidFill>
                  <a:srgbClr val="182A3E"/>
                </a:solidFill>
                <a:latin typeface="Consolas"/>
              </a:rPr>
              <a:t>            NEW.geom := ST_SetSRID(</a:t>
            </a:r>
          </a:p>
          <a:p>
            <a:pPr algn="l">
              <a:lnSpc>
                <a:spcPct val="106000"/>
              </a:lnSpc>
              <a:spcBef>
                <a:spcPts val="0"/>
              </a:spcBef>
              <a:spcAft>
                <a:spcPts val="0"/>
              </a:spcAft>
            </a:pPr>
            <a:r>
              <a:rPr sz="1050" b="0">
                <a:solidFill>
                  <a:srgbClr val="182A3E"/>
                </a:solidFill>
                <a:latin typeface="Consolas"/>
              </a:rPr>
              <a:t>                            ST_MakePoint(NEW.lon, NEW.lat), 4326);</a:t>
            </a:r>
          </a:p>
          <a:p>
            <a:pPr algn="l">
              <a:lnSpc>
                <a:spcPct val="106000"/>
              </a:lnSpc>
              <a:spcBef>
                <a:spcPts val="0"/>
              </a:spcBef>
              <a:spcAft>
                <a:spcPts val="0"/>
              </a:spcAft>
            </a:pPr>
            <a:r>
              <a:rPr sz="1050" b="0">
                <a:solidFill>
                  <a:srgbClr val="182A3E"/>
                </a:solidFill>
                <a:latin typeface="Consolas"/>
              </a:rPr>
              <a:t>        END IF;</a:t>
            </a:r>
          </a:p>
          <a:p>
            <a:pPr algn="l">
              <a:lnSpc>
                <a:spcPct val="106000"/>
              </a:lnSpc>
              <a:spcBef>
                <a:spcPts val="0"/>
              </a:spcBef>
              <a:spcAft>
                <a:spcPts val="0"/>
              </a:spcAft>
            </a:pPr>
            <a:r>
              <a:rPr sz="1050" b="0">
                <a:solidFill>
                  <a:srgbClr val="182A3E"/>
                </a:solidFill>
                <a:latin typeface="Consolas"/>
              </a:rPr>
              <a:t>    END IF;</a:t>
            </a:r>
          </a:p>
          <a:p>
            <a:pPr algn="l">
              <a:lnSpc>
                <a:spcPct val="106000"/>
              </a:lnSpc>
              <a:spcBef>
                <a:spcPts val="0"/>
              </a:spcBef>
              <a:spcAft>
                <a:spcPts val="0"/>
              </a:spcAft>
            </a:pPr>
            <a:r>
              <a:rPr sz="1050" b="0">
                <a:solidFill>
                  <a:srgbClr val="182A3E"/>
                </a:solidFill>
                <a:latin typeface="Consolas"/>
              </a:rPr>
              <a:t>    RETURN NEW;</a:t>
            </a:r>
          </a:p>
          <a:p>
            <a:pPr algn="l">
              <a:lnSpc>
                <a:spcPct val="106000"/>
              </a:lnSpc>
              <a:spcBef>
                <a:spcPts val="0"/>
              </a:spcBef>
              <a:spcAft>
                <a:spcPts val="0"/>
              </a:spcAft>
            </a:pPr>
            <a:r>
              <a:rPr sz="1050" b="0">
                <a:solidFill>
                  <a:srgbClr val="182A3E"/>
                </a:solidFill>
                <a:latin typeface="Consolas"/>
              </a:rPr>
              <a:t>END;</a:t>
            </a:r>
          </a:p>
          <a:p>
            <a:pPr algn="l">
              <a:lnSpc>
                <a:spcPct val="106000"/>
              </a:lnSpc>
              <a:spcBef>
                <a:spcPts val="0"/>
              </a:spcBef>
              <a:spcAft>
                <a:spcPts val="0"/>
              </a:spcAft>
            </a:pPr>
            <a:r>
              <a:rPr sz="1050" b="0">
                <a:solidFill>
                  <a:srgbClr val="182A3E"/>
                </a:solidFill>
                <a:latin typeface="Consolas"/>
              </a:rPr>
              <a:t>$$ LANGUAGE plpgsql;</a:t>
            </a:r>
          </a:p>
          <a:p>
            <a:pPr algn="l">
              <a:lnSpc>
                <a:spcPct val="106000"/>
              </a:lnSpc>
              <a:spcBef>
                <a:spcPts val="0"/>
              </a:spcBef>
              <a:spcAft>
                <a:spcPts val="0"/>
              </a:spcAft>
            </a:pPr>
            <a:r>
              <a:rPr sz="1050" b="0">
                <a:solidFill>
                  <a:srgbClr val="182A3E"/>
                </a:solidFill>
                <a:latin typeface="Consolas"/>
              </a:rPr>
              <a:t> </a:t>
            </a:r>
          </a:p>
          <a:p>
            <a:pPr algn="l">
              <a:lnSpc>
                <a:spcPct val="106000"/>
              </a:lnSpc>
              <a:spcBef>
                <a:spcPts val="0"/>
              </a:spcBef>
              <a:spcAft>
                <a:spcPts val="0"/>
              </a:spcAft>
            </a:pPr>
            <a:r>
              <a:rPr sz="1050" b="0">
                <a:solidFill>
                  <a:srgbClr val="6E8A5E"/>
                </a:solidFill>
                <a:latin typeface="Consolas"/>
              </a:rPr>
              <a:t>-- 同一関数を 4 つの点テーブルで再利用する (多態トリガ)</a:t>
            </a:r>
          </a:p>
          <a:p>
            <a:pPr algn="l">
              <a:lnSpc>
                <a:spcPct val="106000"/>
              </a:lnSpc>
              <a:spcBef>
                <a:spcPts val="0"/>
              </a:spcBef>
              <a:spcAft>
                <a:spcPts val="0"/>
              </a:spcAft>
            </a:pPr>
            <a:r>
              <a:rPr sz="1050" b="0">
                <a:solidFill>
                  <a:srgbClr val="182A3E"/>
                </a:solidFill>
                <a:latin typeface="Consolas"/>
              </a:rPr>
              <a:t>CREATE TRIGGER trg_track_point_geom</a:t>
            </a:r>
          </a:p>
          <a:p>
            <a:pPr algn="l">
              <a:lnSpc>
                <a:spcPct val="106000"/>
              </a:lnSpc>
              <a:spcBef>
                <a:spcPts val="0"/>
              </a:spcBef>
              <a:spcAft>
                <a:spcPts val="0"/>
              </a:spcAft>
            </a:pPr>
            <a:r>
              <a:rPr sz="1050" b="0">
                <a:solidFill>
                  <a:srgbClr val="182A3E"/>
                </a:solidFill>
                <a:latin typeface="Consolas"/>
              </a:rPr>
              <a:t>    BEFORE INSERT OR UPDATE OF lon, lat ON track_point</a:t>
            </a:r>
          </a:p>
          <a:p>
            <a:pPr algn="l">
              <a:lnSpc>
                <a:spcPct val="106000"/>
              </a:lnSpc>
              <a:spcBef>
                <a:spcPts val="0"/>
              </a:spcBef>
              <a:spcAft>
                <a:spcPts val="0"/>
              </a:spcAft>
            </a:pPr>
            <a:r>
              <a:rPr sz="1050" b="0">
                <a:solidFill>
                  <a:srgbClr val="182A3E"/>
                </a:solidFill>
                <a:latin typeface="Consolas"/>
              </a:rPr>
              <a:t>    FOR EACH ROW EXECUTE FUNCTION fn_sync_geom();</a:t>
            </a:r>
          </a:p>
          <a:p>
            <a:pPr algn="l">
              <a:lnSpc>
                <a:spcPct val="106000"/>
              </a:lnSpc>
              <a:spcBef>
                <a:spcPts val="0"/>
              </a:spcBef>
              <a:spcAft>
                <a:spcPts val="0"/>
              </a:spcAft>
            </a:pPr>
            <a:r>
              <a:rPr sz="1050" b="0">
                <a:solidFill>
                  <a:srgbClr val="182A3E"/>
                </a:solidFill>
                <a:latin typeface="Consolas"/>
              </a:rPr>
              <a:t> </a:t>
            </a:r>
          </a:p>
          <a:p>
            <a:pPr algn="l">
              <a:lnSpc>
                <a:spcPct val="106000"/>
              </a:lnSpc>
              <a:spcBef>
                <a:spcPts val="0"/>
              </a:spcBef>
              <a:spcAft>
                <a:spcPts val="0"/>
              </a:spcAft>
            </a:pPr>
            <a:r>
              <a:rPr sz="1050" b="0">
                <a:solidFill>
                  <a:srgbClr val="182A3E"/>
                </a:solidFill>
                <a:latin typeface="Consolas"/>
              </a:rPr>
              <a:t>CREATE TRIGGER trg_secondary_disaster_geom   -- 同様に public_info,</a:t>
            </a:r>
          </a:p>
          <a:p>
            <a:pPr algn="l">
              <a:lnSpc>
                <a:spcPct val="106000"/>
              </a:lnSpc>
              <a:spcBef>
                <a:spcPts val="0"/>
              </a:spcBef>
              <a:spcAft>
                <a:spcPts val="0"/>
              </a:spcAft>
            </a:pPr>
            <a:r>
              <a:rPr sz="1050" b="0">
                <a:solidFill>
                  <a:srgbClr val="182A3E"/>
                </a:solidFill>
                <a:latin typeface="Consolas"/>
              </a:rPr>
              <a:t>    BEFORE INSERT OR UPDATE OF lon, lat ON secondary_disaster</a:t>
            </a:r>
          </a:p>
          <a:p>
            <a:pPr algn="l">
              <a:lnSpc>
                <a:spcPct val="106000"/>
              </a:lnSpc>
              <a:spcBef>
                <a:spcPts val="0"/>
              </a:spcBef>
              <a:spcAft>
                <a:spcPts val="0"/>
              </a:spcAft>
            </a:pPr>
            <a:r>
              <a:rPr sz="1050" b="0">
                <a:solidFill>
                  <a:srgbClr val="182A3E"/>
                </a:solidFill>
                <a:latin typeface="Consolas"/>
              </a:rPr>
              <a:t>    FOR EACH ROW EXECUTE FUNCTION fn_sync_geom();   -- landfall にも</a:t>
            </a:r>
          </a:p>
        </p:txBody>
      </p:sp>
      <p:sp>
        <p:nvSpPr>
          <p:cNvPr id="10" name="TextBox 9"/>
          <p:cNvSpPr txBox="1"/>
          <p:nvPr/>
        </p:nvSpPr>
        <p:spPr>
          <a:xfrm>
            <a:off x="7818120" y="1280160"/>
            <a:ext cx="3749039" cy="2743200"/>
          </a:xfrm>
          <a:prstGeom prst="rect">
            <a:avLst/>
          </a:prstGeom>
          <a:noFill/>
        </p:spPr>
        <p:txBody>
          <a:bodyPr wrap="square" lIns="0" rIns="0" tIns="0" bIns="0">
            <a:spAutoFit/>
          </a:bodyPr>
          <a:lstStyle/>
          <a:p>
            <a:pPr algn="l">
              <a:spcBef>
                <a:spcPts val="0"/>
              </a:spcBef>
              <a:spcAft>
                <a:spcPts val="1000"/>
              </a:spcAft>
            </a:pPr>
            <a:r>
              <a:rPr sz="1500" b="1">
                <a:solidFill>
                  <a:srgbClr val="1F5C99"/>
                </a:solidFill>
                <a:latin typeface="Meiryo"/>
              </a:rPr>
              <a:t>なぜ必要か</a:t>
            </a:r>
          </a:p>
          <a:p>
            <a:pPr algn="l">
              <a:lnSpc>
                <a:spcPct val="120000"/>
              </a:lnSpc>
              <a:spcBef>
                <a:spcPts val="0"/>
              </a:spcBef>
              <a:spcAft>
                <a:spcPts val="1000"/>
              </a:spcAft>
            </a:pPr>
            <a:r>
              <a:rPr sz="1100" b="0">
                <a:solidFill>
                  <a:srgbClr val="5A6677"/>
                </a:solidFill>
                <a:latin typeface="Meiryo"/>
              </a:rPr>
              <a:t>geom はすべての空間演算 (ST_Intersects / ST_Contains / GiST 索引) の入口。ここが 1 行でも欠けると、その台風は空間検索から静かに消える。</a:t>
            </a:r>
          </a:p>
          <a:p>
            <a:pPr algn="l">
              <a:lnSpc>
                <a:spcPct val="120000"/>
              </a:lnSpc>
              <a:spcBef>
                <a:spcPts val="0"/>
              </a:spcBef>
              <a:spcAft>
                <a:spcPts val="0"/>
              </a:spcAft>
            </a:pPr>
            <a:r>
              <a:rPr sz="1100" b="0">
                <a:solidFill>
                  <a:srgbClr val="5A6677"/>
                </a:solidFill>
                <a:latin typeface="Meiryo"/>
              </a:rPr>
              <a:t>アプリの書き込み漏れ・Navicat からの手入力・外部 SQL 投入 — どの経路から書かれても、DB が最後の砦として不変条件を守る。</a:t>
            </a:r>
          </a:p>
        </p:txBody>
      </p:sp>
      <p:sp>
        <p:nvSpPr>
          <p:cNvPr id="11" name="Rectangle 10"/>
          <p:cNvSpPr/>
          <p:nvPr/>
        </p:nvSpPr>
        <p:spPr>
          <a:xfrm>
            <a:off x="7818120" y="4041648"/>
            <a:ext cx="3749039"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検証</a:t>
            </a:r>
          </a:p>
        </p:txBody>
      </p:sp>
      <p:sp>
        <p:nvSpPr>
          <p:cNvPr id="12" name="Rectangle 11"/>
          <p:cNvSpPr/>
          <p:nvPr/>
        </p:nvSpPr>
        <p:spPr>
          <a:xfrm>
            <a:off x="7818120" y="4315968"/>
            <a:ext cx="3749039" cy="1536192"/>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46136" y="4407407"/>
            <a:ext cx="3493007" cy="1353312"/>
          </a:xfrm>
          <a:prstGeom prst="rect">
            <a:avLst/>
          </a:prstGeom>
          <a:noFill/>
        </p:spPr>
        <p:txBody>
          <a:bodyPr wrap="none" lIns="0" rIns="0" tIns="0" bIns="0">
            <a:spAutoFit/>
          </a:bodyPr>
          <a:lstStyle/>
          <a:p>
            <a:pPr algn="l">
              <a:lnSpc>
                <a:spcPct val="106000"/>
              </a:lnSpc>
              <a:spcBef>
                <a:spcPts val="0"/>
              </a:spcBef>
              <a:spcAft>
                <a:spcPts val="0"/>
              </a:spcAft>
            </a:pPr>
            <a:r>
              <a:rPr sz="1000" b="0">
                <a:solidFill>
                  <a:srgbClr val="6E8A5E"/>
                </a:solidFill>
                <a:latin typeface="Consolas"/>
              </a:rPr>
              <a:t>-- 動作確認 (実行済)</a:t>
            </a:r>
          </a:p>
          <a:p>
            <a:pPr algn="l">
              <a:lnSpc>
                <a:spcPct val="106000"/>
              </a:lnSpc>
              <a:spcBef>
                <a:spcPts val="0"/>
              </a:spcBef>
              <a:spcAft>
                <a:spcPts val="0"/>
              </a:spcAft>
            </a:pPr>
            <a:r>
              <a:rPr sz="1000" b="0">
                <a:solidFill>
                  <a:srgbClr val="182A3E"/>
                </a:solidFill>
                <a:latin typeface="Consolas"/>
              </a:rPr>
              <a:t>INSERT INTO track_point</a:t>
            </a:r>
          </a:p>
          <a:p>
            <a:pPr algn="l">
              <a:lnSpc>
                <a:spcPct val="106000"/>
              </a:lnSpc>
              <a:spcBef>
                <a:spcPts val="0"/>
              </a:spcBef>
              <a:spcAft>
                <a:spcPts val="0"/>
              </a:spcAft>
            </a:pPr>
            <a:r>
              <a:rPr sz="1000" b="0">
                <a:solidFill>
                  <a:srgbClr val="182A3E"/>
                </a:solidFill>
                <a:latin typeface="Consolas"/>
              </a:rPr>
              <a:t>  (typhoon_id, obs_time,</a:t>
            </a:r>
          </a:p>
          <a:p>
            <a:pPr algn="l">
              <a:lnSpc>
                <a:spcPct val="106000"/>
              </a:lnSpc>
              <a:spcBef>
                <a:spcPts val="0"/>
              </a:spcBef>
              <a:spcAft>
                <a:spcPts val="0"/>
              </a:spcAft>
            </a:pPr>
            <a:r>
              <a:rPr sz="1000" b="0">
                <a:solidFill>
                  <a:srgbClr val="182A3E"/>
                </a:solidFill>
                <a:latin typeface="Consolas"/>
              </a:rPr>
              <a:t>   lat, lon, wind_kt)</a:t>
            </a:r>
          </a:p>
          <a:p>
            <a:pPr algn="l">
              <a:lnSpc>
                <a:spcPct val="106000"/>
              </a:lnSpc>
              <a:spcBef>
                <a:spcPts val="0"/>
              </a:spcBef>
              <a:spcAft>
                <a:spcPts val="0"/>
              </a:spcAft>
            </a:pPr>
            <a:r>
              <a:rPr sz="1000" b="0">
                <a:solidFill>
                  <a:srgbClr val="182A3E"/>
                </a:solidFill>
                <a:latin typeface="Consolas"/>
              </a:rPr>
              <a:t>VALUES (84, '2099-01-01',</a:t>
            </a:r>
          </a:p>
          <a:p>
            <a:pPr algn="l">
              <a:lnSpc>
                <a:spcPct val="106000"/>
              </a:lnSpc>
              <a:spcBef>
                <a:spcPts val="0"/>
              </a:spcBef>
              <a:spcAft>
                <a:spcPts val="0"/>
              </a:spcAft>
            </a:pPr>
            <a:r>
              <a:rPr sz="1000" b="0">
                <a:solidFill>
                  <a:srgbClr val="182A3E"/>
                </a:solidFill>
                <a:latin typeface="Consolas"/>
              </a:rPr>
              <a:t>        25.5, 128.25, 999);</a:t>
            </a:r>
          </a:p>
          <a:p>
            <a:pPr algn="l">
              <a:lnSpc>
                <a:spcPct val="106000"/>
              </a:lnSpc>
              <a:spcBef>
                <a:spcPts val="0"/>
              </a:spcBef>
              <a:spcAft>
                <a:spcPts val="0"/>
              </a:spcAft>
            </a:pPr>
            <a:r>
              <a:rPr sz="1000" b="0">
                <a:solidFill>
                  <a:srgbClr val="182A3E"/>
                </a:solidFill>
                <a:latin typeface="Consolas"/>
              </a:rPr>
              <a:t> </a:t>
            </a:r>
          </a:p>
          <a:p>
            <a:pPr algn="l">
              <a:lnSpc>
                <a:spcPct val="106000"/>
              </a:lnSpc>
              <a:spcBef>
                <a:spcPts val="0"/>
              </a:spcBef>
              <a:spcAft>
                <a:spcPts val="0"/>
              </a:spcAft>
            </a:pPr>
            <a:r>
              <a:rPr sz="1000" b="0">
                <a:solidFill>
                  <a:srgbClr val="D1661E"/>
                </a:solidFill>
                <a:latin typeface="Consolas"/>
              </a:rPr>
              <a:t>=&gt; geom = POINT(128.25 25.5)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4. トリガ ② 集約ロールアップ — fn_rollup_typhoon_intensity()</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経路点を入れるだけで親台風のサマリ属性が追随する</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9</a:t>
            </a:r>
          </a:p>
        </p:txBody>
      </p:sp>
      <p:sp>
        <p:nvSpPr>
          <p:cNvPr id="7" name="Rectangle 6"/>
          <p:cNvSpPr/>
          <p:nvPr/>
        </p:nvSpPr>
        <p:spPr>
          <a:xfrm>
            <a:off x="685800" y="1207008"/>
            <a:ext cx="690372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トリガ関数 + トリガ定義</a:t>
            </a:r>
          </a:p>
        </p:txBody>
      </p:sp>
      <p:sp>
        <p:nvSpPr>
          <p:cNvPr id="8" name="Rectangle 7"/>
          <p:cNvSpPr/>
          <p:nvPr/>
        </p:nvSpPr>
        <p:spPr>
          <a:xfrm>
            <a:off x="685800" y="1481328"/>
            <a:ext cx="6903720" cy="448056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647688" cy="4297680"/>
          </a:xfrm>
          <a:prstGeom prst="rect">
            <a:avLst/>
          </a:prstGeom>
          <a:noFill/>
        </p:spPr>
        <p:txBody>
          <a:bodyPr wrap="none" lIns="0" rIns="0" tIns="0" bIns="0">
            <a:spAutoFit/>
          </a:bodyPr>
          <a:lstStyle/>
          <a:p>
            <a:pPr algn="l">
              <a:lnSpc>
                <a:spcPct val="106000"/>
              </a:lnSpc>
              <a:spcBef>
                <a:spcPts val="0"/>
              </a:spcBef>
              <a:spcAft>
                <a:spcPts val="0"/>
              </a:spcAft>
            </a:pPr>
            <a:r>
              <a:rPr sz="1050" b="0">
                <a:solidFill>
                  <a:srgbClr val="182A3E"/>
                </a:solidFill>
                <a:latin typeface="Consolas"/>
              </a:rPr>
              <a:t>CREATE OR REPLACE FUNCTION fn_rollup_typhoon_intensity()</a:t>
            </a:r>
          </a:p>
          <a:p>
            <a:pPr algn="l">
              <a:lnSpc>
                <a:spcPct val="106000"/>
              </a:lnSpc>
              <a:spcBef>
                <a:spcPts val="0"/>
              </a:spcBef>
              <a:spcAft>
                <a:spcPts val="0"/>
              </a:spcAft>
            </a:pPr>
            <a:r>
              <a:rPr sz="1050" b="0">
                <a:solidFill>
                  <a:srgbClr val="182A3E"/>
                </a:solidFill>
                <a:latin typeface="Consolas"/>
              </a:rPr>
              <a:t>RETURNS trigger AS $$</a:t>
            </a:r>
          </a:p>
          <a:p>
            <a:pPr algn="l">
              <a:lnSpc>
                <a:spcPct val="106000"/>
              </a:lnSpc>
              <a:spcBef>
                <a:spcPts val="0"/>
              </a:spcBef>
              <a:spcAft>
                <a:spcPts val="0"/>
              </a:spcAft>
            </a:pPr>
            <a:r>
              <a:rPr sz="1050" b="0">
                <a:solidFill>
                  <a:srgbClr val="182A3E"/>
                </a:solidFill>
                <a:latin typeface="Consolas"/>
              </a:rPr>
              <a:t>BEGIN</a:t>
            </a:r>
          </a:p>
          <a:p>
            <a:pPr algn="l">
              <a:lnSpc>
                <a:spcPct val="106000"/>
              </a:lnSpc>
              <a:spcBef>
                <a:spcPts val="0"/>
              </a:spcBef>
              <a:spcAft>
                <a:spcPts val="0"/>
              </a:spcAft>
            </a:pPr>
            <a:r>
              <a:rPr sz="1050" b="0">
                <a:solidFill>
                  <a:srgbClr val="182A3E"/>
                </a:solidFill>
                <a:latin typeface="Consolas"/>
              </a:rPr>
              <a:t>    UPDATE typhoon t</a:t>
            </a:r>
          </a:p>
          <a:p>
            <a:pPr algn="l">
              <a:lnSpc>
                <a:spcPct val="106000"/>
              </a:lnSpc>
              <a:spcBef>
                <a:spcPts val="0"/>
              </a:spcBef>
              <a:spcAft>
                <a:spcPts val="0"/>
              </a:spcAft>
            </a:pPr>
            <a:r>
              <a:rPr sz="1050" b="0">
                <a:solidFill>
                  <a:srgbClr val="182A3E"/>
                </a:solidFill>
                <a:latin typeface="Consolas"/>
              </a:rPr>
              <a:t>       SET max_wind_kt      = GREATEST(t.max_wind_kt,      s.max_wind),</a:t>
            </a:r>
          </a:p>
          <a:p>
            <a:pPr algn="l">
              <a:lnSpc>
                <a:spcPct val="106000"/>
              </a:lnSpc>
              <a:spcBef>
                <a:spcPts val="0"/>
              </a:spcBef>
              <a:spcAft>
                <a:spcPts val="0"/>
              </a:spcAft>
            </a:pPr>
            <a:r>
              <a:rPr sz="1050" b="0">
                <a:solidFill>
                  <a:srgbClr val="182A3E"/>
                </a:solidFill>
                <a:latin typeface="Consolas"/>
              </a:rPr>
              <a:t>           min_pressure_hpa = LEAST   (t.min_pressure_hpa, s.min_pres),</a:t>
            </a:r>
          </a:p>
          <a:p>
            <a:pPr algn="l">
              <a:lnSpc>
                <a:spcPct val="106000"/>
              </a:lnSpc>
              <a:spcBef>
                <a:spcPts val="0"/>
              </a:spcBef>
              <a:spcAft>
                <a:spcPts val="0"/>
              </a:spcAft>
            </a:pPr>
            <a:r>
              <a:rPr sz="1050" b="0">
                <a:solidFill>
                  <a:srgbClr val="182A3E"/>
                </a:solidFill>
                <a:latin typeface="Consolas"/>
              </a:rPr>
              <a:t>           start_time       = LEAST   (t.start_time,       s.min_time),</a:t>
            </a:r>
          </a:p>
          <a:p>
            <a:pPr algn="l">
              <a:lnSpc>
                <a:spcPct val="106000"/>
              </a:lnSpc>
              <a:spcBef>
                <a:spcPts val="0"/>
              </a:spcBef>
              <a:spcAft>
                <a:spcPts val="0"/>
              </a:spcAft>
            </a:pPr>
            <a:r>
              <a:rPr sz="1050" b="0">
                <a:solidFill>
                  <a:srgbClr val="182A3E"/>
                </a:solidFill>
                <a:latin typeface="Consolas"/>
              </a:rPr>
              <a:t>           end_time         = GREATEST(t.end_time,         s.max_time)</a:t>
            </a:r>
          </a:p>
          <a:p>
            <a:pPr algn="l">
              <a:lnSpc>
                <a:spcPct val="106000"/>
              </a:lnSpc>
              <a:spcBef>
                <a:spcPts val="0"/>
              </a:spcBef>
              <a:spcAft>
                <a:spcPts val="0"/>
              </a:spcAft>
            </a:pPr>
            <a:r>
              <a:rPr sz="1050" b="0">
                <a:solidFill>
                  <a:srgbClr val="182A3E"/>
                </a:solidFill>
                <a:latin typeface="Consolas"/>
              </a:rPr>
              <a:t>      FROM (SELECT typhoon_id,</a:t>
            </a:r>
          </a:p>
          <a:p>
            <a:pPr algn="l">
              <a:lnSpc>
                <a:spcPct val="106000"/>
              </a:lnSpc>
              <a:spcBef>
                <a:spcPts val="0"/>
              </a:spcBef>
              <a:spcAft>
                <a:spcPts val="0"/>
              </a:spcAft>
            </a:pPr>
            <a:r>
              <a:rPr sz="1050" b="0">
                <a:solidFill>
                  <a:srgbClr val="182A3E"/>
                </a:solidFill>
                <a:latin typeface="Consolas"/>
              </a:rPr>
              <a:t>                   MAX(wind_kt)      AS max_wind,</a:t>
            </a:r>
          </a:p>
          <a:p>
            <a:pPr algn="l">
              <a:lnSpc>
                <a:spcPct val="106000"/>
              </a:lnSpc>
              <a:spcBef>
                <a:spcPts val="0"/>
              </a:spcBef>
              <a:spcAft>
                <a:spcPts val="0"/>
              </a:spcAft>
            </a:pPr>
            <a:r>
              <a:rPr sz="1050" b="0">
                <a:solidFill>
                  <a:srgbClr val="182A3E"/>
                </a:solidFill>
                <a:latin typeface="Consolas"/>
              </a:rPr>
              <a:t>                   MIN(pressure_hpa) AS min_pres,</a:t>
            </a:r>
          </a:p>
          <a:p>
            <a:pPr algn="l">
              <a:lnSpc>
                <a:spcPct val="106000"/>
              </a:lnSpc>
              <a:spcBef>
                <a:spcPts val="0"/>
              </a:spcBef>
              <a:spcAft>
                <a:spcPts val="0"/>
              </a:spcAft>
            </a:pPr>
            <a:r>
              <a:rPr sz="1050" b="0">
                <a:solidFill>
                  <a:srgbClr val="182A3E"/>
                </a:solidFill>
                <a:latin typeface="Consolas"/>
              </a:rPr>
              <a:t>                   MIN(obs_time)     AS min_time,</a:t>
            </a:r>
          </a:p>
          <a:p>
            <a:pPr algn="l">
              <a:lnSpc>
                <a:spcPct val="106000"/>
              </a:lnSpc>
              <a:spcBef>
                <a:spcPts val="0"/>
              </a:spcBef>
              <a:spcAft>
                <a:spcPts val="0"/>
              </a:spcAft>
            </a:pPr>
            <a:r>
              <a:rPr sz="1050" b="0">
                <a:solidFill>
                  <a:srgbClr val="182A3E"/>
                </a:solidFill>
                <a:latin typeface="Consolas"/>
              </a:rPr>
              <a:t>                   MAX(obs_time)     AS max_time</a:t>
            </a:r>
          </a:p>
          <a:p>
            <a:pPr algn="l">
              <a:lnSpc>
                <a:spcPct val="106000"/>
              </a:lnSpc>
              <a:spcBef>
                <a:spcPts val="0"/>
              </a:spcBef>
              <a:spcAft>
                <a:spcPts val="0"/>
              </a:spcAft>
            </a:pPr>
            <a:r>
              <a:rPr sz="1050" b="0">
                <a:solidFill>
                  <a:srgbClr val="182A3E"/>
                </a:solidFill>
                <a:latin typeface="Consolas"/>
              </a:rPr>
              <a:t>              FROM new_points            -- ▼ 遷移テーブル</a:t>
            </a:r>
          </a:p>
          <a:p>
            <a:pPr algn="l">
              <a:lnSpc>
                <a:spcPct val="106000"/>
              </a:lnSpc>
              <a:spcBef>
                <a:spcPts val="0"/>
              </a:spcBef>
              <a:spcAft>
                <a:spcPts val="0"/>
              </a:spcAft>
            </a:pPr>
            <a:r>
              <a:rPr sz="1050" b="0">
                <a:solidFill>
                  <a:srgbClr val="182A3E"/>
                </a:solidFill>
                <a:latin typeface="Consolas"/>
              </a:rPr>
              <a:t>             GROUP BY typhoon_id) s</a:t>
            </a:r>
          </a:p>
          <a:p>
            <a:pPr algn="l">
              <a:lnSpc>
                <a:spcPct val="106000"/>
              </a:lnSpc>
              <a:spcBef>
                <a:spcPts val="0"/>
              </a:spcBef>
              <a:spcAft>
                <a:spcPts val="0"/>
              </a:spcAft>
            </a:pPr>
            <a:r>
              <a:rPr sz="1050" b="0">
                <a:solidFill>
                  <a:srgbClr val="182A3E"/>
                </a:solidFill>
                <a:latin typeface="Consolas"/>
              </a:rPr>
              <a:t>     WHERE t.id = s.typhoon_id;</a:t>
            </a:r>
          </a:p>
          <a:p>
            <a:pPr algn="l">
              <a:lnSpc>
                <a:spcPct val="106000"/>
              </a:lnSpc>
              <a:spcBef>
                <a:spcPts val="0"/>
              </a:spcBef>
              <a:spcAft>
                <a:spcPts val="0"/>
              </a:spcAft>
            </a:pPr>
            <a:r>
              <a:rPr sz="1050" b="0">
                <a:solidFill>
                  <a:srgbClr val="182A3E"/>
                </a:solidFill>
                <a:latin typeface="Consolas"/>
              </a:rPr>
              <a:t>    RETURN NULL;</a:t>
            </a:r>
          </a:p>
          <a:p>
            <a:pPr algn="l">
              <a:lnSpc>
                <a:spcPct val="106000"/>
              </a:lnSpc>
              <a:spcBef>
                <a:spcPts val="0"/>
              </a:spcBef>
              <a:spcAft>
                <a:spcPts val="0"/>
              </a:spcAft>
            </a:pPr>
            <a:r>
              <a:rPr sz="1050" b="0">
                <a:solidFill>
                  <a:srgbClr val="182A3E"/>
                </a:solidFill>
                <a:latin typeface="Consolas"/>
              </a:rPr>
              <a:t>END;</a:t>
            </a:r>
          </a:p>
          <a:p>
            <a:pPr algn="l">
              <a:lnSpc>
                <a:spcPct val="106000"/>
              </a:lnSpc>
              <a:spcBef>
                <a:spcPts val="0"/>
              </a:spcBef>
              <a:spcAft>
                <a:spcPts val="0"/>
              </a:spcAft>
            </a:pPr>
            <a:r>
              <a:rPr sz="1050" b="0">
                <a:solidFill>
                  <a:srgbClr val="182A3E"/>
                </a:solidFill>
                <a:latin typeface="Consolas"/>
              </a:rPr>
              <a:t>$$ LANGUAGE plpgsql;</a:t>
            </a:r>
          </a:p>
          <a:p>
            <a:pPr algn="l">
              <a:lnSpc>
                <a:spcPct val="106000"/>
              </a:lnSpc>
              <a:spcBef>
                <a:spcPts val="0"/>
              </a:spcBef>
              <a:spcAft>
                <a:spcPts val="0"/>
              </a:spcAft>
            </a:pPr>
            <a:r>
              <a:rPr sz="1050" b="0">
                <a:solidFill>
                  <a:srgbClr val="182A3E"/>
                </a:solidFill>
                <a:latin typeface="Consolas"/>
              </a:rPr>
              <a:t> </a:t>
            </a:r>
          </a:p>
          <a:p>
            <a:pPr algn="l">
              <a:lnSpc>
                <a:spcPct val="106000"/>
              </a:lnSpc>
              <a:spcBef>
                <a:spcPts val="0"/>
              </a:spcBef>
              <a:spcAft>
                <a:spcPts val="0"/>
              </a:spcAft>
            </a:pPr>
            <a:r>
              <a:rPr sz="1050" b="0">
                <a:solidFill>
                  <a:srgbClr val="182A3E"/>
                </a:solidFill>
                <a:latin typeface="Consolas"/>
              </a:rPr>
              <a:t>CREATE TRIGGER trg_track_point_rollup</a:t>
            </a:r>
          </a:p>
          <a:p>
            <a:pPr algn="l">
              <a:lnSpc>
                <a:spcPct val="106000"/>
              </a:lnSpc>
              <a:spcBef>
                <a:spcPts val="0"/>
              </a:spcBef>
              <a:spcAft>
                <a:spcPts val="0"/>
              </a:spcAft>
            </a:pPr>
            <a:r>
              <a:rPr sz="1050" b="0">
                <a:solidFill>
                  <a:srgbClr val="182A3E"/>
                </a:solidFill>
                <a:latin typeface="Consolas"/>
              </a:rPr>
              <a:t>    AFTER INSERT ON track_point</a:t>
            </a:r>
          </a:p>
          <a:p>
            <a:pPr algn="l">
              <a:lnSpc>
                <a:spcPct val="106000"/>
              </a:lnSpc>
              <a:spcBef>
                <a:spcPts val="0"/>
              </a:spcBef>
              <a:spcAft>
                <a:spcPts val="0"/>
              </a:spcAft>
            </a:pPr>
            <a:r>
              <a:rPr sz="1050" b="0">
                <a:solidFill>
                  <a:srgbClr val="182A3E"/>
                </a:solidFill>
                <a:latin typeface="Consolas"/>
              </a:rPr>
              <a:t>    REFERENCING NEW TABLE AS new_points   -- 遷移テーブルを受け取る</a:t>
            </a:r>
          </a:p>
          <a:p>
            <a:pPr algn="l">
              <a:lnSpc>
                <a:spcPct val="106000"/>
              </a:lnSpc>
              <a:spcBef>
                <a:spcPts val="0"/>
              </a:spcBef>
              <a:spcAft>
                <a:spcPts val="0"/>
              </a:spcAft>
            </a:pPr>
            <a:r>
              <a:rPr sz="1050" b="0">
                <a:solidFill>
                  <a:srgbClr val="182A3E"/>
                </a:solidFill>
                <a:latin typeface="Consolas"/>
              </a:rPr>
              <a:t>    FOR EACH STATEMENT                    -- 行単位ではなく文単位</a:t>
            </a:r>
          </a:p>
          <a:p>
            <a:pPr algn="l">
              <a:lnSpc>
                <a:spcPct val="106000"/>
              </a:lnSpc>
              <a:spcBef>
                <a:spcPts val="0"/>
              </a:spcBef>
              <a:spcAft>
                <a:spcPts val="0"/>
              </a:spcAft>
            </a:pPr>
            <a:r>
              <a:rPr sz="1050" b="0">
                <a:solidFill>
                  <a:srgbClr val="182A3E"/>
                </a:solidFill>
                <a:latin typeface="Consolas"/>
              </a:rPr>
              <a:t>    EXECUTE FUNCTION fn_rollup_typhoon_intensity();</a:t>
            </a:r>
          </a:p>
        </p:txBody>
      </p:sp>
      <p:sp>
        <p:nvSpPr>
          <p:cNvPr id="10" name="TextBox 9"/>
          <p:cNvSpPr txBox="1"/>
          <p:nvPr/>
        </p:nvSpPr>
        <p:spPr>
          <a:xfrm>
            <a:off x="7818120" y="1280160"/>
            <a:ext cx="3749039" cy="2743200"/>
          </a:xfrm>
          <a:prstGeom prst="rect">
            <a:avLst/>
          </a:prstGeom>
          <a:noFill/>
        </p:spPr>
        <p:txBody>
          <a:bodyPr wrap="square" lIns="0" rIns="0" tIns="0" bIns="0">
            <a:spAutoFit/>
          </a:bodyPr>
          <a:lstStyle/>
          <a:p>
            <a:pPr algn="l">
              <a:spcBef>
                <a:spcPts val="0"/>
              </a:spcBef>
              <a:spcAft>
                <a:spcPts val="1000"/>
              </a:spcAft>
            </a:pPr>
            <a:r>
              <a:rPr sz="1500" b="1">
                <a:solidFill>
                  <a:srgbClr val="008C8C"/>
                </a:solidFill>
                <a:latin typeface="Meiryo"/>
              </a:rPr>
              <a:t>設計の要点</a:t>
            </a:r>
          </a:p>
          <a:p>
            <a:pPr algn="l">
              <a:spcBef>
                <a:spcPts val="0"/>
              </a:spcBef>
              <a:spcAft>
                <a:spcPts val="200"/>
              </a:spcAft>
            </a:pPr>
            <a:r>
              <a:rPr sz="1200" b="1">
                <a:solidFill>
                  <a:srgbClr val="142B4A"/>
                </a:solidFill>
                <a:latin typeface="Meiryo"/>
              </a:rPr>
              <a:t>● 文レベル + 遷移テーブル</a:t>
            </a:r>
          </a:p>
          <a:p>
            <a:pPr algn="l">
              <a:lnSpc>
                <a:spcPct val="115000"/>
              </a:lnSpc>
              <a:spcBef>
                <a:spcPts val="0"/>
              </a:spcBef>
              <a:spcAft>
                <a:spcPts val="1100"/>
              </a:spcAft>
            </a:pPr>
            <a:r>
              <a:rPr sz="1000" b="0">
                <a:solidFill>
                  <a:srgbClr val="5A6677"/>
                </a:solidFill>
                <a:latin typeface="Meiryo"/>
              </a:rPr>
              <a:t>   13 万点の一括投入でも UPDATE は台風数分の
1 回で済む。行レベルなら 13 万回 UPDATE が
走り、実用にならない</a:t>
            </a:r>
          </a:p>
          <a:p>
            <a:pPr algn="l">
              <a:spcBef>
                <a:spcPts val="0"/>
              </a:spcBef>
              <a:spcAft>
                <a:spcPts val="200"/>
              </a:spcAft>
            </a:pPr>
            <a:r>
              <a:rPr sz="1200" b="1">
                <a:solidFill>
                  <a:srgbClr val="142B4A"/>
                </a:solidFill>
                <a:latin typeface="Meiryo"/>
              </a:rPr>
              <a:t>● GREATEST / LEAST</a:t>
            </a:r>
          </a:p>
          <a:p>
            <a:pPr algn="l">
              <a:lnSpc>
                <a:spcPct val="115000"/>
              </a:lnSpc>
              <a:spcBef>
                <a:spcPts val="0"/>
              </a:spcBef>
              <a:spcAft>
                <a:spcPts val="1100"/>
              </a:spcAft>
            </a:pPr>
            <a:r>
              <a:rPr sz="1000" b="0">
                <a:solidFill>
                  <a:srgbClr val="5A6677"/>
                </a:solidFill>
                <a:latin typeface="Meiryo"/>
              </a:rPr>
              <a:t>   PostgreSQL では NULL を無視するため、
初回投入 (既存値が NULL) でも正しく動く</a:t>
            </a:r>
          </a:p>
          <a:p>
            <a:pPr algn="l">
              <a:spcBef>
                <a:spcPts val="0"/>
              </a:spcBef>
              <a:spcAft>
                <a:spcPts val="200"/>
              </a:spcAft>
            </a:pPr>
            <a:r>
              <a:rPr sz="1200" b="1">
                <a:solidFill>
                  <a:srgbClr val="142B4A"/>
                </a:solidFill>
                <a:latin typeface="Meiryo"/>
              </a:rPr>
              <a:t>● 導出値の一元化</a:t>
            </a:r>
          </a:p>
          <a:p>
            <a:pPr algn="l">
              <a:lnSpc>
                <a:spcPct val="115000"/>
              </a:lnSpc>
              <a:spcBef>
                <a:spcPts val="0"/>
              </a:spcBef>
              <a:spcAft>
                <a:spcPts val="1100"/>
              </a:spcAft>
            </a:pPr>
            <a:r>
              <a:rPr sz="1000" b="0">
                <a:solidFill>
                  <a:srgbClr val="5A6677"/>
                </a:solidFill>
                <a:latin typeface="Meiryo"/>
              </a:rPr>
              <a:t>   強度サマリの計算がアプリと DB に
二重実装されない</a:t>
            </a:r>
          </a:p>
        </p:txBody>
      </p:sp>
      <p:sp>
        <p:nvSpPr>
          <p:cNvPr id="11" name="Rectangle 10"/>
          <p:cNvSpPr/>
          <p:nvPr/>
        </p:nvSpPr>
        <p:spPr>
          <a:xfrm>
            <a:off x="7818120" y="4160520"/>
            <a:ext cx="3749039"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検証</a:t>
            </a:r>
          </a:p>
        </p:txBody>
      </p:sp>
      <p:sp>
        <p:nvSpPr>
          <p:cNvPr id="12" name="Rectangle 11"/>
          <p:cNvSpPr/>
          <p:nvPr/>
        </p:nvSpPr>
        <p:spPr>
          <a:xfrm>
            <a:off x="7818120" y="4434840"/>
            <a:ext cx="3749039" cy="1536192"/>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46136" y="4526279"/>
            <a:ext cx="3493007" cy="1353312"/>
          </a:xfrm>
          <a:prstGeom prst="rect">
            <a:avLst/>
          </a:prstGeom>
          <a:noFill/>
        </p:spPr>
        <p:txBody>
          <a:bodyPr wrap="none" lIns="0" rIns="0" tIns="0" bIns="0">
            <a:spAutoFit/>
          </a:bodyPr>
          <a:lstStyle/>
          <a:p>
            <a:pPr algn="l">
              <a:lnSpc>
                <a:spcPct val="106000"/>
              </a:lnSpc>
              <a:spcBef>
                <a:spcPts val="0"/>
              </a:spcBef>
              <a:spcAft>
                <a:spcPts val="0"/>
              </a:spcAft>
            </a:pPr>
            <a:r>
              <a:rPr sz="1000" b="0">
                <a:solidFill>
                  <a:srgbClr val="6E8A5E"/>
                </a:solidFill>
                <a:latin typeface="Consolas"/>
              </a:rPr>
              <a:t>-- 動作確認 (実行済)</a:t>
            </a:r>
          </a:p>
          <a:p>
            <a:pPr algn="l">
              <a:lnSpc>
                <a:spcPct val="106000"/>
              </a:lnSpc>
              <a:spcBef>
                <a:spcPts val="0"/>
              </a:spcBef>
              <a:spcAft>
                <a:spcPts val="0"/>
              </a:spcAft>
            </a:pPr>
            <a:r>
              <a:rPr sz="1000" b="0">
                <a:solidFill>
                  <a:srgbClr val="6E8A5E"/>
                </a:solidFill>
                <a:latin typeface="Consolas"/>
              </a:rPr>
              <a:t>-- 投入前 max_wind_kt=38.9</a:t>
            </a:r>
          </a:p>
          <a:p>
            <a:pPr algn="l">
              <a:lnSpc>
                <a:spcPct val="106000"/>
              </a:lnSpc>
              <a:spcBef>
                <a:spcPts val="0"/>
              </a:spcBef>
              <a:spcAft>
                <a:spcPts val="0"/>
              </a:spcAft>
            </a:pPr>
            <a:r>
              <a:rPr sz="1000" b="0">
                <a:solidFill>
                  <a:srgbClr val="6E8A5E"/>
                </a:solidFill>
                <a:latin typeface="Consolas"/>
              </a:rPr>
              <a:t>-- wind 999 / pres 700 の</a:t>
            </a:r>
          </a:p>
          <a:p>
            <a:pPr algn="l">
              <a:lnSpc>
                <a:spcPct val="106000"/>
              </a:lnSpc>
              <a:spcBef>
                <a:spcPts val="0"/>
              </a:spcBef>
              <a:spcAft>
                <a:spcPts val="0"/>
              </a:spcAft>
            </a:pPr>
            <a:r>
              <a:rPr sz="1000" b="0">
                <a:solidFill>
                  <a:srgbClr val="6E8A5E"/>
                </a:solidFill>
                <a:latin typeface="Consolas"/>
              </a:rPr>
              <a:t>-- 点を 1 つ INSERT</a:t>
            </a:r>
          </a:p>
          <a:p>
            <a:pPr algn="l">
              <a:lnSpc>
                <a:spcPct val="106000"/>
              </a:lnSpc>
              <a:spcBef>
                <a:spcPts val="0"/>
              </a:spcBef>
              <a:spcAft>
                <a:spcPts val="0"/>
              </a:spcAft>
            </a:pPr>
            <a:r>
              <a:rPr sz="1000" b="0">
                <a:solidFill>
                  <a:srgbClr val="182A3E"/>
                </a:solidFill>
                <a:latin typeface="Consolas"/>
              </a:rPr>
              <a:t> </a:t>
            </a:r>
          </a:p>
          <a:p>
            <a:pPr algn="l">
              <a:lnSpc>
                <a:spcPct val="106000"/>
              </a:lnSpc>
              <a:spcBef>
                <a:spcPts val="0"/>
              </a:spcBef>
              <a:spcAft>
                <a:spcPts val="0"/>
              </a:spcAft>
            </a:pPr>
            <a:r>
              <a:rPr sz="1000" b="0">
                <a:solidFill>
                  <a:srgbClr val="D1661E"/>
                </a:solidFill>
                <a:latin typeface="Consolas"/>
              </a:rPr>
              <a:t>=&gt; max_wind_kt      = 999</a:t>
            </a:r>
          </a:p>
          <a:p>
            <a:pPr algn="l">
              <a:lnSpc>
                <a:spcPct val="106000"/>
              </a:lnSpc>
              <a:spcBef>
                <a:spcPts val="0"/>
              </a:spcBef>
              <a:spcAft>
                <a:spcPts val="0"/>
              </a:spcAft>
            </a:pPr>
            <a:r>
              <a:rPr sz="1000" b="0">
                <a:solidFill>
                  <a:srgbClr val="D1661E"/>
                </a:solidFill>
                <a:latin typeface="Consolas"/>
              </a:rPr>
              <a:t>=&gt; min_pressure_hpa = 700</a:t>
            </a:r>
          </a:p>
          <a:p>
            <a:pPr algn="l">
              <a:lnSpc>
                <a:spcPct val="106000"/>
              </a:lnSpc>
              <a:spcBef>
                <a:spcPts val="0"/>
              </a:spcBef>
              <a:spcAft>
                <a:spcPts val="0"/>
              </a:spcAft>
            </a:pPr>
            <a:r>
              <a:rPr sz="1000" b="0">
                <a:solidFill>
                  <a:srgbClr val="D1661E"/>
                </a:solidFill>
                <a:latin typeface="Consolas"/>
              </a:rPr>
              <a:t>=&gt; end_time  = 2099-01-01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4. トリガ ③ 意味ベクトル失効 — fn_mark_embedding_stale()</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属性が変われば意味ベクトルも自動的に貼り直される</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10</a:t>
            </a:r>
          </a:p>
        </p:txBody>
      </p:sp>
      <p:sp>
        <p:nvSpPr>
          <p:cNvPr id="7" name="Rectangle 6"/>
          <p:cNvSpPr/>
          <p:nvPr/>
        </p:nvSpPr>
        <p:spPr>
          <a:xfrm>
            <a:off x="685800" y="1207008"/>
            <a:ext cx="690372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トリガ関数 + トリガ定義</a:t>
            </a:r>
          </a:p>
        </p:txBody>
      </p:sp>
      <p:sp>
        <p:nvSpPr>
          <p:cNvPr id="8" name="Rectangle 7"/>
          <p:cNvSpPr/>
          <p:nvPr/>
        </p:nvSpPr>
        <p:spPr>
          <a:xfrm>
            <a:off x="685800" y="1481328"/>
            <a:ext cx="6903720" cy="461772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647688" cy="4434840"/>
          </a:xfrm>
          <a:prstGeom prst="rect">
            <a:avLst/>
          </a:prstGeom>
          <a:noFill/>
        </p:spPr>
        <p:txBody>
          <a:bodyPr wrap="none" lIns="0" rIns="0" tIns="0" bIns="0">
            <a:spAutoFit/>
          </a:bodyPr>
          <a:lstStyle/>
          <a:p>
            <a:pPr algn="l">
              <a:lnSpc>
                <a:spcPct val="106000"/>
              </a:lnSpc>
              <a:spcBef>
                <a:spcPts val="0"/>
              </a:spcBef>
              <a:spcAft>
                <a:spcPts val="0"/>
              </a:spcAft>
            </a:pPr>
            <a:r>
              <a:rPr sz="1010" b="0">
                <a:solidFill>
                  <a:srgbClr val="182A3E"/>
                </a:solidFill>
                <a:latin typeface="Consolas"/>
              </a:rPr>
              <a:t>CREATE OR REPLACE FUNCTION fn_mark_embedding_stale()</a:t>
            </a:r>
          </a:p>
          <a:p>
            <a:pPr algn="l">
              <a:lnSpc>
                <a:spcPct val="106000"/>
              </a:lnSpc>
              <a:spcBef>
                <a:spcPts val="0"/>
              </a:spcBef>
              <a:spcAft>
                <a:spcPts val="0"/>
              </a:spcAft>
            </a:pPr>
            <a:r>
              <a:rPr sz="1010" b="0">
                <a:solidFill>
                  <a:srgbClr val="182A3E"/>
                </a:solidFill>
                <a:latin typeface="Consolas"/>
              </a:rPr>
              <a:t>RETURNS trigger AS $$</a:t>
            </a:r>
          </a:p>
          <a:p>
            <a:pPr algn="l">
              <a:lnSpc>
                <a:spcPct val="106000"/>
              </a:lnSpc>
              <a:spcBef>
                <a:spcPts val="0"/>
              </a:spcBef>
              <a:spcAft>
                <a:spcPts val="0"/>
              </a:spcAft>
            </a:pPr>
            <a:r>
              <a:rPr sz="1010" b="0">
                <a:solidFill>
                  <a:srgbClr val="182A3E"/>
                </a:solidFill>
                <a:latin typeface="Consolas"/>
              </a:rPr>
              <a:t>BEGIN</a:t>
            </a:r>
          </a:p>
          <a:p>
            <a:pPr algn="l">
              <a:lnSpc>
                <a:spcPct val="106000"/>
              </a:lnSpc>
              <a:spcBef>
                <a:spcPts val="0"/>
              </a:spcBef>
              <a:spcAft>
                <a:spcPts val="0"/>
              </a:spcAft>
            </a:pPr>
            <a:r>
              <a:rPr sz="1010" b="0">
                <a:solidFill>
                  <a:srgbClr val="182A3E"/>
                </a:solidFill>
                <a:latin typeface="Consolas"/>
              </a:rPr>
              <a:t>    NEW.summary_text := NULL;</a:t>
            </a:r>
          </a:p>
          <a:p>
            <a:pPr algn="l">
              <a:lnSpc>
                <a:spcPct val="106000"/>
              </a:lnSpc>
              <a:spcBef>
                <a:spcPts val="0"/>
              </a:spcBef>
              <a:spcAft>
                <a:spcPts val="0"/>
              </a:spcAft>
            </a:pPr>
            <a:r>
              <a:rPr sz="1010" b="0">
                <a:solidFill>
                  <a:srgbClr val="182A3E"/>
                </a:solidFill>
                <a:latin typeface="Consolas"/>
              </a:rPr>
              <a:t>    NEW.embedding    := NULL;   -- 再埋め込みキューに戻す印</a:t>
            </a:r>
          </a:p>
          <a:p>
            <a:pPr algn="l">
              <a:lnSpc>
                <a:spcPct val="106000"/>
              </a:lnSpc>
              <a:spcBef>
                <a:spcPts val="0"/>
              </a:spcBef>
              <a:spcAft>
                <a:spcPts val="0"/>
              </a:spcAft>
            </a:pPr>
            <a:r>
              <a:rPr sz="1010" b="0">
                <a:solidFill>
                  <a:srgbClr val="182A3E"/>
                </a:solidFill>
                <a:latin typeface="Consolas"/>
              </a:rPr>
              <a:t>    RETURN NEW;</a:t>
            </a:r>
          </a:p>
          <a:p>
            <a:pPr algn="l">
              <a:lnSpc>
                <a:spcPct val="106000"/>
              </a:lnSpc>
              <a:spcBef>
                <a:spcPts val="0"/>
              </a:spcBef>
              <a:spcAft>
                <a:spcPts val="0"/>
              </a:spcAft>
            </a:pPr>
            <a:r>
              <a:rPr sz="1010" b="0">
                <a:solidFill>
                  <a:srgbClr val="182A3E"/>
                </a:solidFill>
                <a:latin typeface="Consolas"/>
              </a:rPr>
              <a:t>END;</a:t>
            </a:r>
          </a:p>
          <a:p>
            <a:pPr algn="l">
              <a:lnSpc>
                <a:spcPct val="106000"/>
              </a:lnSpc>
              <a:spcBef>
                <a:spcPts val="0"/>
              </a:spcBef>
              <a:spcAft>
                <a:spcPts val="0"/>
              </a:spcAft>
            </a:pPr>
            <a:r>
              <a:rPr sz="1010" b="0">
                <a:solidFill>
                  <a:srgbClr val="182A3E"/>
                </a:solidFill>
                <a:latin typeface="Consolas"/>
              </a:rPr>
              <a:t>$$ LANGUAGE plpgsql;</a:t>
            </a:r>
          </a:p>
          <a:p>
            <a:pPr algn="l">
              <a:lnSpc>
                <a:spcPct val="106000"/>
              </a:lnSpc>
              <a:spcBef>
                <a:spcPts val="0"/>
              </a:spcBef>
              <a:spcAft>
                <a:spcPts val="0"/>
              </a:spcAft>
            </a:pPr>
            <a:r>
              <a:rPr sz="1010" b="0">
                <a:solidFill>
                  <a:srgbClr val="182A3E"/>
                </a:solidFill>
                <a:latin typeface="Consolas"/>
              </a:rPr>
              <a:t> </a:t>
            </a:r>
          </a:p>
          <a:p>
            <a:pPr algn="l">
              <a:lnSpc>
                <a:spcPct val="106000"/>
              </a:lnSpc>
              <a:spcBef>
                <a:spcPts val="0"/>
              </a:spcBef>
              <a:spcAft>
                <a:spcPts val="0"/>
              </a:spcAft>
            </a:pPr>
            <a:r>
              <a:rPr sz="1010" b="0">
                <a:solidFill>
                  <a:srgbClr val="182A3E"/>
                </a:solidFill>
                <a:latin typeface="Consolas"/>
              </a:rPr>
              <a:t>CREATE TRIGGER trg_typhoon_embedding_stale</a:t>
            </a:r>
          </a:p>
          <a:p>
            <a:pPr algn="l">
              <a:lnSpc>
                <a:spcPct val="106000"/>
              </a:lnSpc>
              <a:spcBef>
                <a:spcPts val="0"/>
              </a:spcBef>
              <a:spcAft>
                <a:spcPts val="0"/>
              </a:spcAft>
            </a:pPr>
            <a:r>
              <a:rPr sz="1010" b="0">
                <a:solidFill>
                  <a:srgbClr val="182A3E"/>
                </a:solidFill>
                <a:latin typeface="Consolas"/>
              </a:rPr>
              <a:t>    BEFORE UPDATE OF name, name_jp, name_cn, category, season_year,</a:t>
            </a:r>
          </a:p>
          <a:p>
            <a:pPr algn="l">
              <a:lnSpc>
                <a:spcPct val="106000"/>
              </a:lnSpc>
              <a:spcBef>
                <a:spcPts val="0"/>
              </a:spcBef>
              <a:spcAft>
                <a:spcPts val="0"/>
              </a:spcAft>
            </a:pPr>
            <a:r>
              <a:rPr sz="1010" b="0">
                <a:solidFill>
                  <a:srgbClr val="182A3E"/>
                </a:solidFill>
                <a:latin typeface="Consolas"/>
              </a:rPr>
              <a:t>                     max_wind_kt, min_pressure_hpa,</a:t>
            </a:r>
          </a:p>
          <a:p>
            <a:pPr algn="l">
              <a:lnSpc>
                <a:spcPct val="106000"/>
              </a:lnSpc>
              <a:spcBef>
                <a:spcPts val="0"/>
              </a:spcBef>
              <a:spcAft>
                <a:spcPts val="0"/>
              </a:spcAft>
            </a:pPr>
            <a:r>
              <a:rPr sz="1010" b="0">
                <a:solidFill>
                  <a:srgbClr val="182A3E"/>
                </a:solidFill>
                <a:latin typeface="Consolas"/>
              </a:rPr>
              <a:t>                     start_time, end_time ON typhoon</a:t>
            </a:r>
          </a:p>
          <a:p>
            <a:pPr algn="l">
              <a:lnSpc>
                <a:spcPct val="106000"/>
              </a:lnSpc>
              <a:spcBef>
                <a:spcPts val="0"/>
              </a:spcBef>
              <a:spcAft>
                <a:spcPts val="0"/>
              </a:spcAft>
            </a:pPr>
            <a:r>
              <a:rPr sz="1010" b="0">
                <a:solidFill>
                  <a:srgbClr val="182A3E"/>
                </a:solidFill>
                <a:latin typeface="Consolas"/>
              </a:rPr>
              <a:t>    FOR EACH ROW</a:t>
            </a:r>
          </a:p>
          <a:p>
            <a:pPr algn="l">
              <a:lnSpc>
                <a:spcPct val="106000"/>
              </a:lnSpc>
              <a:spcBef>
                <a:spcPts val="0"/>
              </a:spcBef>
              <a:spcAft>
                <a:spcPts val="0"/>
              </a:spcAft>
            </a:pPr>
            <a:r>
              <a:rPr sz="1010" b="0">
                <a:solidFill>
                  <a:srgbClr val="182A3E"/>
                </a:solidFill>
                <a:latin typeface="Consolas"/>
              </a:rPr>
              <a:t>    WHEN (   OLD.name        IS DISTINCT FROM NEW.name</a:t>
            </a:r>
          </a:p>
          <a:p>
            <a:pPr algn="l">
              <a:lnSpc>
                <a:spcPct val="106000"/>
              </a:lnSpc>
              <a:spcBef>
                <a:spcPts val="0"/>
              </a:spcBef>
              <a:spcAft>
                <a:spcPts val="0"/>
              </a:spcAft>
            </a:pPr>
            <a:r>
              <a:rPr sz="1010" b="0">
                <a:solidFill>
                  <a:srgbClr val="182A3E"/>
                </a:solidFill>
                <a:latin typeface="Consolas"/>
              </a:rPr>
              <a:t>          OR OLD.category    IS DISTINCT FROM NEW.category</a:t>
            </a:r>
          </a:p>
          <a:p>
            <a:pPr algn="l">
              <a:lnSpc>
                <a:spcPct val="106000"/>
              </a:lnSpc>
              <a:spcBef>
                <a:spcPts val="0"/>
              </a:spcBef>
              <a:spcAft>
                <a:spcPts val="0"/>
              </a:spcAft>
            </a:pPr>
            <a:r>
              <a:rPr sz="1010" b="0">
                <a:solidFill>
                  <a:srgbClr val="182A3E"/>
                </a:solidFill>
                <a:latin typeface="Consolas"/>
              </a:rPr>
              <a:t>          OR OLD.max_wind_kt IS DISTINCT FROM NEW.max_wind_kt</a:t>
            </a:r>
          </a:p>
          <a:p>
            <a:pPr algn="l">
              <a:lnSpc>
                <a:spcPct val="106000"/>
              </a:lnSpc>
              <a:spcBef>
                <a:spcPts val="0"/>
              </a:spcBef>
              <a:spcAft>
                <a:spcPts val="0"/>
              </a:spcAft>
            </a:pPr>
            <a:r>
              <a:rPr sz="1010" b="0">
                <a:solidFill>
                  <a:srgbClr val="182A3E"/>
                </a:solidFill>
                <a:latin typeface="Consolas"/>
              </a:rPr>
              <a:t>          OR OLD.min_pressure_hpa IS DISTINCT FROM NEW.min_pressure_hpa</a:t>
            </a:r>
          </a:p>
          <a:p>
            <a:pPr algn="l">
              <a:lnSpc>
                <a:spcPct val="106000"/>
              </a:lnSpc>
              <a:spcBef>
                <a:spcPts val="0"/>
              </a:spcBef>
              <a:spcAft>
                <a:spcPts val="0"/>
              </a:spcAft>
            </a:pPr>
            <a:r>
              <a:rPr sz="1010" b="0">
                <a:solidFill>
                  <a:srgbClr val="182A3E"/>
                </a:solidFill>
                <a:latin typeface="Consolas"/>
              </a:rPr>
              <a:t>          OR OLD.start_time  IS DISTINCT FROM NEW.start_time</a:t>
            </a:r>
          </a:p>
          <a:p>
            <a:pPr algn="l">
              <a:lnSpc>
                <a:spcPct val="106000"/>
              </a:lnSpc>
              <a:spcBef>
                <a:spcPts val="0"/>
              </a:spcBef>
              <a:spcAft>
                <a:spcPts val="0"/>
              </a:spcAft>
            </a:pPr>
            <a:r>
              <a:rPr sz="1010" b="0">
                <a:solidFill>
                  <a:srgbClr val="182A3E"/>
                </a:solidFill>
                <a:latin typeface="Consolas"/>
              </a:rPr>
              <a:t>          OR OLD.end_time    IS DISTINCT FROM NEW.end_time)</a:t>
            </a:r>
          </a:p>
          <a:p>
            <a:pPr algn="l">
              <a:lnSpc>
                <a:spcPct val="106000"/>
              </a:lnSpc>
              <a:spcBef>
                <a:spcPts val="0"/>
              </a:spcBef>
              <a:spcAft>
                <a:spcPts val="0"/>
              </a:spcAft>
            </a:pPr>
            <a:r>
              <a:rPr sz="1010" b="0">
                <a:solidFill>
                  <a:srgbClr val="182A3E"/>
                </a:solidFill>
                <a:latin typeface="Consolas"/>
              </a:rPr>
              <a:t>    EXECUTE FUNCTION fn_mark_embedding_stale();</a:t>
            </a:r>
          </a:p>
          <a:p>
            <a:pPr algn="l">
              <a:lnSpc>
                <a:spcPct val="106000"/>
              </a:lnSpc>
              <a:spcBef>
                <a:spcPts val="0"/>
              </a:spcBef>
              <a:spcAft>
                <a:spcPts val="0"/>
              </a:spcAft>
            </a:pPr>
            <a:r>
              <a:rPr sz="1010" b="0">
                <a:solidFill>
                  <a:srgbClr val="182A3E"/>
                </a:solidFill>
                <a:latin typeface="Consolas"/>
              </a:rPr>
              <a:t> </a:t>
            </a:r>
          </a:p>
          <a:p>
            <a:pPr algn="l">
              <a:lnSpc>
                <a:spcPct val="106000"/>
              </a:lnSpc>
              <a:spcBef>
                <a:spcPts val="0"/>
              </a:spcBef>
              <a:spcAft>
                <a:spcPts val="0"/>
              </a:spcAft>
            </a:pPr>
            <a:r>
              <a:rPr sz="1010" b="0">
                <a:solidFill>
                  <a:srgbClr val="6E8A5E"/>
                </a:solidFill>
                <a:latin typeface="Consolas"/>
              </a:rPr>
              <a:t>-- 受灾情報側も同一関数を再利用 (description / 種別 / 地域 / 死傷者)</a:t>
            </a:r>
          </a:p>
          <a:p>
            <a:pPr algn="l">
              <a:lnSpc>
                <a:spcPct val="106000"/>
              </a:lnSpc>
              <a:spcBef>
                <a:spcPts val="0"/>
              </a:spcBef>
              <a:spcAft>
                <a:spcPts val="0"/>
              </a:spcAft>
            </a:pPr>
            <a:r>
              <a:rPr sz="1010" b="0">
                <a:solidFill>
                  <a:srgbClr val="182A3E"/>
                </a:solidFill>
                <a:latin typeface="Consolas"/>
              </a:rPr>
              <a:t>CREATE TRIGGER trg_disaster_embedding_stale</a:t>
            </a:r>
          </a:p>
          <a:p>
            <a:pPr algn="l">
              <a:lnSpc>
                <a:spcPct val="106000"/>
              </a:lnSpc>
              <a:spcBef>
                <a:spcPts val="0"/>
              </a:spcBef>
              <a:spcAft>
                <a:spcPts val="0"/>
              </a:spcAft>
            </a:pPr>
            <a:r>
              <a:rPr sz="1010" b="0">
                <a:solidFill>
                  <a:srgbClr val="182A3E"/>
                </a:solidFill>
                <a:latin typeface="Consolas"/>
              </a:rPr>
              <a:t>    BEFORE UPDATE OF description, disaster_type, region_name, casualties</a:t>
            </a:r>
          </a:p>
          <a:p>
            <a:pPr algn="l">
              <a:lnSpc>
                <a:spcPct val="106000"/>
              </a:lnSpc>
              <a:spcBef>
                <a:spcPts val="0"/>
              </a:spcBef>
              <a:spcAft>
                <a:spcPts val="0"/>
              </a:spcAft>
            </a:pPr>
            <a:r>
              <a:rPr sz="1010" b="0">
                <a:solidFill>
                  <a:srgbClr val="182A3E"/>
                </a:solidFill>
                <a:latin typeface="Consolas"/>
              </a:rPr>
              <a:t>    ON secondary_disaster FOR EACH ROW WHEN (...)</a:t>
            </a:r>
          </a:p>
          <a:p>
            <a:pPr algn="l">
              <a:lnSpc>
                <a:spcPct val="106000"/>
              </a:lnSpc>
              <a:spcBef>
                <a:spcPts val="0"/>
              </a:spcBef>
              <a:spcAft>
                <a:spcPts val="0"/>
              </a:spcAft>
            </a:pPr>
            <a:r>
              <a:rPr sz="1010" b="0">
                <a:solidFill>
                  <a:srgbClr val="182A3E"/>
                </a:solidFill>
                <a:latin typeface="Consolas"/>
              </a:rPr>
              <a:t>    EXECUTE FUNCTION fn_mark_embedding_stale();</a:t>
            </a:r>
          </a:p>
        </p:txBody>
      </p:sp>
      <p:sp>
        <p:nvSpPr>
          <p:cNvPr id="10" name="TextBox 9"/>
          <p:cNvSpPr txBox="1"/>
          <p:nvPr/>
        </p:nvSpPr>
        <p:spPr>
          <a:xfrm>
            <a:off x="7818120" y="1280160"/>
            <a:ext cx="3749039" cy="2377440"/>
          </a:xfrm>
          <a:prstGeom prst="rect">
            <a:avLst/>
          </a:prstGeom>
          <a:noFill/>
        </p:spPr>
        <p:txBody>
          <a:bodyPr wrap="square" lIns="0" rIns="0" tIns="0" bIns="0">
            <a:spAutoFit/>
          </a:bodyPr>
          <a:lstStyle/>
          <a:p>
            <a:pPr algn="l">
              <a:spcBef>
                <a:spcPts val="0"/>
              </a:spcBef>
              <a:spcAft>
                <a:spcPts val="1000"/>
              </a:spcAft>
            </a:pPr>
            <a:r>
              <a:rPr sz="1500" b="1">
                <a:solidFill>
                  <a:srgbClr val="D1661E"/>
                </a:solidFill>
                <a:latin typeface="Meiryo"/>
              </a:rPr>
              <a:t>トリガ連鎖 (Chain)</a:t>
            </a:r>
          </a:p>
          <a:p>
            <a:pPr algn="l">
              <a:spcBef>
                <a:spcPts val="0"/>
              </a:spcBef>
              <a:spcAft>
                <a:spcPts val="100"/>
              </a:spcAft>
            </a:pPr>
            <a:r>
              <a:rPr sz="1150" b="1">
                <a:solidFill>
                  <a:srgbClr val="142B4A"/>
                </a:solidFill>
                <a:latin typeface="Meiryo"/>
              </a:rPr>
              <a:t>① 経路点を INSERT</a:t>
            </a:r>
          </a:p>
          <a:p>
            <a:pPr algn="l">
              <a:lnSpc>
                <a:spcPct val="115000"/>
              </a:lnSpc>
              <a:spcBef>
                <a:spcPts val="0"/>
              </a:spcBef>
              <a:spcAft>
                <a:spcPts val="900"/>
              </a:spcAft>
            </a:pPr>
            <a:r>
              <a:rPr sz="1000" b="0">
                <a:solidFill>
                  <a:srgbClr val="5A6677"/>
                </a:solidFill>
                <a:latin typeface="Meiryo"/>
              </a:rPr>
              <a:t>   新しい観測が入る</a:t>
            </a:r>
          </a:p>
          <a:p>
            <a:pPr algn="l">
              <a:spcBef>
                <a:spcPts val="0"/>
              </a:spcBef>
              <a:spcAft>
                <a:spcPts val="100"/>
              </a:spcAft>
            </a:pPr>
            <a:r>
              <a:rPr sz="1150" b="1">
                <a:solidFill>
                  <a:srgbClr val="142B4A"/>
                </a:solidFill>
                <a:latin typeface="Meiryo"/>
              </a:rPr>
              <a:t>② トリガ② が発火</a:t>
            </a:r>
          </a:p>
          <a:p>
            <a:pPr algn="l">
              <a:lnSpc>
                <a:spcPct val="115000"/>
              </a:lnSpc>
              <a:spcBef>
                <a:spcPts val="0"/>
              </a:spcBef>
              <a:spcAft>
                <a:spcPts val="900"/>
              </a:spcAft>
            </a:pPr>
            <a:r>
              <a:rPr sz="1000" b="0">
                <a:solidFill>
                  <a:srgbClr val="5A6677"/>
                </a:solidFill>
                <a:latin typeface="Meiryo"/>
              </a:rPr>
              <a:t>   typhoon.max_wind_kt を更新</a:t>
            </a:r>
          </a:p>
          <a:p>
            <a:pPr algn="l">
              <a:spcBef>
                <a:spcPts val="0"/>
              </a:spcBef>
              <a:spcAft>
                <a:spcPts val="100"/>
              </a:spcAft>
            </a:pPr>
            <a:r>
              <a:rPr sz="1150" b="1">
                <a:solidFill>
                  <a:srgbClr val="142B4A"/>
                </a:solidFill>
                <a:latin typeface="Meiryo"/>
              </a:rPr>
              <a:t>③ トリガ③ が発火</a:t>
            </a:r>
          </a:p>
          <a:p>
            <a:pPr algn="l">
              <a:lnSpc>
                <a:spcPct val="115000"/>
              </a:lnSpc>
              <a:spcBef>
                <a:spcPts val="0"/>
              </a:spcBef>
              <a:spcAft>
                <a:spcPts val="900"/>
              </a:spcAft>
            </a:pPr>
            <a:r>
              <a:rPr sz="1000" b="0">
                <a:solidFill>
                  <a:srgbClr val="5A6677"/>
                </a:solidFill>
                <a:latin typeface="Meiryo"/>
              </a:rPr>
              <a:t>   embedding を NULL に失効させる</a:t>
            </a:r>
          </a:p>
          <a:p>
            <a:pPr algn="l">
              <a:spcBef>
                <a:spcPts val="0"/>
              </a:spcBef>
              <a:spcAft>
                <a:spcPts val="100"/>
              </a:spcAft>
            </a:pPr>
            <a:r>
              <a:rPr sz="1150" b="1">
                <a:solidFill>
                  <a:srgbClr val="142B4A"/>
                </a:solidFill>
                <a:latin typeface="Meiryo"/>
              </a:rPr>
              <a:t>④ embed.py が拾う</a:t>
            </a:r>
          </a:p>
          <a:p>
            <a:pPr algn="l">
              <a:lnSpc>
                <a:spcPct val="115000"/>
              </a:lnSpc>
              <a:spcBef>
                <a:spcPts val="0"/>
              </a:spcBef>
              <a:spcAft>
                <a:spcPts val="900"/>
              </a:spcAft>
            </a:pPr>
            <a:r>
              <a:rPr sz="1000" b="0">
                <a:solidFill>
                  <a:srgbClr val="5A6677"/>
                </a:solidFill>
                <a:latin typeface="Meiryo"/>
              </a:rPr>
              <a:t>   WHERE embedding IS NULL を
対象に再ベクトル化する</a:t>
            </a:r>
          </a:p>
        </p:txBody>
      </p:sp>
      <p:sp>
        <p:nvSpPr>
          <p:cNvPr id="11" name="Rectangle 10"/>
          <p:cNvSpPr/>
          <p:nvPr/>
        </p:nvSpPr>
        <p:spPr>
          <a:xfrm>
            <a:off x="7818120" y="3840480"/>
            <a:ext cx="3749039" cy="2258568"/>
          </a:xfrm>
          <a:prstGeom prst="rect">
            <a:avLst/>
          </a:prstGeom>
          <a:solidFill>
            <a:srgbClr val="ECF6F6"/>
          </a:solidFill>
          <a:ln w="12700">
            <a:solidFill>
              <a:srgbClr val="D1661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82712" y="3950208"/>
            <a:ext cx="3419856" cy="2039112"/>
          </a:xfrm>
          <a:prstGeom prst="rect">
            <a:avLst/>
          </a:prstGeom>
          <a:noFill/>
        </p:spPr>
        <p:txBody>
          <a:bodyPr wrap="square" lIns="0" rIns="0" tIns="0" bIns="0">
            <a:spAutoFit/>
          </a:bodyPr>
          <a:lstStyle/>
          <a:p>
            <a:pPr algn="l">
              <a:lnSpc>
                <a:spcPct val="115000"/>
              </a:lnSpc>
              <a:spcBef>
                <a:spcPts val="0"/>
              </a:spcBef>
              <a:spcAft>
                <a:spcPts val="0"/>
              </a:spcAft>
            </a:pPr>
            <a:r>
              <a:rPr sz="1200" b="0">
                <a:solidFill>
                  <a:srgbClr val="0B4C4C"/>
                </a:solidFill>
                <a:latin typeface="Meiryo"/>
              </a:rPr>
              <a:t>WHEN 句が肝。値が実際に変化した UPDATE だけを通すので、冪等な再クロール (同じ値の書き戻し) では既存のベクトルが無駄に捨てられない。
検証: 一連の動作確認の後、embedding が NULL の台風は 0 件 — 無駄な失効は発生していない。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5. 関数 ① 意味的選択 — fn_semantic_typhoons()</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主要クエリ Q3 : 自然言語 → 384 次元ベクトル → コサイン距離 Top-K</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11</a:t>
            </a:r>
          </a:p>
        </p:txBody>
      </p:sp>
      <p:sp>
        <p:nvSpPr>
          <p:cNvPr id="7" name="Rectangle 6"/>
          <p:cNvSpPr/>
          <p:nvPr/>
        </p:nvSpPr>
        <p:spPr>
          <a:xfrm>
            <a:off x="685800" y="1207008"/>
            <a:ext cx="690372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関数定義</a:t>
            </a:r>
          </a:p>
        </p:txBody>
      </p:sp>
      <p:sp>
        <p:nvSpPr>
          <p:cNvPr id="8" name="Rectangle 7"/>
          <p:cNvSpPr/>
          <p:nvPr/>
        </p:nvSpPr>
        <p:spPr>
          <a:xfrm>
            <a:off x="685800" y="1481328"/>
            <a:ext cx="6903720" cy="301752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647688" cy="2834640"/>
          </a:xfrm>
          <a:prstGeom prst="rect">
            <a:avLst/>
          </a:prstGeom>
          <a:noFill/>
        </p:spPr>
        <p:txBody>
          <a:bodyPr wrap="none" lIns="0" rIns="0" tIns="0" bIns="0">
            <a:spAutoFit/>
          </a:bodyPr>
          <a:lstStyle/>
          <a:p>
            <a:pPr algn="l">
              <a:lnSpc>
                <a:spcPct val="106000"/>
              </a:lnSpc>
              <a:spcBef>
                <a:spcPts val="0"/>
              </a:spcBef>
              <a:spcAft>
                <a:spcPts val="0"/>
              </a:spcAft>
            </a:pPr>
            <a:r>
              <a:rPr sz="1030" b="0">
                <a:solidFill>
                  <a:srgbClr val="182A3E"/>
                </a:solidFill>
                <a:latin typeface="Consolas"/>
              </a:rPr>
              <a:t>CREATE OR REPLACE FUNCTION fn_semantic_typhoons(</a:t>
            </a:r>
          </a:p>
          <a:p>
            <a:pPr algn="l">
              <a:lnSpc>
                <a:spcPct val="106000"/>
              </a:lnSpc>
              <a:spcBef>
                <a:spcPts val="0"/>
              </a:spcBef>
              <a:spcAft>
                <a:spcPts val="0"/>
              </a:spcAft>
            </a:pPr>
            <a:r>
              <a:rPr sz="1030" b="0">
                <a:solidFill>
                  <a:srgbClr val="182A3E"/>
                </a:solidFill>
                <a:latin typeface="Consolas"/>
              </a:rPr>
              <a:t>    p_qvec vector(384),</a:t>
            </a:r>
          </a:p>
          <a:p>
            <a:pPr algn="l">
              <a:lnSpc>
                <a:spcPct val="106000"/>
              </a:lnSpc>
              <a:spcBef>
                <a:spcPts val="0"/>
              </a:spcBef>
              <a:spcAft>
                <a:spcPts val="0"/>
              </a:spcAft>
            </a:pPr>
            <a:r>
              <a:rPr sz="1030" b="0">
                <a:solidFill>
                  <a:srgbClr val="182A3E"/>
                </a:solidFill>
                <a:latin typeface="Consolas"/>
              </a:rPr>
              <a:t>    p_k    int DEFAULT 10)</a:t>
            </a:r>
          </a:p>
          <a:p>
            <a:pPr algn="l">
              <a:lnSpc>
                <a:spcPct val="106000"/>
              </a:lnSpc>
              <a:spcBef>
                <a:spcPts val="0"/>
              </a:spcBef>
              <a:spcAft>
                <a:spcPts val="0"/>
              </a:spcAft>
            </a:pPr>
            <a:r>
              <a:rPr sz="1030" b="0">
                <a:solidFill>
                  <a:srgbClr val="182A3E"/>
                </a:solidFill>
                <a:latin typeface="Consolas"/>
              </a:rPr>
              <a:t>RETURNS TABLE (</a:t>
            </a:r>
          </a:p>
          <a:p>
            <a:pPr algn="l">
              <a:lnSpc>
                <a:spcPct val="106000"/>
              </a:lnSpc>
              <a:spcBef>
                <a:spcPts val="0"/>
              </a:spcBef>
              <a:spcAft>
                <a:spcPts val="0"/>
              </a:spcAft>
            </a:pPr>
            <a:r>
              <a:rPr sz="1030" b="0">
                <a:solidFill>
                  <a:srgbClr val="182A3E"/>
                </a:solidFill>
                <a:latin typeface="Consolas"/>
              </a:rPr>
              <a:t>    id int, intl_id varchar, name varchar, season_year int,</a:t>
            </a:r>
          </a:p>
          <a:p>
            <a:pPr algn="l">
              <a:lnSpc>
                <a:spcPct val="106000"/>
              </a:lnSpc>
              <a:spcBef>
                <a:spcPts val="0"/>
              </a:spcBef>
              <a:spcAft>
                <a:spcPts val="0"/>
              </a:spcAft>
            </a:pPr>
            <a:r>
              <a:rPr sz="1030" b="0">
                <a:solidFill>
                  <a:srgbClr val="182A3E"/>
                </a:solidFill>
                <a:latin typeface="Consolas"/>
              </a:rPr>
              <a:t>    max_wind_kt double precision, summary_text text,</a:t>
            </a:r>
          </a:p>
          <a:p>
            <a:pPr algn="l">
              <a:lnSpc>
                <a:spcPct val="106000"/>
              </a:lnSpc>
              <a:spcBef>
                <a:spcPts val="0"/>
              </a:spcBef>
              <a:spcAft>
                <a:spcPts val="0"/>
              </a:spcAft>
            </a:pPr>
            <a:r>
              <a:rPr sz="1030" b="0">
                <a:solidFill>
                  <a:srgbClr val="182A3E"/>
                </a:solidFill>
                <a:latin typeface="Consolas"/>
              </a:rPr>
              <a:t>    distance double precision</a:t>
            </a:r>
          </a:p>
          <a:p>
            <a:pPr algn="l">
              <a:lnSpc>
                <a:spcPct val="106000"/>
              </a:lnSpc>
              <a:spcBef>
                <a:spcPts val="0"/>
              </a:spcBef>
              <a:spcAft>
                <a:spcPts val="0"/>
              </a:spcAft>
            </a:pPr>
            <a:r>
              <a:rPr sz="1030" b="0">
                <a:solidFill>
                  <a:srgbClr val="182A3E"/>
                </a:solidFill>
                <a:latin typeface="Consolas"/>
              </a:rPr>
              <a:t>) AS $$</a:t>
            </a:r>
          </a:p>
          <a:p>
            <a:pPr algn="l">
              <a:lnSpc>
                <a:spcPct val="106000"/>
              </a:lnSpc>
              <a:spcBef>
                <a:spcPts val="0"/>
              </a:spcBef>
              <a:spcAft>
                <a:spcPts val="0"/>
              </a:spcAft>
            </a:pPr>
            <a:r>
              <a:rPr sz="1030" b="0">
                <a:solidFill>
                  <a:srgbClr val="182A3E"/>
                </a:solidFill>
                <a:latin typeface="Consolas"/>
              </a:rPr>
              <a:t>    SELECT t.id, t.intl_id, t.name, t.season_year, t.max_wind_kt,</a:t>
            </a:r>
          </a:p>
          <a:p>
            <a:pPr algn="l">
              <a:lnSpc>
                <a:spcPct val="106000"/>
              </a:lnSpc>
              <a:spcBef>
                <a:spcPts val="0"/>
              </a:spcBef>
              <a:spcAft>
                <a:spcPts val="0"/>
              </a:spcAft>
            </a:pPr>
            <a:r>
              <a:rPr sz="1030" b="0">
                <a:solidFill>
                  <a:srgbClr val="182A3E"/>
                </a:solidFill>
                <a:latin typeface="Consolas"/>
              </a:rPr>
              <a:t>           t.summary_text,</a:t>
            </a:r>
          </a:p>
          <a:p>
            <a:pPr algn="l">
              <a:lnSpc>
                <a:spcPct val="106000"/>
              </a:lnSpc>
              <a:spcBef>
                <a:spcPts val="0"/>
              </a:spcBef>
              <a:spcAft>
                <a:spcPts val="0"/>
              </a:spcAft>
            </a:pPr>
            <a:r>
              <a:rPr sz="1030" b="0">
                <a:solidFill>
                  <a:srgbClr val="182A3E"/>
                </a:solidFill>
                <a:latin typeface="Consolas"/>
              </a:rPr>
              <a:t>           (t.embedding &lt;=&gt; p_qvec)::double precision AS distance</a:t>
            </a:r>
          </a:p>
          <a:p>
            <a:pPr algn="l">
              <a:lnSpc>
                <a:spcPct val="106000"/>
              </a:lnSpc>
              <a:spcBef>
                <a:spcPts val="0"/>
              </a:spcBef>
              <a:spcAft>
                <a:spcPts val="0"/>
              </a:spcAft>
            </a:pPr>
            <a:r>
              <a:rPr sz="1030" b="0">
                <a:solidFill>
                  <a:srgbClr val="182A3E"/>
                </a:solidFill>
                <a:latin typeface="Consolas"/>
              </a:rPr>
              <a:t>      FROM typhoon t</a:t>
            </a:r>
          </a:p>
          <a:p>
            <a:pPr algn="l">
              <a:lnSpc>
                <a:spcPct val="106000"/>
              </a:lnSpc>
              <a:spcBef>
                <a:spcPts val="0"/>
              </a:spcBef>
              <a:spcAft>
                <a:spcPts val="0"/>
              </a:spcAft>
            </a:pPr>
            <a:r>
              <a:rPr sz="1030" b="0">
                <a:solidFill>
                  <a:srgbClr val="182A3E"/>
                </a:solidFill>
                <a:latin typeface="Consolas"/>
              </a:rPr>
              <a:t>     WHERE t.embedding IS NOT NULL</a:t>
            </a:r>
          </a:p>
          <a:p>
            <a:pPr algn="l">
              <a:lnSpc>
                <a:spcPct val="106000"/>
              </a:lnSpc>
              <a:spcBef>
                <a:spcPts val="0"/>
              </a:spcBef>
              <a:spcAft>
                <a:spcPts val="0"/>
              </a:spcAft>
            </a:pPr>
            <a:r>
              <a:rPr sz="1030" b="0">
                <a:solidFill>
                  <a:srgbClr val="182A3E"/>
                </a:solidFill>
                <a:latin typeface="Consolas"/>
              </a:rPr>
              <a:t>     ORDER BY t.embedding &lt;=&gt; p_qvec   -- &lt;=&gt; = コサイン距離</a:t>
            </a:r>
          </a:p>
          <a:p>
            <a:pPr algn="l">
              <a:lnSpc>
                <a:spcPct val="106000"/>
              </a:lnSpc>
              <a:spcBef>
                <a:spcPts val="0"/>
              </a:spcBef>
              <a:spcAft>
                <a:spcPts val="0"/>
              </a:spcAft>
            </a:pPr>
            <a:r>
              <a:rPr sz="1030" b="0">
                <a:solidFill>
                  <a:srgbClr val="182A3E"/>
                </a:solidFill>
                <a:latin typeface="Consolas"/>
              </a:rPr>
              <a:t>     LIMIT p_k;</a:t>
            </a:r>
          </a:p>
          <a:p>
            <a:pPr algn="l">
              <a:lnSpc>
                <a:spcPct val="106000"/>
              </a:lnSpc>
              <a:spcBef>
                <a:spcPts val="0"/>
              </a:spcBef>
              <a:spcAft>
                <a:spcPts val="0"/>
              </a:spcAft>
            </a:pPr>
            <a:r>
              <a:rPr sz="1030" b="0">
                <a:solidFill>
                  <a:srgbClr val="182A3E"/>
                </a:solidFill>
                <a:latin typeface="Consolas"/>
              </a:rPr>
              <a:t>$$ LANGUAGE sql STABLE</a:t>
            </a:r>
          </a:p>
          <a:p>
            <a:pPr algn="l">
              <a:lnSpc>
                <a:spcPct val="106000"/>
              </a:lnSpc>
              <a:spcBef>
                <a:spcPts val="0"/>
              </a:spcBef>
              <a:spcAft>
                <a:spcPts val="0"/>
              </a:spcAft>
            </a:pPr>
            <a:r>
              <a:rPr sz="1030" b="0">
                <a:solidFill>
                  <a:srgbClr val="182A3E"/>
                </a:solidFill>
                <a:latin typeface="Consolas"/>
              </a:rPr>
              <a:t>   SET ivfflat.probes = 10;  -- 関数単位の GUC: 再現率を確保する</a:t>
            </a:r>
          </a:p>
        </p:txBody>
      </p:sp>
      <p:sp>
        <p:nvSpPr>
          <p:cNvPr id="10" name="Rectangle 9"/>
          <p:cNvSpPr/>
          <p:nvPr/>
        </p:nvSpPr>
        <p:spPr>
          <a:xfrm>
            <a:off x="685800" y="4617720"/>
            <a:ext cx="690372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主要クエリ Q3 — 呼び出し</a:t>
            </a:r>
          </a:p>
        </p:txBody>
      </p:sp>
      <p:sp>
        <p:nvSpPr>
          <p:cNvPr id="11" name="Rectangle 10"/>
          <p:cNvSpPr/>
          <p:nvPr/>
        </p:nvSpPr>
        <p:spPr>
          <a:xfrm>
            <a:off x="685800" y="4892040"/>
            <a:ext cx="6903720" cy="1234439"/>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3816" y="4983479"/>
            <a:ext cx="6647688" cy="1051560"/>
          </a:xfrm>
          <a:prstGeom prst="rect">
            <a:avLst/>
          </a:prstGeom>
          <a:noFill/>
        </p:spPr>
        <p:txBody>
          <a:bodyPr wrap="none" lIns="0" rIns="0" tIns="0" bIns="0">
            <a:spAutoFit/>
          </a:bodyPr>
          <a:lstStyle/>
          <a:p>
            <a:pPr algn="l">
              <a:lnSpc>
                <a:spcPct val="106000"/>
              </a:lnSpc>
              <a:spcBef>
                <a:spcPts val="0"/>
              </a:spcBef>
              <a:spcAft>
                <a:spcPts val="0"/>
              </a:spcAft>
            </a:pPr>
            <a:r>
              <a:rPr sz="1000" b="0">
                <a:solidFill>
                  <a:srgbClr val="6E8A5E"/>
                </a:solidFill>
                <a:latin typeface="Consolas"/>
              </a:rPr>
              <a:t>-- 主要クエリ Q3 : 意味的選択 (Semantic Selection)</a:t>
            </a:r>
          </a:p>
          <a:p>
            <a:pPr algn="l">
              <a:lnSpc>
                <a:spcPct val="106000"/>
              </a:lnSpc>
              <a:spcBef>
                <a:spcPts val="0"/>
              </a:spcBef>
              <a:spcAft>
                <a:spcPts val="0"/>
              </a:spcAft>
            </a:pPr>
            <a:r>
              <a:rPr sz="1000" b="0">
                <a:solidFill>
                  <a:srgbClr val="6E8A5E"/>
                </a:solidFill>
                <a:latin typeface="Consolas"/>
              </a:rPr>
              <a:t>--   qvec = embed('造成严重洪水和滑坡的强台风')  ← FastAPI 側でベクトル化</a:t>
            </a:r>
          </a:p>
          <a:p>
            <a:pPr algn="l">
              <a:lnSpc>
                <a:spcPct val="106000"/>
              </a:lnSpc>
              <a:spcBef>
                <a:spcPts val="0"/>
              </a:spcBef>
              <a:spcAft>
                <a:spcPts val="0"/>
              </a:spcAft>
            </a:pPr>
            <a:r>
              <a:rPr sz="1000" b="0">
                <a:solidFill>
                  <a:srgbClr val="182A3E"/>
                </a:solidFill>
                <a:latin typeface="Consolas"/>
              </a:rPr>
              <a:t>SELECT * FROM fn_semantic_typhoons(:qvec, 10);</a:t>
            </a:r>
          </a:p>
          <a:p>
            <a:pPr algn="l">
              <a:lnSpc>
                <a:spcPct val="106000"/>
              </a:lnSpc>
              <a:spcBef>
                <a:spcPts val="0"/>
              </a:spcBef>
              <a:spcAft>
                <a:spcPts val="0"/>
              </a:spcAft>
            </a:pPr>
            <a:r>
              <a:rPr sz="1000" b="0">
                <a:solidFill>
                  <a:srgbClr val="6E8A5E"/>
                </a:solidFill>
                <a:latin typeface="Consolas"/>
              </a:rPr>
              <a:t>-- 受灾情報・公共情報にも同形の問合せを並行実行し、3 層横断の意味検索を 1 度に返す</a:t>
            </a:r>
          </a:p>
        </p:txBody>
      </p:sp>
      <p:sp>
        <p:nvSpPr>
          <p:cNvPr id="13" name="TextBox 12"/>
          <p:cNvSpPr txBox="1"/>
          <p:nvPr/>
        </p:nvSpPr>
        <p:spPr>
          <a:xfrm>
            <a:off x="7818120" y="1280160"/>
            <a:ext cx="3749039" cy="2194560"/>
          </a:xfrm>
          <a:prstGeom prst="rect">
            <a:avLst/>
          </a:prstGeom>
          <a:noFill/>
        </p:spPr>
        <p:txBody>
          <a:bodyPr wrap="square" lIns="0" rIns="0" tIns="0" bIns="0">
            <a:spAutoFit/>
          </a:bodyPr>
          <a:lstStyle/>
          <a:p>
            <a:pPr algn="l">
              <a:spcBef>
                <a:spcPts val="0"/>
              </a:spcBef>
              <a:spcAft>
                <a:spcPts val="1000"/>
              </a:spcAft>
            </a:pPr>
            <a:r>
              <a:rPr sz="1500" b="1">
                <a:solidFill>
                  <a:srgbClr val="D1661E"/>
                </a:solidFill>
                <a:latin typeface="Meiryo"/>
              </a:rPr>
              <a:t>設計の要点</a:t>
            </a:r>
          </a:p>
          <a:p>
            <a:pPr algn="l">
              <a:spcBef>
                <a:spcPts val="0"/>
              </a:spcBef>
              <a:spcAft>
                <a:spcPts val="200"/>
              </a:spcAft>
            </a:pPr>
            <a:r>
              <a:rPr sz="1200" b="1">
                <a:solidFill>
                  <a:srgbClr val="142B4A"/>
                </a:solidFill>
                <a:latin typeface="Meiryo"/>
              </a:rPr>
              <a:t>● &lt;=&gt; 演算子</a:t>
            </a:r>
          </a:p>
          <a:p>
            <a:pPr algn="l">
              <a:lnSpc>
                <a:spcPct val="115000"/>
              </a:lnSpc>
              <a:spcBef>
                <a:spcPts val="0"/>
              </a:spcBef>
              <a:spcAft>
                <a:spcPts val="1100"/>
              </a:spcAft>
            </a:pPr>
            <a:r>
              <a:rPr sz="1000" b="0">
                <a:solidFill>
                  <a:srgbClr val="5A6677"/>
                </a:solidFill>
                <a:latin typeface="Meiryo"/>
              </a:rPr>
              <a:t>   pgvector のコサイン距離。ORDER BY に置くと
IVFFlat 索引が使われる</a:t>
            </a:r>
          </a:p>
          <a:p>
            <a:pPr algn="l">
              <a:spcBef>
                <a:spcPts val="0"/>
              </a:spcBef>
              <a:spcAft>
                <a:spcPts val="200"/>
              </a:spcAft>
            </a:pPr>
            <a:r>
              <a:rPr sz="1200" b="1">
                <a:solidFill>
                  <a:srgbClr val="142B4A"/>
                </a:solidFill>
                <a:latin typeface="Meiryo"/>
              </a:rPr>
              <a:t>● 関数単位の SET</a:t>
            </a:r>
          </a:p>
          <a:p>
            <a:pPr algn="l">
              <a:lnSpc>
                <a:spcPct val="115000"/>
              </a:lnSpc>
              <a:spcBef>
                <a:spcPts val="0"/>
              </a:spcBef>
              <a:spcAft>
                <a:spcPts val="1100"/>
              </a:spcAft>
            </a:pPr>
            <a:r>
              <a:rPr sz="1000" b="0">
                <a:solidFill>
                  <a:srgbClr val="5A6677"/>
                </a:solidFill>
                <a:latin typeface="Meiryo"/>
              </a:rPr>
              <a:t>   STABLE 関数の内部で SET LOCAL は使えない。
関数属性として GUC を宣言するのが正解</a:t>
            </a:r>
          </a:p>
          <a:p>
            <a:pPr algn="l">
              <a:spcBef>
                <a:spcPts val="0"/>
              </a:spcBef>
              <a:spcAft>
                <a:spcPts val="200"/>
              </a:spcAft>
            </a:pPr>
            <a:r>
              <a:rPr sz="1200" b="1">
                <a:solidFill>
                  <a:srgbClr val="142B4A"/>
                </a:solidFill>
                <a:latin typeface="Meiryo"/>
              </a:rPr>
              <a:t>● probes = 10</a:t>
            </a:r>
          </a:p>
          <a:p>
            <a:pPr algn="l">
              <a:lnSpc>
                <a:spcPct val="115000"/>
              </a:lnSpc>
              <a:spcBef>
                <a:spcPts val="0"/>
              </a:spcBef>
              <a:spcAft>
                <a:spcPts val="1100"/>
              </a:spcAft>
            </a:pPr>
            <a:r>
              <a:rPr sz="1000" b="0">
                <a:solidFill>
                  <a:srgbClr val="5A6677"/>
                </a:solidFill>
                <a:latin typeface="Meiryo"/>
              </a:rPr>
              <a:t>   IVFFlat は近似索引。探索クラスタ数を増やして
再現率を確保する</a:t>
            </a:r>
          </a:p>
        </p:txBody>
      </p:sp>
      <p:sp>
        <p:nvSpPr>
          <p:cNvPr id="14" name="Rectangle 13"/>
          <p:cNvSpPr/>
          <p:nvPr/>
        </p:nvSpPr>
        <p:spPr>
          <a:xfrm>
            <a:off x="7818120" y="3611880"/>
            <a:ext cx="3749039"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検証</a:t>
            </a:r>
          </a:p>
        </p:txBody>
      </p:sp>
      <p:sp>
        <p:nvSpPr>
          <p:cNvPr id="15" name="Rectangle 14"/>
          <p:cNvSpPr/>
          <p:nvPr/>
        </p:nvSpPr>
        <p:spPr>
          <a:xfrm>
            <a:off x="7818120" y="3886200"/>
            <a:ext cx="3749039" cy="224028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46136" y="3977639"/>
            <a:ext cx="3493007" cy="2057400"/>
          </a:xfrm>
          <a:prstGeom prst="rect">
            <a:avLst/>
          </a:prstGeom>
          <a:noFill/>
        </p:spPr>
        <p:txBody>
          <a:bodyPr wrap="none" lIns="0" rIns="0" tIns="0" bIns="0">
            <a:spAutoFit/>
          </a:bodyPr>
          <a:lstStyle/>
          <a:p>
            <a:pPr algn="l">
              <a:lnSpc>
                <a:spcPct val="106000"/>
              </a:lnSpc>
              <a:spcBef>
                <a:spcPts val="0"/>
              </a:spcBef>
              <a:spcAft>
                <a:spcPts val="0"/>
              </a:spcAft>
            </a:pPr>
            <a:r>
              <a:rPr sz="950" b="0">
                <a:solidFill>
                  <a:srgbClr val="6E8A5E"/>
                </a:solidFill>
                <a:latin typeface="Consolas"/>
              </a:rPr>
              <a:t>-- 実行結果 (実測)</a:t>
            </a:r>
          </a:p>
          <a:p>
            <a:pPr algn="l">
              <a:lnSpc>
                <a:spcPct val="106000"/>
              </a:lnSpc>
              <a:spcBef>
                <a:spcPts val="0"/>
              </a:spcBef>
              <a:spcAft>
                <a:spcPts val="0"/>
              </a:spcAft>
            </a:pPr>
            <a:r>
              <a:rPr sz="950" b="0">
                <a:solidFill>
                  <a:srgbClr val="6E8A5E"/>
                </a:solidFill>
                <a:latin typeface="Consolas"/>
              </a:rPr>
              <a:t>-- 台風 Gloria(1999) の</a:t>
            </a:r>
          </a:p>
          <a:p>
            <a:pPr algn="l">
              <a:lnSpc>
                <a:spcPct val="106000"/>
              </a:lnSpc>
              <a:spcBef>
                <a:spcPts val="0"/>
              </a:spcBef>
              <a:spcAft>
                <a:spcPts val="0"/>
              </a:spcAft>
            </a:pPr>
            <a:r>
              <a:rPr sz="950" b="0">
                <a:solidFill>
                  <a:srgbClr val="6E8A5E"/>
                </a:solidFill>
                <a:latin typeface="Consolas"/>
              </a:rPr>
              <a:t>-- ベクトルで問合せ</a:t>
            </a:r>
          </a:p>
          <a:p>
            <a:pPr algn="l">
              <a:lnSpc>
                <a:spcPct val="106000"/>
              </a:lnSpc>
              <a:spcBef>
                <a:spcPts val="0"/>
              </a:spcBef>
              <a:spcAft>
                <a:spcPts val="0"/>
              </a:spcAft>
            </a:pPr>
            <a:r>
              <a:rPr sz="950" b="0">
                <a:solidFill>
                  <a:srgbClr val="182A3E"/>
                </a:solidFill>
                <a:latin typeface="Consolas"/>
              </a:rPr>
              <a:t> </a:t>
            </a:r>
          </a:p>
          <a:p>
            <a:pPr algn="l">
              <a:lnSpc>
                <a:spcPct val="106000"/>
              </a:lnSpc>
              <a:spcBef>
                <a:spcPts val="0"/>
              </a:spcBef>
              <a:spcAft>
                <a:spcPts val="0"/>
              </a:spcAft>
            </a:pPr>
            <a:r>
              <a:rPr sz="950" b="0">
                <a:solidFill>
                  <a:srgbClr val="182A3E"/>
                </a:solidFill>
                <a:latin typeface="Consolas"/>
              </a:rPr>
              <a:t> intl_id  name    year  dist</a:t>
            </a:r>
          </a:p>
          <a:p>
            <a:pPr algn="l">
              <a:lnSpc>
                <a:spcPct val="106000"/>
              </a:lnSpc>
              <a:spcBef>
                <a:spcPts val="0"/>
              </a:spcBef>
              <a:spcAft>
                <a:spcPts val="0"/>
              </a:spcAft>
            </a:pPr>
            <a:r>
              <a:rPr sz="950" b="0">
                <a:solidFill>
                  <a:srgbClr val="182A3E"/>
                </a:solidFill>
                <a:latin typeface="Consolas"/>
              </a:rPr>
              <a:t> 9922   Gloria   1999  0.0000</a:t>
            </a:r>
          </a:p>
          <a:p>
            <a:pPr algn="l">
              <a:lnSpc>
                <a:spcPct val="106000"/>
              </a:lnSpc>
              <a:spcBef>
                <a:spcPts val="0"/>
              </a:spcBef>
              <a:spcAft>
                <a:spcPts val="0"/>
              </a:spcAft>
            </a:pPr>
            <a:r>
              <a:rPr sz="950" b="0">
                <a:solidFill>
                  <a:srgbClr val="182A3E"/>
                </a:solidFill>
                <a:latin typeface="Consolas"/>
              </a:rPr>
              <a:t> 9607   Gloria   1996  0.0130</a:t>
            </a:r>
          </a:p>
          <a:p>
            <a:pPr algn="l">
              <a:lnSpc>
                <a:spcPct val="106000"/>
              </a:lnSpc>
              <a:spcBef>
                <a:spcPts val="0"/>
              </a:spcBef>
              <a:spcAft>
                <a:spcPts val="0"/>
              </a:spcAft>
            </a:pPr>
            <a:r>
              <a:rPr sz="950" b="0">
                <a:solidFill>
                  <a:srgbClr val="182A3E"/>
                </a:solidFill>
                <a:latin typeface="Consolas"/>
              </a:rPr>
              <a:t> 6534   Gloria   1965  0.0168</a:t>
            </a:r>
          </a:p>
          <a:p>
            <a:pPr algn="l">
              <a:lnSpc>
                <a:spcPct val="106000"/>
              </a:lnSpc>
              <a:spcBef>
                <a:spcPts val="0"/>
              </a:spcBef>
              <a:spcAft>
                <a:spcPts val="0"/>
              </a:spcAft>
            </a:pPr>
            <a:r>
              <a:rPr sz="950" b="0">
                <a:solidFill>
                  <a:srgbClr val="182A3E"/>
                </a:solidFill>
                <a:latin typeface="Consolas"/>
              </a:rPr>
              <a:t> 7815   Gloria   1978  0.0175</a:t>
            </a:r>
          </a:p>
          <a:p>
            <a:pPr algn="l">
              <a:lnSpc>
                <a:spcPct val="106000"/>
              </a:lnSpc>
              <a:spcBef>
                <a:spcPts val="0"/>
              </a:spcBef>
              <a:spcAft>
                <a:spcPts val="0"/>
              </a:spcAft>
            </a:pPr>
            <a:r>
              <a:rPr sz="950" b="0">
                <a:solidFill>
                  <a:srgbClr val="182A3E"/>
                </a:solidFill>
                <a:latin typeface="Consolas"/>
              </a:rPr>
              <a:t> 5226   Gloria   1952  0.0325</a:t>
            </a:r>
          </a:p>
          <a:p>
            <a:pPr algn="l">
              <a:lnSpc>
                <a:spcPct val="106000"/>
              </a:lnSpc>
              <a:spcBef>
                <a:spcPts val="0"/>
              </a:spcBef>
              <a:spcAft>
                <a:spcPts val="0"/>
              </a:spcAft>
            </a:pPr>
            <a:r>
              <a:rPr sz="950" b="0">
                <a:solidFill>
                  <a:srgbClr val="182A3E"/>
                </a:solidFill>
                <a:latin typeface="Consolas"/>
              </a:rPr>
              <a:t> </a:t>
            </a:r>
          </a:p>
          <a:p>
            <a:pPr algn="l">
              <a:lnSpc>
                <a:spcPct val="106000"/>
              </a:lnSpc>
              <a:spcBef>
                <a:spcPts val="0"/>
              </a:spcBef>
              <a:spcAft>
                <a:spcPts val="0"/>
              </a:spcAft>
            </a:pPr>
            <a:r>
              <a:rPr sz="950" b="0">
                <a:solidFill>
                  <a:srgbClr val="D1661E"/>
                </a:solidFill>
                <a:latin typeface="Consolas"/>
              </a:rPr>
              <a:t>=&gt; 語句一致ではなく意味で</a:t>
            </a:r>
          </a:p>
          <a:p>
            <a:pPr algn="l">
              <a:lnSpc>
                <a:spcPct val="106000"/>
              </a:lnSpc>
              <a:spcBef>
                <a:spcPts val="0"/>
              </a:spcBef>
              <a:spcAft>
                <a:spcPts val="0"/>
              </a:spcAft>
            </a:pPr>
            <a:r>
              <a:rPr sz="950" b="0">
                <a:solidFill>
                  <a:srgbClr val="182A3E"/>
                </a:solidFill>
                <a:latin typeface="Consolas"/>
              </a:rPr>
              <a:t>   近い台風が引ける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5. 関数 ② 時空間的選択 — fn_typhoons_in_bbox()</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主要クエリ Q2 の関数化 : 矩形 × 時間窓を通過した台風を返す</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12</a:t>
            </a:r>
          </a:p>
        </p:txBody>
      </p:sp>
      <p:sp>
        <p:nvSpPr>
          <p:cNvPr id="7" name="Rectangle 6"/>
          <p:cNvSpPr/>
          <p:nvPr/>
        </p:nvSpPr>
        <p:spPr>
          <a:xfrm>
            <a:off x="685800" y="1207008"/>
            <a:ext cx="690372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関数定義</a:t>
            </a:r>
          </a:p>
        </p:txBody>
      </p:sp>
      <p:sp>
        <p:nvSpPr>
          <p:cNvPr id="8" name="Rectangle 7"/>
          <p:cNvSpPr/>
          <p:nvPr/>
        </p:nvSpPr>
        <p:spPr>
          <a:xfrm>
            <a:off x="685800" y="1481328"/>
            <a:ext cx="6903720" cy="466344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647688" cy="4480560"/>
          </a:xfrm>
          <a:prstGeom prst="rect">
            <a:avLst/>
          </a:prstGeom>
          <a:noFill/>
        </p:spPr>
        <p:txBody>
          <a:bodyPr wrap="none" lIns="0" rIns="0" tIns="0" bIns="0">
            <a:spAutoFit/>
          </a:bodyPr>
          <a:lstStyle/>
          <a:p>
            <a:pPr algn="l">
              <a:lnSpc>
                <a:spcPct val="106000"/>
              </a:lnSpc>
              <a:spcBef>
                <a:spcPts val="0"/>
              </a:spcBef>
              <a:spcAft>
                <a:spcPts val="0"/>
              </a:spcAft>
            </a:pPr>
            <a:r>
              <a:rPr sz="1050" b="0">
                <a:solidFill>
                  <a:srgbClr val="182A3E"/>
                </a:solidFill>
                <a:latin typeface="Consolas"/>
              </a:rPr>
              <a:t>CREATE OR REPLACE FUNCTION fn_typhoons_in_bbox(</a:t>
            </a:r>
          </a:p>
          <a:p>
            <a:pPr algn="l">
              <a:lnSpc>
                <a:spcPct val="106000"/>
              </a:lnSpc>
              <a:spcBef>
                <a:spcPts val="0"/>
              </a:spcBef>
              <a:spcAft>
                <a:spcPts val="0"/>
              </a:spcAft>
            </a:pPr>
            <a:r>
              <a:rPr sz="1050" b="0">
                <a:solidFill>
                  <a:srgbClr val="182A3E"/>
                </a:solidFill>
                <a:latin typeface="Consolas"/>
              </a:rPr>
              <a:t>    p_min_lon double precision, p_min_lat double precision,</a:t>
            </a:r>
          </a:p>
          <a:p>
            <a:pPr algn="l">
              <a:lnSpc>
                <a:spcPct val="106000"/>
              </a:lnSpc>
              <a:spcBef>
                <a:spcPts val="0"/>
              </a:spcBef>
              <a:spcAft>
                <a:spcPts val="0"/>
              </a:spcAft>
            </a:pPr>
            <a:r>
              <a:rPr sz="1050" b="0">
                <a:solidFill>
                  <a:srgbClr val="182A3E"/>
                </a:solidFill>
                <a:latin typeface="Consolas"/>
              </a:rPr>
              <a:t>    p_max_lon double precision, p_max_lat double precision,</a:t>
            </a:r>
          </a:p>
          <a:p>
            <a:pPr algn="l">
              <a:lnSpc>
                <a:spcPct val="106000"/>
              </a:lnSpc>
              <a:spcBef>
                <a:spcPts val="0"/>
              </a:spcBef>
              <a:spcAft>
                <a:spcPts val="0"/>
              </a:spcAft>
            </a:pPr>
            <a:r>
              <a:rPr sz="1050" b="0">
                <a:solidFill>
                  <a:srgbClr val="182A3E"/>
                </a:solidFill>
                <a:latin typeface="Consolas"/>
              </a:rPr>
              <a:t>    p_from timestamptz DEFAULT NULL,</a:t>
            </a:r>
          </a:p>
          <a:p>
            <a:pPr algn="l">
              <a:lnSpc>
                <a:spcPct val="106000"/>
              </a:lnSpc>
              <a:spcBef>
                <a:spcPts val="0"/>
              </a:spcBef>
              <a:spcAft>
                <a:spcPts val="0"/>
              </a:spcAft>
            </a:pPr>
            <a:r>
              <a:rPr sz="1050" b="0">
                <a:solidFill>
                  <a:srgbClr val="182A3E"/>
                </a:solidFill>
                <a:latin typeface="Consolas"/>
              </a:rPr>
              <a:t>    p_to   timestamptz DEFAULT NULL)</a:t>
            </a:r>
          </a:p>
          <a:p>
            <a:pPr algn="l">
              <a:lnSpc>
                <a:spcPct val="106000"/>
              </a:lnSpc>
              <a:spcBef>
                <a:spcPts val="0"/>
              </a:spcBef>
              <a:spcAft>
                <a:spcPts val="0"/>
              </a:spcAft>
            </a:pPr>
            <a:r>
              <a:rPr sz="1050" b="0">
                <a:solidFill>
                  <a:srgbClr val="182A3E"/>
                </a:solidFill>
                <a:latin typeface="Consolas"/>
              </a:rPr>
              <a:t>RETURNS TABLE (</a:t>
            </a:r>
          </a:p>
          <a:p>
            <a:pPr algn="l">
              <a:lnSpc>
                <a:spcPct val="106000"/>
              </a:lnSpc>
              <a:spcBef>
                <a:spcPts val="0"/>
              </a:spcBef>
              <a:spcAft>
                <a:spcPts val="0"/>
              </a:spcAft>
            </a:pPr>
            <a:r>
              <a:rPr sz="1050" b="0">
                <a:solidFill>
                  <a:srgbClr val="182A3E"/>
                </a:solidFill>
                <a:latin typeface="Consolas"/>
              </a:rPr>
              <a:t>    id int, intl_id varchar, name varchar, season_year int,</a:t>
            </a:r>
          </a:p>
          <a:p>
            <a:pPr algn="l">
              <a:lnSpc>
                <a:spcPct val="106000"/>
              </a:lnSpc>
              <a:spcBef>
                <a:spcPts val="0"/>
              </a:spcBef>
              <a:spcAft>
                <a:spcPts val="0"/>
              </a:spcAft>
            </a:pPr>
            <a:r>
              <a:rPr sz="1050" b="0">
                <a:solidFill>
                  <a:srgbClr val="182A3E"/>
                </a:solidFill>
                <a:latin typeface="Consolas"/>
              </a:rPr>
              <a:t>    max_wind_kt double precision,</a:t>
            </a:r>
          </a:p>
          <a:p>
            <a:pPr algn="l">
              <a:lnSpc>
                <a:spcPct val="106000"/>
              </a:lnSpc>
              <a:spcBef>
                <a:spcPts val="0"/>
              </a:spcBef>
              <a:spcAft>
                <a:spcPts val="0"/>
              </a:spcAft>
            </a:pPr>
            <a:r>
              <a:rPr sz="1050" b="0">
                <a:solidFill>
                  <a:srgbClr val="182A3E"/>
                </a:solidFill>
                <a:latin typeface="Consolas"/>
              </a:rPr>
              <a:t>    hit_points bigint, first_hit timestamptz</a:t>
            </a:r>
          </a:p>
          <a:p>
            <a:pPr algn="l">
              <a:lnSpc>
                <a:spcPct val="106000"/>
              </a:lnSpc>
              <a:spcBef>
                <a:spcPts val="0"/>
              </a:spcBef>
              <a:spcAft>
                <a:spcPts val="0"/>
              </a:spcAft>
            </a:pPr>
            <a:r>
              <a:rPr sz="1050" b="0">
                <a:solidFill>
                  <a:srgbClr val="182A3E"/>
                </a:solidFill>
                <a:latin typeface="Consolas"/>
              </a:rPr>
              <a:t>) AS $$</a:t>
            </a:r>
          </a:p>
          <a:p>
            <a:pPr algn="l">
              <a:lnSpc>
                <a:spcPct val="106000"/>
              </a:lnSpc>
              <a:spcBef>
                <a:spcPts val="0"/>
              </a:spcBef>
              <a:spcAft>
                <a:spcPts val="0"/>
              </a:spcAft>
            </a:pPr>
            <a:r>
              <a:rPr sz="1050" b="0">
                <a:solidFill>
                  <a:srgbClr val="182A3E"/>
                </a:solidFill>
                <a:latin typeface="Consolas"/>
              </a:rPr>
              <a:t>    SELECT t.id, t.intl_id, t.name, t.season_year, t.max_wind_kt,</a:t>
            </a:r>
          </a:p>
          <a:p>
            <a:pPr algn="l">
              <a:lnSpc>
                <a:spcPct val="106000"/>
              </a:lnSpc>
              <a:spcBef>
                <a:spcPts val="0"/>
              </a:spcBef>
              <a:spcAft>
                <a:spcPts val="0"/>
              </a:spcAft>
            </a:pPr>
            <a:r>
              <a:rPr sz="1050" b="0">
                <a:solidFill>
                  <a:srgbClr val="182A3E"/>
                </a:solidFill>
                <a:latin typeface="Consolas"/>
              </a:rPr>
              <a:t>           COUNT(*)         AS hit_points,   -- 矩形内の通過点数</a:t>
            </a:r>
          </a:p>
          <a:p>
            <a:pPr algn="l">
              <a:lnSpc>
                <a:spcPct val="106000"/>
              </a:lnSpc>
              <a:spcBef>
                <a:spcPts val="0"/>
              </a:spcBef>
              <a:spcAft>
                <a:spcPts val="0"/>
              </a:spcAft>
            </a:pPr>
            <a:r>
              <a:rPr sz="1050" b="0">
                <a:solidFill>
                  <a:srgbClr val="182A3E"/>
                </a:solidFill>
                <a:latin typeface="Consolas"/>
              </a:rPr>
              <a:t>           MIN(tp.obs_time) AS first_hit     -- 初回通過時刻</a:t>
            </a:r>
          </a:p>
          <a:p>
            <a:pPr algn="l">
              <a:lnSpc>
                <a:spcPct val="106000"/>
              </a:lnSpc>
              <a:spcBef>
                <a:spcPts val="0"/>
              </a:spcBef>
              <a:spcAft>
                <a:spcPts val="0"/>
              </a:spcAft>
            </a:pPr>
            <a:r>
              <a:rPr sz="1050" b="0">
                <a:solidFill>
                  <a:srgbClr val="182A3E"/>
                </a:solidFill>
                <a:latin typeface="Consolas"/>
              </a:rPr>
              <a:t>      FROM typhoon t</a:t>
            </a:r>
          </a:p>
          <a:p>
            <a:pPr algn="l">
              <a:lnSpc>
                <a:spcPct val="106000"/>
              </a:lnSpc>
              <a:spcBef>
                <a:spcPts val="0"/>
              </a:spcBef>
              <a:spcAft>
                <a:spcPts val="0"/>
              </a:spcAft>
            </a:pPr>
            <a:r>
              <a:rPr sz="1050" b="0">
                <a:solidFill>
                  <a:srgbClr val="182A3E"/>
                </a:solidFill>
                <a:latin typeface="Consolas"/>
              </a:rPr>
              <a:t>      JOIN track_point tp ON tp.typhoon_id = t.id</a:t>
            </a:r>
          </a:p>
          <a:p>
            <a:pPr algn="l">
              <a:lnSpc>
                <a:spcPct val="106000"/>
              </a:lnSpc>
              <a:spcBef>
                <a:spcPts val="0"/>
              </a:spcBef>
              <a:spcAft>
                <a:spcPts val="0"/>
              </a:spcAft>
            </a:pPr>
            <a:r>
              <a:rPr sz="1050" b="0">
                <a:solidFill>
                  <a:srgbClr val="182A3E"/>
                </a:solidFill>
                <a:latin typeface="Consolas"/>
              </a:rPr>
              <a:t>     WHERE ST_Intersects(tp.geom,            -- GiST 索引が効く</a:t>
            </a:r>
          </a:p>
          <a:p>
            <a:pPr algn="l">
              <a:lnSpc>
                <a:spcPct val="106000"/>
              </a:lnSpc>
              <a:spcBef>
                <a:spcPts val="0"/>
              </a:spcBef>
              <a:spcAft>
                <a:spcPts val="0"/>
              </a:spcAft>
            </a:pPr>
            <a:r>
              <a:rPr sz="1050" b="0">
                <a:solidFill>
                  <a:srgbClr val="182A3E"/>
                </a:solidFill>
                <a:latin typeface="Consolas"/>
              </a:rPr>
              <a:t>               ST_MakeEnvelope(p_min_lon, p_min_lat,</a:t>
            </a:r>
          </a:p>
          <a:p>
            <a:pPr algn="l">
              <a:lnSpc>
                <a:spcPct val="106000"/>
              </a:lnSpc>
              <a:spcBef>
                <a:spcPts val="0"/>
              </a:spcBef>
              <a:spcAft>
                <a:spcPts val="0"/>
              </a:spcAft>
            </a:pPr>
            <a:r>
              <a:rPr sz="1050" b="0">
                <a:solidFill>
                  <a:srgbClr val="182A3E"/>
                </a:solidFill>
                <a:latin typeface="Consolas"/>
              </a:rPr>
              <a:t>                               p_max_lon, p_max_lat, 4326))</a:t>
            </a:r>
          </a:p>
          <a:p>
            <a:pPr algn="l">
              <a:lnSpc>
                <a:spcPct val="106000"/>
              </a:lnSpc>
              <a:spcBef>
                <a:spcPts val="0"/>
              </a:spcBef>
              <a:spcAft>
                <a:spcPts val="0"/>
              </a:spcAft>
            </a:pPr>
            <a:r>
              <a:rPr sz="1050" b="0">
                <a:solidFill>
                  <a:srgbClr val="182A3E"/>
                </a:solidFill>
                <a:latin typeface="Consolas"/>
              </a:rPr>
              <a:t>       AND (p_from IS NULL OR tp.obs_time &gt;= p_from)</a:t>
            </a:r>
          </a:p>
          <a:p>
            <a:pPr algn="l">
              <a:lnSpc>
                <a:spcPct val="106000"/>
              </a:lnSpc>
              <a:spcBef>
                <a:spcPts val="0"/>
              </a:spcBef>
              <a:spcAft>
                <a:spcPts val="0"/>
              </a:spcAft>
            </a:pPr>
            <a:r>
              <a:rPr sz="1050" b="0">
                <a:solidFill>
                  <a:srgbClr val="182A3E"/>
                </a:solidFill>
                <a:latin typeface="Consolas"/>
              </a:rPr>
              <a:t>       AND (p_to   IS NULL OR tp.obs_time &lt;= p_to)</a:t>
            </a:r>
          </a:p>
          <a:p>
            <a:pPr algn="l">
              <a:lnSpc>
                <a:spcPct val="106000"/>
              </a:lnSpc>
              <a:spcBef>
                <a:spcPts val="0"/>
              </a:spcBef>
              <a:spcAft>
                <a:spcPts val="0"/>
              </a:spcAft>
            </a:pPr>
            <a:r>
              <a:rPr sz="1050" b="0">
                <a:solidFill>
                  <a:srgbClr val="182A3E"/>
                </a:solidFill>
                <a:latin typeface="Consolas"/>
              </a:rPr>
              <a:t>     GROUP BY t.id, t.intl_id, t.name, t.season_year, t.max_wind_kt</a:t>
            </a:r>
          </a:p>
          <a:p>
            <a:pPr algn="l">
              <a:lnSpc>
                <a:spcPct val="106000"/>
              </a:lnSpc>
              <a:spcBef>
                <a:spcPts val="0"/>
              </a:spcBef>
              <a:spcAft>
                <a:spcPts val="0"/>
              </a:spcAft>
            </a:pPr>
            <a:r>
              <a:rPr sz="1050" b="0">
                <a:solidFill>
                  <a:srgbClr val="182A3E"/>
                </a:solidFill>
                <a:latin typeface="Consolas"/>
              </a:rPr>
              <a:t>     ORDER BY MIN(tp.obs_time) DESC;</a:t>
            </a:r>
          </a:p>
          <a:p>
            <a:pPr algn="l">
              <a:lnSpc>
                <a:spcPct val="106000"/>
              </a:lnSpc>
              <a:spcBef>
                <a:spcPts val="0"/>
              </a:spcBef>
              <a:spcAft>
                <a:spcPts val="0"/>
              </a:spcAft>
            </a:pPr>
            <a:r>
              <a:rPr sz="1050" b="0">
                <a:solidFill>
                  <a:srgbClr val="182A3E"/>
                </a:solidFill>
                <a:latin typeface="Consolas"/>
              </a:rPr>
              <a:t>$$ LANGUAGE sql STABLE;</a:t>
            </a:r>
          </a:p>
        </p:txBody>
      </p:sp>
      <p:sp>
        <p:nvSpPr>
          <p:cNvPr id="10" name="Rectangle 9"/>
          <p:cNvSpPr/>
          <p:nvPr/>
        </p:nvSpPr>
        <p:spPr>
          <a:xfrm>
            <a:off x="7818120" y="1207008"/>
            <a:ext cx="3749039"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呼び出し</a:t>
            </a:r>
          </a:p>
        </p:txBody>
      </p:sp>
      <p:sp>
        <p:nvSpPr>
          <p:cNvPr id="11" name="Rectangle 10"/>
          <p:cNvSpPr/>
          <p:nvPr/>
        </p:nvSpPr>
        <p:spPr>
          <a:xfrm>
            <a:off x="7818120" y="1481328"/>
            <a:ext cx="3749039" cy="132588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46136" y="1572768"/>
            <a:ext cx="3493007" cy="1143000"/>
          </a:xfrm>
          <a:prstGeom prst="rect">
            <a:avLst/>
          </a:prstGeom>
          <a:noFill/>
        </p:spPr>
        <p:txBody>
          <a:bodyPr wrap="none" lIns="0" rIns="0" tIns="0" bIns="0">
            <a:spAutoFit/>
          </a:bodyPr>
          <a:lstStyle/>
          <a:p>
            <a:pPr algn="l">
              <a:lnSpc>
                <a:spcPct val="106000"/>
              </a:lnSpc>
              <a:spcBef>
                <a:spcPts val="0"/>
              </a:spcBef>
              <a:spcAft>
                <a:spcPts val="0"/>
              </a:spcAft>
            </a:pPr>
            <a:r>
              <a:rPr sz="1000" b="0">
                <a:solidFill>
                  <a:srgbClr val="6E8A5E"/>
                </a:solidFill>
                <a:latin typeface="Consolas"/>
              </a:rPr>
              <a:t>-- 呼び出し例</a:t>
            </a:r>
          </a:p>
          <a:p>
            <a:pPr algn="l">
              <a:lnSpc>
                <a:spcPct val="106000"/>
              </a:lnSpc>
              <a:spcBef>
                <a:spcPts val="0"/>
              </a:spcBef>
              <a:spcAft>
                <a:spcPts val="0"/>
              </a:spcAft>
            </a:pPr>
            <a:r>
              <a:rPr sz="1000" b="0">
                <a:solidFill>
                  <a:srgbClr val="182A3E"/>
                </a:solidFill>
                <a:latin typeface="Consolas"/>
              </a:rPr>
              <a:t>SELECT * FROM</a:t>
            </a:r>
          </a:p>
          <a:p>
            <a:pPr algn="l">
              <a:lnSpc>
                <a:spcPct val="106000"/>
              </a:lnSpc>
              <a:spcBef>
                <a:spcPts val="0"/>
              </a:spcBef>
              <a:spcAft>
                <a:spcPts val="0"/>
              </a:spcAft>
            </a:pPr>
            <a:r>
              <a:rPr sz="1000" b="0">
                <a:solidFill>
                  <a:srgbClr val="182A3E"/>
                </a:solidFill>
                <a:latin typeface="Consolas"/>
              </a:rPr>
              <a:t> fn_typhoons_in_bbox(</a:t>
            </a:r>
          </a:p>
          <a:p>
            <a:pPr algn="l">
              <a:lnSpc>
                <a:spcPct val="106000"/>
              </a:lnSpc>
              <a:spcBef>
                <a:spcPts val="0"/>
              </a:spcBef>
              <a:spcAft>
                <a:spcPts val="0"/>
              </a:spcAft>
            </a:pPr>
            <a:r>
              <a:rPr sz="1000" b="0">
                <a:solidFill>
                  <a:srgbClr val="182A3E"/>
                </a:solidFill>
                <a:latin typeface="Consolas"/>
              </a:rPr>
              <a:t>   120, 20, 135, 30,</a:t>
            </a:r>
          </a:p>
          <a:p>
            <a:pPr algn="l">
              <a:lnSpc>
                <a:spcPct val="106000"/>
              </a:lnSpc>
              <a:spcBef>
                <a:spcPts val="0"/>
              </a:spcBef>
              <a:spcAft>
                <a:spcPts val="0"/>
              </a:spcAft>
            </a:pPr>
            <a:r>
              <a:rPr sz="1000" b="0">
                <a:solidFill>
                  <a:srgbClr val="182A3E"/>
                </a:solidFill>
                <a:latin typeface="Consolas"/>
              </a:rPr>
              <a:t>   '2023-07-01','2023-09-30');</a:t>
            </a:r>
          </a:p>
        </p:txBody>
      </p:sp>
      <p:sp>
        <p:nvSpPr>
          <p:cNvPr id="13" name="Rectangle 12"/>
          <p:cNvSpPr/>
          <p:nvPr/>
        </p:nvSpPr>
        <p:spPr>
          <a:xfrm>
            <a:off x="7818120" y="2971800"/>
            <a:ext cx="3749039"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検証</a:t>
            </a:r>
          </a:p>
        </p:txBody>
      </p:sp>
      <p:sp>
        <p:nvSpPr>
          <p:cNvPr id="14" name="Rectangle 13"/>
          <p:cNvSpPr/>
          <p:nvPr/>
        </p:nvSpPr>
        <p:spPr>
          <a:xfrm>
            <a:off x="7818120" y="3246120"/>
            <a:ext cx="3749039" cy="141732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46136" y="3337560"/>
            <a:ext cx="3493007" cy="1234440"/>
          </a:xfrm>
          <a:prstGeom prst="rect">
            <a:avLst/>
          </a:prstGeom>
          <a:noFill/>
        </p:spPr>
        <p:txBody>
          <a:bodyPr wrap="none" lIns="0" rIns="0" tIns="0" bIns="0">
            <a:spAutoFit/>
          </a:bodyPr>
          <a:lstStyle/>
          <a:p>
            <a:pPr algn="l">
              <a:lnSpc>
                <a:spcPct val="106000"/>
              </a:lnSpc>
              <a:spcBef>
                <a:spcPts val="0"/>
              </a:spcBef>
              <a:spcAft>
                <a:spcPts val="0"/>
              </a:spcAft>
            </a:pPr>
            <a:r>
              <a:rPr sz="950" b="0">
                <a:solidFill>
                  <a:srgbClr val="6E8A5E"/>
                </a:solidFill>
                <a:latin typeface="Consolas"/>
              </a:rPr>
              <a:t>-- 実行結果 (実測)</a:t>
            </a:r>
          </a:p>
          <a:p>
            <a:pPr algn="l">
              <a:lnSpc>
                <a:spcPct val="106000"/>
              </a:lnSpc>
              <a:spcBef>
                <a:spcPts val="0"/>
              </a:spcBef>
              <a:spcAft>
                <a:spcPts val="0"/>
              </a:spcAft>
            </a:pPr>
            <a:r>
              <a:rPr sz="950" b="0">
                <a:solidFill>
                  <a:srgbClr val="182A3E"/>
                </a:solidFill>
                <a:latin typeface="Consolas"/>
              </a:rPr>
              <a:t> intl_id  name        hits</a:t>
            </a:r>
          </a:p>
          <a:p>
            <a:pPr algn="l">
              <a:lnSpc>
                <a:spcPct val="106000"/>
              </a:lnSpc>
              <a:spcBef>
                <a:spcPts val="0"/>
              </a:spcBef>
              <a:spcAft>
                <a:spcPts val="0"/>
              </a:spcAft>
            </a:pPr>
            <a:r>
              <a:rPr sz="950" b="0">
                <a:solidFill>
                  <a:srgbClr val="182A3E"/>
                </a:solidFill>
                <a:latin typeface="Consolas"/>
              </a:rPr>
              <a:t> 2312  Kirogi          2</a:t>
            </a:r>
          </a:p>
          <a:p>
            <a:pPr algn="l">
              <a:lnSpc>
                <a:spcPct val="106000"/>
              </a:lnSpc>
              <a:spcBef>
                <a:spcPts val="0"/>
              </a:spcBef>
              <a:spcAft>
                <a:spcPts val="0"/>
              </a:spcAft>
            </a:pPr>
            <a:r>
              <a:rPr sz="950" b="0">
                <a:solidFill>
                  <a:srgbClr val="182A3E"/>
                </a:solidFill>
                <a:latin typeface="Consolas"/>
              </a:rPr>
              <a:t> 2313  Yun-Yeung      28</a:t>
            </a:r>
          </a:p>
          <a:p>
            <a:pPr algn="l">
              <a:lnSpc>
                <a:spcPct val="106000"/>
              </a:lnSpc>
              <a:spcBef>
                <a:spcPts val="0"/>
              </a:spcBef>
              <a:spcAft>
                <a:spcPts val="0"/>
              </a:spcAft>
            </a:pPr>
            <a:r>
              <a:rPr sz="950" b="0">
                <a:solidFill>
                  <a:srgbClr val="182A3E"/>
                </a:solidFill>
                <a:latin typeface="Consolas"/>
              </a:rPr>
              <a:t> 2311  Haikui         61</a:t>
            </a:r>
          </a:p>
          <a:p>
            <a:pPr algn="l">
              <a:lnSpc>
                <a:spcPct val="106000"/>
              </a:lnSpc>
              <a:spcBef>
                <a:spcPts val="0"/>
              </a:spcBef>
              <a:spcAft>
                <a:spcPts val="0"/>
              </a:spcAft>
            </a:pPr>
            <a:r>
              <a:rPr sz="950" b="0">
                <a:solidFill>
                  <a:srgbClr val="182A3E"/>
                </a:solidFill>
                <a:latin typeface="Consolas"/>
              </a:rPr>
              <a:t> 2309  Saola          18</a:t>
            </a:r>
          </a:p>
          <a:p>
            <a:pPr algn="l">
              <a:lnSpc>
                <a:spcPct val="106000"/>
              </a:lnSpc>
              <a:spcBef>
                <a:spcPts val="0"/>
              </a:spcBef>
              <a:spcAft>
                <a:spcPts val="0"/>
              </a:spcAft>
            </a:pPr>
            <a:r>
              <a:rPr sz="950" b="0">
                <a:solidFill>
                  <a:srgbClr val="182A3E"/>
                </a:solidFill>
                <a:latin typeface="Consolas"/>
              </a:rPr>
              <a:t> 2306  Khanun        147</a:t>
            </a:r>
          </a:p>
        </p:txBody>
      </p:sp>
      <p:sp>
        <p:nvSpPr>
          <p:cNvPr id="16" name="Rectangle 15"/>
          <p:cNvSpPr/>
          <p:nvPr/>
        </p:nvSpPr>
        <p:spPr>
          <a:xfrm>
            <a:off x="7818120" y="4828032"/>
            <a:ext cx="3749039" cy="1298448"/>
          </a:xfrm>
          <a:prstGeom prst="rect">
            <a:avLst/>
          </a:prstGeom>
          <a:solidFill>
            <a:srgbClr val="ECF6F6"/>
          </a:solidFill>
          <a:ln w="12700">
            <a:solidFill>
              <a:srgbClr val="1F5C9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82712" y="4937760"/>
            <a:ext cx="3419856" cy="1078992"/>
          </a:xfrm>
          <a:prstGeom prst="rect">
            <a:avLst/>
          </a:prstGeom>
          <a:noFill/>
        </p:spPr>
        <p:txBody>
          <a:bodyPr wrap="square" lIns="0" rIns="0" tIns="0" bIns="0">
            <a:spAutoFit/>
          </a:bodyPr>
          <a:lstStyle/>
          <a:p>
            <a:pPr algn="l">
              <a:lnSpc>
                <a:spcPct val="115000"/>
              </a:lnSpc>
              <a:spcBef>
                <a:spcPts val="0"/>
              </a:spcBef>
              <a:spcAft>
                <a:spcPts val="0"/>
              </a:spcAft>
            </a:pPr>
            <a:r>
              <a:rPr sz="1200" b="0">
                <a:solidFill>
                  <a:srgbClr val="0B4C4C"/>
                </a:solidFill>
                <a:latin typeface="Meiryo"/>
              </a:rPr>
              <a:t>hit_points が矩形内の滞留の長さを表す。Khanun は 147 点 (約 1 か月) 同海域に停滞しており、迷走台風であったことが数値から読み取れる。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5. 関数 ③ 地理影響集計 — fn_region_landfall_count()</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主要クエリ Q5 : 経路を実在の行政境界に帰属させ、上陸頻度として集計する</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13</a:t>
            </a:r>
          </a:p>
        </p:txBody>
      </p:sp>
      <p:sp>
        <p:nvSpPr>
          <p:cNvPr id="7" name="Rectangle 6"/>
          <p:cNvSpPr/>
          <p:nvPr/>
        </p:nvSpPr>
        <p:spPr>
          <a:xfrm>
            <a:off x="685800" y="1207008"/>
            <a:ext cx="690372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関数定義</a:t>
            </a:r>
          </a:p>
        </p:txBody>
      </p:sp>
      <p:sp>
        <p:nvSpPr>
          <p:cNvPr id="8" name="Rectangle 7"/>
          <p:cNvSpPr/>
          <p:nvPr/>
        </p:nvSpPr>
        <p:spPr>
          <a:xfrm>
            <a:off x="685800" y="1481328"/>
            <a:ext cx="6903720" cy="466344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647688" cy="4480560"/>
          </a:xfrm>
          <a:prstGeom prst="rect">
            <a:avLst/>
          </a:prstGeom>
          <a:noFill/>
        </p:spPr>
        <p:txBody>
          <a:bodyPr wrap="none" lIns="0" rIns="0" tIns="0" bIns="0">
            <a:spAutoFit/>
          </a:bodyPr>
          <a:lstStyle/>
          <a:p>
            <a:pPr algn="l">
              <a:lnSpc>
                <a:spcPct val="106000"/>
              </a:lnSpc>
              <a:spcBef>
                <a:spcPts val="0"/>
              </a:spcBef>
              <a:spcAft>
                <a:spcPts val="0"/>
              </a:spcAft>
            </a:pPr>
            <a:r>
              <a:rPr sz="1019" b="0">
                <a:solidFill>
                  <a:srgbClr val="182A3E"/>
                </a:solidFill>
                <a:latin typeface="Consolas"/>
              </a:rPr>
              <a:t>CREATE OR REPLACE FUNCTION fn_region_landfall_count(</a:t>
            </a:r>
          </a:p>
          <a:p>
            <a:pPr algn="l">
              <a:lnSpc>
                <a:spcPct val="106000"/>
              </a:lnSpc>
              <a:spcBef>
                <a:spcPts val="0"/>
              </a:spcBef>
              <a:spcAft>
                <a:spcPts val="0"/>
              </a:spcAft>
            </a:pPr>
            <a:r>
              <a:rPr sz="1019" b="0">
                <a:solidFill>
                  <a:srgbClr val="182A3E"/>
                </a:solidFill>
                <a:latin typeface="Consolas"/>
              </a:rPr>
              <a:t>    p_region_id int, p_min_year int DEFAULT NULL,</a:t>
            </a:r>
          </a:p>
          <a:p>
            <a:pPr algn="l">
              <a:lnSpc>
                <a:spcPct val="106000"/>
              </a:lnSpc>
              <a:spcBef>
                <a:spcPts val="0"/>
              </a:spcBef>
              <a:spcAft>
                <a:spcPts val="0"/>
              </a:spcAft>
            </a:pPr>
            <a:r>
              <a:rPr sz="1019" b="0">
                <a:solidFill>
                  <a:srgbClr val="182A3E"/>
                </a:solidFill>
                <a:latin typeface="Consolas"/>
              </a:rPr>
              <a:t>    p_max_year  int DEFAULT NULL) RETURNS bigint AS $$</a:t>
            </a:r>
          </a:p>
          <a:p>
            <a:pPr algn="l">
              <a:lnSpc>
                <a:spcPct val="106000"/>
              </a:lnSpc>
              <a:spcBef>
                <a:spcPts val="0"/>
              </a:spcBef>
              <a:spcAft>
                <a:spcPts val="0"/>
              </a:spcAft>
            </a:pPr>
            <a:r>
              <a:rPr sz="1019" b="0">
                <a:solidFill>
                  <a:srgbClr val="182A3E"/>
                </a:solidFill>
                <a:latin typeface="Consolas"/>
              </a:rPr>
              <a:t>DECLARE v_level int; v_name varchar; v_count bigint;</a:t>
            </a:r>
          </a:p>
          <a:p>
            <a:pPr algn="l">
              <a:lnSpc>
                <a:spcPct val="106000"/>
              </a:lnSpc>
              <a:spcBef>
                <a:spcPts val="0"/>
              </a:spcBef>
              <a:spcAft>
                <a:spcPts val="0"/>
              </a:spcAft>
            </a:pPr>
            <a:r>
              <a:rPr sz="1019" b="0">
                <a:solidFill>
                  <a:srgbClr val="182A3E"/>
                </a:solidFill>
                <a:latin typeface="Consolas"/>
              </a:rPr>
              <a:t>BEGIN</a:t>
            </a:r>
          </a:p>
          <a:p>
            <a:pPr algn="l">
              <a:lnSpc>
                <a:spcPct val="106000"/>
              </a:lnSpc>
              <a:spcBef>
                <a:spcPts val="0"/>
              </a:spcBef>
              <a:spcAft>
                <a:spcPts val="0"/>
              </a:spcAft>
            </a:pPr>
            <a:r>
              <a:rPr sz="1019" b="0">
                <a:solidFill>
                  <a:srgbClr val="182A3E"/>
                </a:solidFill>
                <a:latin typeface="Consolas"/>
              </a:rPr>
              <a:t>    SELECT admin_level, name INTO v_level, v_name</a:t>
            </a:r>
          </a:p>
          <a:p>
            <a:pPr algn="l">
              <a:lnSpc>
                <a:spcPct val="106000"/>
              </a:lnSpc>
              <a:spcBef>
                <a:spcPts val="0"/>
              </a:spcBef>
              <a:spcAft>
                <a:spcPts val="0"/>
              </a:spcAft>
            </a:pPr>
            <a:r>
              <a:rPr sz="1019" b="0">
                <a:solidFill>
                  <a:srgbClr val="182A3E"/>
                </a:solidFill>
                <a:latin typeface="Consolas"/>
              </a:rPr>
              <a:t>      FROM admin_region WHERE id = p_region_id;</a:t>
            </a:r>
          </a:p>
          <a:p>
            <a:pPr algn="l">
              <a:lnSpc>
                <a:spcPct val="106000"/>
              </a:lnSpc>
              <a:spcBef>
                <a:spcPts val="0"/>
              </a:spcBef>
              <a:spcAft>
                <a:spcPts val="0"/>
              </a:spcAft>
            </a:pPr>
            <a:r>
              <a:rPr sz="1019" b="0">
                <a:solidFill>
                  <a:srgbClr val="182A3E"/>
                </a:solidFill>
                <a:latin typeface="Consolas"/>
              </a:rPr>
              <a:t>    IF NOT FOUND THEN</a:t>
            </a:r>
          </a:p>
          <a:p>
            <a:pPr algn="l">
              <a:lnSpc>
                <a:spcPct val="106000"/>
              </a:lnSpc>
              <a:spcBef>
                <a:spcPts val="0"/>
              </a:spcBef>
              <a:spcAft>
                <a:spcPts val="0"/>
              </a:spcAft>
            </a:pPr>
            <a:r>
              <a:rPr sz="1019" b="0">
                <a:solidFill>
                  <a:srgbClr val="182A3E"/>
                </a:solidFill>
                <a:latin typeface="Consolas"/>
              </a:rPr>
              <a:t>        RAISE EXCEPTION '行政区 id=% が存在しません', p_region_id;</a:t>
            </a:r>
          </a:p>
          <a:p>
            <a:pPr algn="l">
              <a:lnSpc>
                <a:spcPct val="106000"/>
              </a:lnSpc>
              <a:spcBef>
                <a:spcPts val="0"/>
              </a:spcBef>
              <a:spcAft>
                <a:spcPts val="0"/>
              </a:spcAft>
            </a:pPr>
            <a:r>
              <a:rPr sz="1019" b="0">
                <a:solidFill>
                  <a:srgbClr val="182A3E"/>
                </a:solidFill>
                <a:latin typeface="Consolas"/>
              </a:rPr>
              <a:t>    END IF;</a:t>
            </a:r>
          </a:p>
          <a:p>
            <a:pPr algn="l">
              <a:lnSpc>
                <a:spcPct val="106000"/>
              </a:lnSpc>
              <a:spcBef>
                <a:spcPts val="0"/>
              </a:spcBef>
              <a:spcAft>
                <a:spcPts val="0"/>
              </a:spcAft>
            </a:pPr>
            <a:r>
              <a:rPr sz="1019" b="0">
                <a:solidFill>
                  <a:srgbClr val="182A3E"/>
                </a:solidFill>
                <a:latin typeface="Consolas"/>
              </a:rPr>
              <a:t> </a:t>
            </a:r>
          </a:p>
          <a:p>
            <a:pPr algn="l">
              <a:lnSpc>
                <a:spcPct val="106000"/>
              </a:lnSpc>
              <a:spcBef>
                <a:spcPts val="0"/>
              </a:spcBef>
              <a:spcAft>
                <a:spcPts val="0"/>
              </a:spcAft>
            </a:pPr>
            <a:r>
              <a:rPr sz="1019" b="0">
                <a:solidFill>
                  <a:srgbClr val="182A3E"/>
                </a:solidFill>
                <a:latin typeface="Consolas"/>
              </a:rPr>
              <a:t>    IF v_level = 0 THEN            -- 国: 非正規化列で高速に数える</a:t>
            </a:r>
          </a:p>
          <a:p>
            <a:pPr algn="l">
              <a:lnSpc>
                <a:spcPct val="106000"/>
              </a:lnSpc>
              <a:spcBef>
                <a:spcPts val="0"/>
              </a:spcBef>
              <a:spcAft>
                <a:spcPts val="0"/>
              </a:spcAft>
            </a:pPr>
            <a:r>
              <a:rPr sz="1019" b="0">
                <a:solidFill>
                  <a:srgbClr val="182A3E"/>
                </a:solidFill>
                <a:latin typeface="Consolas"/>
              </a:rPr>
              <a:t>        SELECT COUNT(*) INTO v_count FROM landfall l</a:t>
            </a:r>
          </a:p>
          <a:p>
            <a:pPr algn="l">
              <a:lnSpc>
                <a:spcPct val="106000"/>
              </a:lnSpc>
              <a:spcBef>
                <a:spcPts val="0"/>
              </a:spcBef>
              <a:spcAft>
                <a:spcPts val="0"/>
              </a:spcAft>
            </a:pPr>
            <a:r>
              <a:rPr sz="1019" b="0">
                <a:solidFill>
                  <a:srgbClr val="182A3E"/>
                </a:solidFill>
                <a:latin typeface="Consolas"/>
              </a:rPr>
              <a:t>          JOIN typhoon t ON t.id = l.typhoon_id</a:t>
            </a:r>
          </a:p>
          <a:p>
            <a:pPr algn="l">
              <a:lnSpc>
                <a:spcPct val="106000"/>
              </a:lnSpc>
              <a:spcBef>
                <a:spcPts val="0"/>
              </a:spcBef>
              <a:spcAft>
                <a:spcPts val="0"/>
              </a:spcAft>
            </a:pPr>
            <a:r>
              <a:rPr sz="1019" b="0">
                <a:solidFill>
                  <a:srgbClr val="182A3E"/>
                </a:solidFill>
                <a:latin typeface="Consolas"/>
              </a:rPr>
              <a:t>         WHERE l.country = v_name</a:t>
            </a:r>
          </a:p>
          <a:p>
            <a:pPr algn="l">
              <a:lnSpc>
                <a:spcPct val="106000"/>
              </a:lnSpc>
              <a:spcBef>
                <a:spcPts val="0"/>
              </a:spcBef>
              <a:spcAft>
                <a:spcPts val="0"/>
              </a:spcAft>
            </a:pPr>
            <a:r>
              <a:rPr sz="1019" b="0">
                <a:solidFill>
                  <a:srgbClr val="182A3E"/>
                </a:solidFill>
                <a:latin typeface="Consolas"/>
              </a:rPr>
              <a:t>           AND (p_min_year IS NULL OR t.season_year &gt;= p_min_year)</a:t>
            </a:r>
          </a:p>
          <a:p>
            <a:pPr algn="l">
              <a:lnSpc>
                <a:spcPct val="106000"/>
              </a:lnSpc>
              <a:spcBef>
                <a:spcPts val="0"/>
              </a:spcBef>
              <a:spcAft>
                <a:spcPts val="0"/>
              </a:spcAft>
            </a:pPr>
            <a:r>
              <a:rPr sz="1019" b="0">
                <a:solidFill>
                  <a:srgbClr val="182A3E"/>
                </a:solidFill>
                <a:latin typeface="Consolas"/>
              </a:rPr>
              <a:t>           AND (p_max_year IS NULL OR t.season_year &lt;= p_max_year);</a:t>
            </a:r>
          </a:p>
          <a:p>
            <a:pPr algn="l">
              <a:lnSpc>
                <a:spcPct val="106000"/>
              </a:lnSpc>
              <a:spcBef>
                <a:spcPts val="0"/>
              </a:spcBef>
              <a:spcAft>
                <a:spcPts val="0"/>
              </a:spcAft>
            </a:pPr>
            <a:r>
              <a:rPr sz="1019" b="0">
                <a:solidFill>
                  <a:srgbClr val="182A3E"/>
                </a:solidFill>
                <a:latin typeface="Consolas"/>
              </a:rPr>
              <a:t>    ELSE                           -- 省 / 地級市: 空間包含で数える</a:t>
            </a:r>
          </a:p>
          <a:p>
            <a:pPr algn="l">
              <a:lnSpc>
                <a:spcPct val="106000"/>
              </a:lnSpc>
              <a:spcBef>
                <a:spcPts val="0"/>
              </a:spcBef>
              <a:spcAft>
                <a:spcPts val="0"/>
              </a:spcAft>
            </a:pPr>
            <a:r>
              <a:rPr sz="1019" b="0">
                <a:solidFill>
                  <a:srgbClr val="182A3E"/>
                </a:solidFill>
                <a:latin typeface="Consolas"/>
              </a:rPr>
              <a:t>        SELECT COUNT(*) INTO v_count FROM landfall l</a:t>
            </a:r>
          </a:p>
          <a:p>
            <a:pPr algn="l">
              <a:lnSpc>
                <a:spcPct val="106000"/>
              </a:lnSpc>
              <a:spcBef>
                <a:spcPts val="0"/>
              </a:spcBef>
              <a:spcAft>
                <a:spcPts val="0"/>
              </a:spcAft>
            </a:pPr>
            <a:r>
              <a:rPr sz="1019" b="0">
                <a:solidFill>
                  <a:srgbClr val="182A3E"/>
                </a:solidFill>
                <a:latin typeface="Consolas"/>
              </a:rPr>
              <a:t>          JOIN typhoon t      ON t.id = l.typhoon_id</a:t>
            </a:r>
          </a:p>
          <a:p>
            <a:pPr algn="l">
              <a:lnSpc>
                <a:spcPct val="106000"/>
              </a:lnSpc>
              <a:spcBef>
                <a:spcPts val="0"/>
              </a:spcBef>
              <a:spcAft>
                <a:spcPts val="0"/>
              </a:spcAft>
            </a:pPr>
            <a:r>
              <a:rPr sz="1019" b="0">
                <a:solidFill>
                  <a:srgbClr val="182A3E"/>
                </a:solidFill>
                <a:latin typeface="Consolas"/>
              </a:rPr>
              <a:t>          JOIN admin_region r ON r.id = p_region_id</a:t>
            </a:r>
          </a:p>
          <a:p>
            <a:pPr algn="l">
              <a:lnSpc>
                <a:spcPct val="106000"/>
              </a:lnSpc>
              <a:spcBef>
                <a:spcPts val="0"/>
              </a:spcBef>
              <a:spcAft>
                <a:spcPts val="0"/>
              </a:spcAft>
            </a:pPr>
            <a:r>
              <a:rPr sz="1019" b="0">
                <a:solidFill>
                  <a:srgbClr val="182A3E"/>
                </a:solidFill>
                <a:latin typeface="Consolas"/>
              </a:rPr>
              <a:t>         WHERE ST_Contains(r.geom, l.geom)</a:t>
            </a:r>
          </a:p>
          <a:p>
            <a:pPr algn="l">
              <a:lnSpc>
                <a:spcPct val="106000"/>
              </a:lnSpc>
              <a:spcBef>
                <a:spcPts val="0"/>
              </a:spcBef>
              <a:spcAft>
                <a:spcPts val="0"/>
              </a:spcAft>
            </a:pPr>
            <a:r>
              <a:rPr sz="1019" b="0">
                <a:solidFill>
                  <a:srgbClr val="182A3E"/>
                </a:solidFill>
                <a:latin typeface="Consolas"/>
              </a:rPr>
              <a:t>           AND (p_min_year IS NULL OR t.season_year &gt;= p_min_year)</a:t>
            </a:r>
          </a:p>
          <a:p>
            <a:pPr algn="l">
              <a:lnSpc>
                <a:spcPct val="106000"/>
              </a:lnSpc>
              <a:spcBef>
                <a:spcPts val="0"/>
              </a:spcBef>
              <a:spcAft>
                <a:spcPts val="0"/>
              </a:spcAft>
            </a:pPr>
            <a:r>
              <a:rPr sz="1019" b="0">
                <a:solidFill>
                  <a:srgbClr val="182A3E"/>
                </a:solidFill>
                <a:latin typeface="Consolas"/>
              </a:rPr>
              <a:t>           AND (p_max_year IS NULL OR t.season_year &lt;= p_max_year);</a:t>
            </a:r>
          </a:p>
          <a:p>
            <a:pPr algn="l">
              <a:lnSpc>
                <a:spcPct val="106000"/>
              </a:lnSpc>
              <a:spcBef>
                <a:spcPts val="0"/>
              </a:spcBef>
              <a:spcAft>
                <a:spcPts val="0"/>
              </a:spcAft>
            </a:pPr>
            <a:r>
              <a:rPr sz="1019" b="0">
                <a:solidFill>
                  <a:srgbClr val="182A3E"/>
                </a:solidFill>
                <a:latin typeface="Consolas"/>
              </a:rPr>
              <a:t>    END IF;</a:t>
            </a:r>
          </a:p>
          <a:p>
            <a:pPr algn="l">
              <a:lnSpc>
                <a:spcPct val="106000"/>
              </a:lnSpc>
              <a:spcBef>
                <a:spcPts val="0"/>
              </a:spcBef>
              <a:spcAft>
                <a:spcPts val="0"/>
              </a:spcAft>
            </a:pPr>
            <a:r>
              <a:rPr sz="1019" b="0">
                <a:solidFill>
                  <a:srgbClr val="182A3E"/>
                </a:solidFill>
                <a:latin typeface="Consolas"/>
              </a:rPr>
              <a:t>    RETURN COALESCE(v_count, 0);</a:t>
            </a:r>
          </a:p>
          <a:p>
            <a:pPr algn="l">
              <a:lnSpc>
                <a:spcPct val="106000"/>
              </a:lnSpc>
              <a:spcBef>
                <a:spcPts val="0"/>
              </a:spcBef>
              <a:spcAft>
                <a:spcPts val="0"/>
              </a:spcAft>
            </a:pPr>
            <a:r>
              <a:rPr sz="1019" b="0">
                <a:solidFill>
                  <a:srgbClr val="182A3E"/>
                </a:solidFill>
                <a:latin typeface="Consolas"/>
              </a:rPr>
              <a:t>END; $$ LANGUAGE plpgsql STABLE;</a:t>
            </a:r>
          </a:p>
        </p:txBody>
      </p:sp>
      <p:sp>
        <p:nvSpPr>
          <p:cNvPr id="10" name="TextBox 9"/>
          <p:cNvSpPr txBox="1"/>
          <p:nvPr/>
        </p:nvSpPr>
        <p:spPr>
          <a:xfrm>
            <a:off x="7818120" y="1280160"/>
            <a:ext cx="3749039" cy="1828800"/>
          </a:xfrm>
          <a:prstGeom prst="rect">
            <a:avLst/>
          </a:prstGeom>
          <a:noFill/>
        </p:spPr>
        <p:txBody>
          <a:bodyPr wrap="square" lIns="0" rIns="0" tIns="0" bIns="0">
            <a:spAutoFit/>
          </a:bodyPr>
          <a:lstStyle/>
          <a:p>
            <a:pPr algn="l">
              <a:spcBef>
                <a:spcPts val="0"/>
              </a:spcBef>
              <a:spcAft>
                <a:spcPts val="900"/>
              </a:spcAft>
            </a:pPr>
            <a:r>
              <a:rPr sz="1500" b="1">
                <a:solidFill>
                  <a:srgbClr val="008C8C"/>
                </a:solidFill>
                <a:latin typeface="Meiryo"/>
              </a:rPr>
              <a:t>なぜ粒度で分岐するか</a:t>
            </a:r>
          </a:p>
          <a:p>
            <a:pPr algn="l">
              <a:lnSpc>
                <a:spcPct val="120000"/>
              </a:lnSpc>
              <a:spcBef>
                <a:spcPts val="0"/>
              </a:spcBef>
              <a:spcAft>
                <a:spcPts val="800"/>
              </a:spcAft>
            </a:pPr>
            <a:r>
              <a:rPr sz="1050" b="0">
                <a:solidFill>
                  <a:srgbClr val="5A6677"/>
                </a:solidFill>
                <a:latin typeface="Meiryo"/>
              </a:rPr>
              <a:t>上陸イベントは「最も細かい行政区」1 つに紐付けて保存される。国別集計では非正規化した country 列を使う方が圧倒的に速い。</a:t>
            </a:r>
          </a:p>
          <a:p>
            <a:pPr algn="l">
              <a:lnSpc>
                <a:spcPct val="120000"/>
              </a:lnSpc>
              <a:spcBef>
                <a:spcPts val="0"/>
              </a:spcBef>
              <a:spcAft>
                <a:spcPts val="0"/>
              </a:spcAft>
            </a:pPr>
            <a:r>
              <a:rPr sz="1050" b="0">
                <a:solidFill>
                  <a:srgbClr val="5A6677"/>
                </a:solidFill>
                <a:latin typeface="Meiryo"/>
              </a:rPr>
              <a:t>一方、省・地級市の集計を紐付け先に頼ると粒度違いの上陸点を取りこぼすため、ST_Contains による空間包含で数え直す。</a:t>
            </a:r>
          </a:p>
        </p:txBody>
      </p:sp>
      <p:sp>
        <p:nvSpPr>
          <p:cNvPr id="11" name="Rectangle 10"/>
          <p:cNvSpPr/>
          <p:nvPr/>
        </p:nvSpPr>
        <p:spPr>
          <a:xfrm>
            <a:off x="7818120" y="3291840"/>
            <a:ext cx="3749039"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検証</a:t>
            </a:r>
          </a:p>
        </p:txBody>
      </p:sp>
      <p:sp>
        <p:nvSpPr>
          <p:cNvPr id="12" name="Rectangle 11"/>
          <p:cNvSpPr/>
          <p:nvPr/>
        </p:nvSpPr>
        <p:spPr>
          <a:xfrm>
            <a:off x="7818120" y="3566160"/>
            <a:ext cx="3749039" cy="256032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46136" y="3657600"/>
            <a:ext cx="3493007" cy="2377440"/>
          </a:xfrm>
          <a:prstGeom prst="rect">
            <a:avLst/>
          </a:prstGeom>
          <a:noFill/>
        </p:spPr>
        <p:txBody>
          <a:bodyPr wrap="none" lIns="0" rIns="0" tIns="0" bIns="0">
            <a:spAutoFit/>
          </a:bodyPr>
          <a:lstStyle/>
          <a:p>
            <a:pPr algn="l">
              <a:lnSpc>
                <a:spcPct val="106000"/>
              </a:lnSpc>
              <a:spcBef>
                <a:spcPts val="0"/>
              </a:spcBef>
              <a:spcAft>
                <a:spcPts val="0"/>
              </a:spcAft>
            </a:pPr>
            <a:r>
              <a:rPr sz="950" b="0">
                <a:solidFill>
                  <a:srgbClr val="6E8A5E"/>
                </a:solidFill>
                <a:latin typeface="Consolas"/>
              </a:rPr>
              <a:t>-- 実行結果 (実測)</a:t>
            </a:r>
          </a:p>
          <a:p>
            <a:pPr algn="l">
              <a:lnSpc>
                <a:spcPct val="106000"/>
              </a:lnSpc>
              <a:spcBef>
                <a:spcPts val="0"/>
              </a:spcBef>
              <a:spcAft>
                <a:spcPts val="0"/>
              </a:spcAft>
            </a:pPr>
            <a:r>
              <a:rPr sz="950" b="0">
                <a:solidFill>
                  <a:srgbClr val="182A3E"/>
                </a:solidFill>
                <a:latin typeface="Consolas"/>
              </a:rPr>
              <a:t>SELECT fn_region_</a:t>
            </a:r>
          </a:p>
          <a:p>
            <a:pPr algn="l">
              <a:lnSpc>
                <a:spcPct val="106000"/>
              </a:lnSpc>
              <a:spcBef>
                <a:spcPts val="0"/>
              </a:spcBef>
              <a:spcAft>
                <a:spcPts val="0"/>
              </a:spcAft>
            </a:pPr>
            <a:r>
              <a:rPr sz="950" b="0">
                <a:solidFill>
                  <a:srgbClr val="182A3E"/>
                </a:solidFill>
                <a:latin typeface="Consolas"/>
              </a:rPr>
              <a:t>  landfall_count(3);</a:t>
            </a:r>
          </a:p>
          <a:p>
            <a:pPr algn="l">
              <a:lnSpc>
                <a:spcPct val="106000"/>
              </a:lnSpc>
              <a:spcBef>
                <a:spcPts val="0"/>
              </a:spcBef>
              <a:spcAft>
                <a:spcPts val="0"/>
              </a:spcAft>
            </a:pPr>
            <a:r>
              <a:rPr sz="950" b="0">
                <a:solidFill>
                  <a:srgbClr val="D1661E"/>
                </a:solidFill>
                <a:latin typeface="Consolas"/>
              </a:rPr>
              <a:t>=&gt; 600   -- China (国)</a:t>
            </a:r>
          </a:p>
          <a:p>
            <a:pPr algn="l">
              <a:lnSpc>
                <a:spcPct val="106000"/>
              </a:lnSpc>
              <a:spcBef>
                <a:spcPts val="0"/>
              </a:spcBef>
              <a:spcAft>
                <a:spcPts val="0"/>
              </a:spcAft>
            </a:pPr>
            <a:r>
              <a:rPr sz="950" b="0">
                <a:solidFill>
                  <a:srgbClr val="182A3E"/>
                </a:solidFill>
                <a:latin typeface="Consolas"/>
              </a:rPr>
              <a:t> </a:t>
            </a:r>
          </a:p>
          <a:p>
            <a:pPr algn="l">
              <a:lnSpc>
                <a:spcPct val="106000"/>
              </a:lnSpc>
              <a:spcBef>
                <a:spcPts val="0"/>
              </a:spcBef>
              <a:spcAft>
                <a:spcPts val="0"/>
              </a:spcAft>
            </a:pPr>
            <a:r>
              <a:rPr sz="950" b="0">
                <a:solidFill>
                  <a:srgbClr val="182A3E"/>
                </a:solidFill>
                <a:latin typeface="Consolas"/>
              </a:rPr>
              <a:t>SELECT fn_region_</a:t>
            </a:r>
          </a:p>
          <a:p>
            <a:pPr algn="l">
              <a:lnSpc>
                <a:spcPct val="106000"/>
              </a:lnSpc>
              <a:spcBef>
                <a:spcPts val="0"/>
              </a:spcBef>
              <a:spcAft>
                <a:spcPts val="0"/>
              </a:spcAft>
            </a:pPr>
            <a:r>
              <a:rPr sz="950" b="0">
                <a:solidFill>
                  <a:srgbClr val="182A3E"/>
                </a:solidFill>
                <a:latin typeface="Consolas"/>
              </a:rPr>
              <a:t>  landfall_count(173);</a:t>
            </a:r>
          </a:p>
          <a:p>
            <a:pPr algn="l">
              <a:lnSpc>
                <a:spcPct val="106000"/>
              </a:lnSpc>
              <a:spcBef>
                <a:spcPts val="0"/>
              </a:spcBef>
              <a:spcAft>
                <a:spcPts val="0"/>
              </a:spcAft>
            </a:pPr>
            <a:r>
              <a:rPr sz="950" b="0">
                <a:solidFill>
                  <a:srgbClr val="D1661E"/>
                </a:solidFill>
                <a:latin typeface="Consolas"/>
              </a:rPr>
              <a:t>=&gt; 217   -- 広東省</a:t>
            </a:r>
          </a:p>
          <a:p>
            <a:pPr algn="l">
              <a:lnSpc>
                <a:spcPct val="106000"/>
              </a:lnSpc>
              <a:spcBef>
                <a:spcPts val="0"/>
              </a:spcBef>
              <a:spcAft>
                <a:spcPts val="0"/>
              </a:spcAft>
            </a:pPr>
            <a:r>
              <a:rPr sz="950" b="0">
                <a:solidFill>
                  <a:srgbClr val="182A3E"/>
                </a:solidFill>
                <a:latin typeface="Consolas"/>
              </a:rPr>
              <a:t> </a:t>
            </a:r>
          </a:p>
          <a:p>
            <a:pPr algn="l">
              <a:lnSpc>
                <a:spcPct val="106000"/>
              </a:lnSpc>
              <a:spcBef>
                <a:spcPts val="0"/>
              </a:spcBef>
              <a:spcAft>
                <a:spcPts val="0"/>
              </a:spcAft>
            </a:pPr>
            <a:r>
              <a:rPr sz="950" b="0">
                <a:solidFill>
                  <a:srgbClr val="6E8A5E"/>
                </a:solidFill>
                <a:latin typeface="Consolas"/>
              </a:rPr>
              <a:t>-- 省別 (実測)</a:t>
            </a:r>
          </a:p>
          <a:p>
            <a:pPr algn="l">
              <a:lnSpc>
                <a:spcPct val="106000"/>
              </a:lnSpc>
              <a:spcBef>
                <a:spcPts val="0"/>
              </a:spcBef>
              <a:spcAft>
                <a:spcPts val="0"/>
              </a:spcAft>
            </a:pPr>
            <a:r>
              <a:rPr sz="950" b="0">
                <a:solidFill>
                  <a:srgbClr val="182A3E"/>
                </a:solidFill>
                <a:latin typeface="Consolas"/>
              </a:rPr>
              <a:t> 広東 217 / 海南 121</a:t>
            </a:r>
          </a:p>
          <a:p>
            <a:pPr algn="l">
              <a:lnSpc>
                <a:spcPct val="106000"/>
              </a:lnSpc>
              <a:spcBef>
                <a:spcPts val="0"/>
              </a:spcBef>
              <a:spcAft>
                <a:spcPts val="0"/>
              </a:spcAft>
            </a:pPr>
            <a:r>
              <a:rPr sz="950" b="0">
                <a:solidFill>
                  <a:srgbClr val="182A3E"/>
                </a:solidFill>
                <a:latin typeface="Consolas"/>
              </a:rPr>
              <a:t> 福建 111 / 浙江  44</a:t>
            </a:r>
          </a:p>
          <a:p>
            <a:pPr algn="l">
              <a:lnSpc>
                <a:spcPct val="106000"/>
              </a:lnSpc>
              <a:spcBef>
                <a:spcPts val="0"/>
              </a:spcBef>
              <a:spcAft>
                <a:spcPts val="0"/>
              </a:spcAft>
            </a:pPr>
            <a:r>
              <a:rPr sz="950" b="0">
                <a:solidFill>
                  <a:srgbClr val="182A3E"/>
                </a:solidFill>
                <a:latin typeface="Consolas"/>
              </a:rPr>
              <a:t> 広西  41 / 山東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841248"/>
            <a:ext cx="12191695" cy="50292"/>
          </a:xfrm>
          <a:prstGeom prst="rect">
            <a:avLst/>
          </a:prstGeom>
          <a:solidFill>
            <a:srgbClr val="00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55448"/>
            <a:ext cx="10607040" cy="548640"/>
          </a:xfrm>
          <a:prstGeom prst="rect">
            <a:avLst/>
          </a:prstGeom>
          <a:noFill/>
        </p:spPr>
        <p:txBody>
          <a:bodyPr wrap="square" lIns="0" rIns="0" tIns="0" bIns="0">
            <a:spAutoFit/>
          </a:bodyPr>
          <a:lstStyle/>
          <a:p>
            <a:pPr algn="l">
              <a:spcBef>
                <a:spcPts val="0"/>
              </a:spcBef>
              <a:spcAft>
                <a:spcPts val="0"/>
              </a:spcAft>
            </a:pPr>
            <a:r>
              <a:rPr sz="2500" b="1">
                <a:solidFill>
                  <a:srgbClr val="FFFFFF"/>
                </a:solidFill>
                <a:latin typeface="Meiryo"/>
              </a:rPr>
              <a:t>6. 主要クエリ Q4 — 時空間 × 意味 の結合 ／ まとめ</a:t>
            </a:r>
          </a:p>
        </p:txBody>
      </p:sp>
      <p:sp>
        <p:nvSpPr>
          <p:cNvPr id="5" name="TextBox 4"/>
          <p:cNvSpPr txBox="1"/>
          <p:nvPr/>
        </p:nvSpPr>
        <p:spPr>
          <a:xfrm>
            <a:off x="530352" y="566928"/>
            <a:ext cx="10607040" cy="274320"/>
          </a:xfrm>
          <a:prstGeom prst="rect">
            <a:avLst/>
          </a:prstGeom>
          <a:noFill/>
        </p:spPr>
        <p:txBody>
          <a:bodyPr wrap="square" lIns="0" rIns="0" tIns="0" bIns="0">
            <a:spAutoFit/>
          </a:bodyPr>
          <a:lstStyle/>
          <a:p>
            <a:pPr algn="l">
              <a:spcBef>
                <a:spcPts val="0"/>
              </a:spcBef>
              <a:spcAft>
                <a:spcPts val="0"/>
              </a:spcAft>
            </a:pPr>
            <a:r>
              <a:rPr sz="1150" b="0">
                <a:solidFill>
                  <a:srgbClr val="A8C4E0"/>
                </a:solidFill>
                <a:latin typeface="Meiryo"/>
              </a:rPr>
              <a:t>先に時空間で候補を絞り、その中を意味距離で並べ替える — 本システムの中心的な問合せ</a:t>
            </a:r>
          </a:p>
        </p:txBody>
      </p:sp>
      <p:sp>
        <p:nvSpPr>
          <p:cNvPr id="6" name="TextBox 5"/>
          <p:cNvSpPr txBox="1"/>
          <p:nvPr/>
        </p:nvSpPr>
        <p:spPr>
          <a:xfrm>
            <a:off x="11338560" y="6355080"/>
            <a:ext cx="548640" cy="274320"/>
          </a:xfrm>
          <a:prstGeom prst="rect">
            <a:avLst/>
          </a:prstGeom>
          <a:noFill/>
        </p:spPr>
        <p:txBody>
          <a:bodyPr wrap="square" lIns="0" rIns="0" tIns="0" bIns="0">
            <a:spAutoFit/>
          </a:bodyPr>
          <a:lstStyle/>
          <a:p>
            <a:pPr algn="r">
              <a:spcBef>
                <a:spcPts val="0"/>
              </a:spcBef>
              <a:spcAft>
                <a:spcPts val="0"/>
              </a:spcAft>
            </a:pPr>
            <a:r>
              <a:rPr sz="1100" b="0">
                <a:solidFill>
                  <a:srgbClr val="5A6677"/>
                </a:solidFill>
                <a:latin typeface="Meiryo"/>
              </a:rPr>
              <a:t>14</a:t>
            </a:r>
          </a:p>
        </p:txBody>
      </p:sp>
      <p:sp>
        <p:nvSpPr>
          <p:cNvPr id="7" name="Rectangle 6"/>
          <p:cNvSpPr/>
          <p:nvPr/>
        </p:nvSpPr>
        <p:spPr>
          <a:xfrm>
            <a:off x="685800" y="1207008"/>
            <a:ext cx="6309360" cy="274320"/>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tIns="0" bIns="0"/>
          <a:lstStyle/>
          <a:p>
            <a:pPr algn="l">
              <a:spcBef>
                <a:spcPts val="0"/>
              </a:spcBef>
              <a:spcAft>
                <a:spcPts val="0"/>
              </a:spcAft>
            </a:pPr>
            <a:r>
              <a:rPr sz="1050" b="1">
                <a:solidFill>
                  <a:srgbClr val="FFFFFF"/>
                </a:solidFill>
                <a:latin typeface="Meiryo"/>
              </a:rPr>
              <a:t>SQL — /search/hybrid</a:t>
            </a:r>
          </a:p>
        </p:txBody>
      </p:sp>
      <p:sp>
        <p:nvSpPr>
          <p:cNvPr id="8" name="Rectangle 7"/>
          <p:cNvSpPr/>
          <p:nvPr/>
        </p:nvSpPr>
        <p:spPr>
          <a:xfrm>
            <a:off x="685800" y="1481328"/>
            <a:ext cx="6309360" cy="3429000"/>
          </a:xfrm>
          <a:prstGeom prst="rect">
            <a:avLst/>
          </a:prstGeom>
          <a:solidFill>
            <a:srgbClr val="F7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6" y="1572768"/>
            <a:ext cx="6053328" cy="3246120"/>
          </a:xfrm>
          <a:prstGeom prst="rect">
            <a:avLst/>
          </a:prstGeom>
          <a:noFill/>
        </p:spPr>
        <p:txBody>
          <a:bodyPr wrap="none" lIns="0" rIns="0" tIns="0" bIns="0">
            <a:spAutoFit/>
          </a:bodyPr>
          <a:lstStyle/>
          <a:p>
            <a:pPr algn="l">
              <a:lnSpc>
                <a:spcPct val="106000"/>
              </a:lnSpc>
              <a:spcBef>
                <a:spcPts val="0"/>
              </a:spcBef>
              <a:spcAft>
                <a:spcPts val="0"/>
              </a:spcAft>
            </a:pPr>
            <a:r>
              <a:rPr sz="1050" b="0">
                <a:solidFill>
                  <a:srgbClr val="6E8A5E"/>
                </a:solidFill>
                <a:latin typeface="Consolas"/>
              </a:rPr>
              <a:t>-- 「高潮による沿岸被害」に意味が近い台風のうち、</a:t>
            </a:r>
          </a:p>
          <a:p>
            <a:pPr algn="l">
              <a:lnSpc>
                <a:spcPct val="106000"/>
              </a:lnSpc>
              <a:spcBef>
                <a:spcPts val="0"/>
              </a:spcBef>
              <a:spcAft>
                <a:spcPts val="0"/>
              </a:spcAft>
            </a:pPr>
            <a:r>
              <a:rPr sz="1050" b="0">
                <a:solidFill>
                  <a:srgbClr val="6E8A5E"/>
                </a:solidFill>
                <a:latin typeface="Consolas"/>
              </a:rPr>
              <a:t>-- 2023 年に東シナ海を通過したものを上位から</a:t>
            </a:r>
          </a:p>
          <a:p>
            <a:pPr algn="l">
              <a:lnSpc>
                <a:spcPct val="106000"/>
              </a:lnSpc>
              <a:spcBef>
                <a:spcPts val="0"/>
              </a:spcBef>
              <a:spcAft>
                <a:spcPts val="0"/>
              </a:spcAft>
            </a:pPr>
            <a:r>
              <a:rPr sz="1050" b="0">
                <a:solidFill>
                  <a:srgbClr val="182A3E"/>
                </a:solidFill>
                <a:latin typeface="Consolas"/>
              </a:rPr>
              <a:t>SELECT t.intl_id, t.name, t.season_year,</a:t>
            </a:r>
          </a:p>
          <a:p>
            <a:pPr algn="l">
              <a:lnSpc>
                <a:spcPct val="106000"/>
              </a:lnSpc>
              <a:spcBef>
                <a:spcPts val="0"/>
              </a:spcBef>
              <a:spcAft>
                <a:spcPts val="0"/>
              </a:spcAft>
            </a:pPr>
            <a:r>
              <a:rPr sz="1050" b="0">
                <a:solidFill>
                  <a:srgbClr val="182A3E"/>
                </a:solidFill>
                <a:latin typeface="Consolas"/>
              </a:rPr>
              <a:t>       t.embedding &lt;=&gt; :qvec AS distance</a:t>
            </a:r>
          </a:p>
          <a:p>
            <a:pPr algn="l">
              <a:lnSpc>
                <a:spcPct val="106000"/>
              </a:lnSpc>
              <a:spcBef>
                <a:spcPts val="0"/>
              </a:spcBef>
              <a:spcAft>
                <a:spcPts val="0"/>
              </a:spcAft>
            </a:pPr>
            <a:r>
              <a:rPr sz="1050" b="0">
                <a:solidFill>
                  <a:srgbClr val="182A3E"/>
                </a:solidFill>
                <a:latin typeface="Consolas"/>
              </a:rPr>
              <a:t>  FROM typhoon t</a:t>
            </a:r>
          </a:p>
          <a:p>
            <a:pPr algn="l">
              <a:lnSpc>
                <a:spcPct val="106000"/>
              </a:lnSpc>
              <a:spcBef>
                <a:spcPts val="0"/>
              </a:spcBef>
              <a:spcAft>
                <a:spcPts val="0"/>
              </a:spcAft>
            </a:pPr>
            <a:r>
              <a:rPr sz="1050" b="0">
                <a:solidFill>
                  <a:srgbClr val="182A3E"/>
                </a:solidFill>
                <a:latin typeface="Consolas"/>
              </a:rPr>
              <a:t> WHERE t.id IN (              -- ① 時空間選択で候補を作る</a:t>
            </a:r>
          </a:p>
          <a:p>
            <a:pPr algn="l">
              <a:lnSpc>
                <a:spcPct val="106000"/>
              </a:lnSpc>
              <a:spcBef>
                <a:spcPts val="0"/>
              </a:spcBef>
              <a:spcAft>
                <a:spcPts val="0"/>
              </a:spcAft>
            </a:pPr>
            <a:r>
              <a:rPr sz="1050" b="0">
                <a:solidFill>
                  <a:srgbClr val="182A3E"/>
                </a:solidFill>
                <a:latin typeface="Consolas"/>
              </a:rPr>
              <a:t>        SELECT tp.typhoon_id FROM track_point tp</a:t>
            </a:r>
          </a:p>
          <a:p>
            <a:pPr algn="l">
              <a:lnSpc>
                <a:spcPct val="106000"/>
              </a:lnSpc>
              <a:spcBef>
                <a:spcPts val="0"/>
              </a:spcBef>
              <a:spcAft>
                <a:spcPts val="0"/>
              </a:spcAft>
            </a:pPr>
            <a:r>
              <a:rPr sz="1050" b="0">
                <a:solidFill>
                  <a:srgbClr val="182A3E"/>
                </a:solidFill>
                <a:latin typeface="Consolas"/>
              </a:rPr>
              <a:t>         WHERE ST_Intersects(tp.geom,</a:t>
            </a:r>
          </a:p>
          <a:p>
            <a:pPr algn="l">
              <a:lnSpc>
                <a:spcPct val="106000"/>
              </a:lnSpc>
              <a:spcBef>
                <a:spcPts val="0"/>
              </a:spcBef>
              <a:spcAft>
                <a:spcPts val="0"/>
              </a:spcAft>
            </a:pPr>
            <a:r>
              <a:rPr sz="1050" b="0">
                <a:solidFill>
                  <a:srgbClr val="182A3E"/>
                </a:solidFill>
                <a:latin typeface="Consolas"/>
              </a:rPr>
              <a:t>                 ST_MakeEnvelope(120, 20, 135, 30, 4326))</a:t>
            </a:r>
          </a:p>
          <a:p>
            <a:pPr algn="l">
              <a:lnSpc>
                <a:spcPct val="106000"/>
              </a:lnSpc>
              <a:spcBef>
                <a:spcPts val="0"/>
              </a:spcBef>
              <a:spcAft>
                <a:spcPts val="0"/>
              </a:spcAft>
            </a:pPr>
            <a:r>
              <a:rPr sz="1050" b="0">
                <a:solidFill>
                  <a:srgbClr val="182A3E"/>
                </a:solidFill>
                <a:latin typeface="Consolas"/>
              </a:rPr>
              <a:t>           AND tp.obs_time BETWEEN '2023-01-01'</a:t>
            </a:r>
          </a:p>
          <a:p>
            <a:pPr algn="l">
              <a:lnSpc>
                <a:spcPct val="106000"/>
              </a:lnSpc>
              <a:spcBef>
                <a:spcPts val="0"/>
              </a:spcBef>
              <a:spcAft>
                <a:spcPts val="0"/>
              </a:spcAft>
            </a:pPr>
            <a:r>
              <a:rPr sz="1050" b="0">
                <a:solidFill>
                  <a:srgbClr val="182A3E"/>
                </a:solidFill>
                <a:latin typeface="Consolas"/>
              </a:rPr>
              <a:t>                               AND '2023-12-31')</a:t>
            </a:r>
          </a:p>
          <a:p>
            <a:pPr algn="l">
              <a:lnSpc>
                <a:spcPct val="106000"/>
              </a:lnSpc>
              <a:spcBef>
                <a:spcPts val="0"/>
              </a:spcBef>
              <a:spcAft>
                <a:spcPts val="0"/>
              </a:spcAft>
            </a:pPr>
            <a:r>
              <a:rPr sz="1050" b="0">
                <a:solidFill>
                  <a:srgbClr val="182A3E"/>
                </a:solidFill>
                <a:latin typeface="Consolas"/>
              </a:rPr>
              <a:t>   AND t.embedding IS NOT NULL</a:t>
            </a:r>
          </a:p>
          <a:p>
            <a:pPr algn="l">
              <a:lnSpc>
                <a:spcPct val="106000"/>
              </a:lnSpc>
              <a:spcBef>
                <a:spcPts val="0"/>
              </a:spcBef>
              <a:spcAft>
                <a:spcPts val="0"/>
              </a:spcAft>
            </a:pPr>
            <a:r>
              <a:rPr sz="1050" b="0">
                <a:solidFill>
                  <a:srgbClr val="182A3E"/>
                </a:solidFill>
                <a:latin typeface="Consolas"/>
              </a:rPr>
              <a:t> ORDER BY t.embedding &lt;=&gt; :qvec     -- ② 意味距離で順序付け</a:t>
            </a:r>
          </a:p>
          <a:p>
            <a:pPr algn="l">
              <a:lnSpc>
                <a:spcPct val="106000"/>
              </a:lnSpc>
              <a:spcBef>
                <a:spcPts val="0"/>
              </a:spcBef>
              <a:spcAft>
                <a:spcPts val="0"/>
              </a:spcAft>
            </a:pPr>
            <a:r>
              <a:rPr sz="1050" b="0">
                <a:solidFill>
                  <a:srgbClr val="182A3E"/>
                </a:solidFill>
                <a:latin typeface="Consolas"/>
              </a:rPr>
              <a:t> LIMIT 10;</a:t>
            </a:r>
          </a:p>
          <a:p>
            <a:pPr algn="l">
              <a:lnSpc>
                <a:spcPct val="106000"/>
              </a:lnSpc>
              <a:spcBef>
                <a:spcPts val="0"/>
              </a:spcBef>
              <a:spcAft>
                <a:spcPts val="0"/>
              </a:spcAft>
            </a:pPr>
            <a:r>
              <a:rPr sz="1050" b="0">
                <a:solidFill>
                  <a:srgbClr val="182A3E"/>
                </a:solidFill>
                <a:latin typeface="Consolas"/>
              </a:rPr>
              <a:t> </a:t>
            </a:r>
          </a:p>
          <a:p>
            <a:pPr algn="l">
              <a:lnSpc>
                <a:spcPct val="106000"/>
              </a:lnSpc>
              <a:spcBef>
                <a:spcPts val="0"/>
              </a:spcBef>
              <a:spcAft>
                <a:spcPts val="0"/>
              </a:spcAft>
            </a:pPr>
            <a:r>
              <a:rPr sz="1050" b="0">
                <a:solidFill>
                  <a:srgbClr val="6E8A5E"/>
                </a:solidFill>
                <a:latin typeface="Consolas"/>
              </a:rPr>
              <a:t>-- ① の時空間フィルタで候補は 9 件に絞られた (実測)</a:t>
            </a:r>
          </a:p>
          <a:p>
            <a:pPr algn="l">
              <a:lnSpc>
                <a:spcPct val="106000"/>
              </a:lnSpc>
              <a:spcBef>
                <a:spcPts val="0"/>
              </a:spcBef>
              <a:spcAft>
                <a:spcPts val="0"/>
              </a:spcAft>
            </a:pPr>
            <a:r>
              <a:rPr sz="1050" b="0">
                <a:solidFill>
                  <a:srgbClr val="6E8A5E"/>
                </a:solidFill>
                <a:latin typeface="Consolas"/>
              </a:rPr>
              <a:t>-- ② その 9 件だけに重い意味計算を適用する</a:t>
            </a:r>
          </a:p>
        </p:txBody>
      </p:sp>
      <p:sp>
        <p:nvSpPr>
          <p:cNvPr id="10" name="Rectangle 9"/>
          <p:cNvSpPr/>
          <p:nvPr/>
        </p:nvSpPr>
        <p:spPr>
          <a:xfrm>
            <a:off x="685800" y="5029200"/>
            <a:ext cx="6309360" cy="1115568"/>
          </a:xfrm>
          <a:prstGeom prst="rect">
            <a:avLst/>
          </a:prstGeom>
          <a:solidFill>
            <a:srgbClr val="ECF6F6"/>
          </a:solidFill>
          <a:ln w="12700">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 y="5138928"/>
            <a:ext cx="5980176" cy="896112"/>
          </a:xfrm>
          <a:prstGeom prst="rect">
            <a:avLst/>
          </a:prstGeom>
          <a:noFill/>
        </p:spPr>
        <p:txBody>
          <a:bodyPr wrap="square" lIns="0" rIns="0" tIns="0" bIns="0">
            <a:spAutoFit/>
          </a:bodyPr>
          <a:lstStyle/>
          <a:p>
            <a:pPr algn="l">
              <a:lnSpc>
                <a:spcPct val="115000"/>
              </a:lnSpc>
              <a:spcBef>
                <a:spcPts val="0"/>
              </a:spcBef>
              <a:spcAft>
                <a:spcPts val="0"/>
              </a:spcAft>
            </a:pPr>
            <a:r>
              <a:rPr sz="1200" b="0">
                <a:solidFill>
                  <a:srgbClr val="0B4C4C"/>
                </a:solidFill>
                <a:latin typeface="Meiryo"/>
              </a:rPr>
              <a:t>順序が重要。時空間 (GiST) → 意味 (IVFFlat) の順なら、重い意味計算を絞り込み後の少数行にだけ適用できる。逆順では Top-K が時空間条件で全滅し、結果が空になりうる。</a:t>
            </a:r>
          </a:p>
        </p:txBody>
      </p:sp>
      <p:sp>
        <p:nvSpPr>
          <p:cNvPr id="12" name="Rectangle 11"/>
          <p:cNvSpPr/>
          <p:nvPr/>
        </p:nvSpPr>
        <p:spPr>
          <a:xfrm>
            <a:off x="7269480" y="1207008"/>
            <a:ext cx="4206240" cy="384048"/>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52360" y="1298448"/>
            <a:ext cx="3840480" cy="274320"/>
          </a:xfrm>
          <a:prstGeom prst="rect">
            <a:avLst/>
          </a:prstGeom>
          <a:noFill/>
        </p:spPr>
        <p:txBody>
          <a:bodyPr wrap="square" lIns="0" rIns="0" tIns="0" bIns="0">
            <a:spAutoFit/>
          </a:bodyPr>
          <a:lstStyle/>
          <a:p>
            <a:pPr algn="l">
              <a:spcBef>
                <a:spcPts val="0"/>
              </a:spcBef>
              <a:spcAft>
                <a:spcPts val="0"/>
              </a:spcAft>
            </a:pPr>
            <a:r>
              <a:rPr sz="1150" b="1">
                <a:solidFill>
                  <a:srgbClr val="FFFFFF"/>
                </a:solidFill>
                <a:latin typeface="Meiryo"/>
              </a:rPr>
              <a:t>検証結果 (MMKB 本番データ / 2026-07-19)</a:t>
            </a:r>
          </a:p>
        </p:txBody>
      </p:sp>
      <p:sp>
        <p:nvSpPr>
          <p:cNvPr id="14" name="Rectangle 13"/>
          <p:cNvSpPr/>
          <p:nvPr/>
        </p:nvSpPr>
        <p:spPr>
          <a:xfrm>
            <a:off x="7269480" y="1591056"/>
            <a:ext cx="4206240" cy="402336"/>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06640" y="1700784"/>
            <a:ext cx="868680" cy="256032"/>
          </a:xfrm>
          <a:prstGeom prst="rect">
            <a:avLst/>
          </a:prstGeom>
          <a:noFill/>
        </p:spPr>
        <p:txBody>
          <a:bodyPr wrap="square" lIns="0" rIns="0" tIns="0" bIns="0">
            <a:spAutoFit/>
          </a:bodyPr>
          <a:lstStyle/>
          <a:p>
            <a:pPr algn="l">
              <a:spcBef>
                <a:spcPts val="0"/>
              </a:spcBef>
              <a:spcAft>
                <a:spcPts val="0"/>
              </a:spcAft>
            </a:pPr>
            <a:r>
              <a:rPr sz="1000" b="1">
                <a:solidFill>
                  <a:srgbClr val="142B4A"/>
                </a:solidFill>
                <a:latin typeface="Meiryo"/>
              </a:rPr>
              <a:t>トリガ①</a:t>
            </a:r>
          </a:p>
        </p:txBody>
      </p:sp>
      <p:sp>
        <p:nvSpPr>
          <p:cNvPr id="16" name="TextBox 15"/>
          <p:cNvSpPr txBox="1"/>
          <p:nvPr/>
        </p:nvSpPr>
        <p:spPr>
          <a:xfrm>
            <a:off x="8275320" y="1709928"/>
            <a:ext cx="2743200" cy="256032"/>
          </a:xfrm>
          <a:prstGeom prst="rect">
            <a:avLst/>
          </a:prstGeom>
          <a:noFill/>
        </p:spPr>
        <p:txBody>
          <a:bodyPr wrap="square" lIns="0" rIns="0" tIns="0" bIns="0">
            <a:spAutoFit/>
          </a:bodyPr>
          <a:lstStyle/>
          <a:p>
            <a:pPr algn="l">
              <a:spcBef>
                <a:spcPts val="0"/>
              </a:spcBef>
              <a:spcAft>
                <a:spcPts val="0"/>
              </a:spcAft>
            </a:pPr>
            <a:r>
              <a:rPr sz="850" b="0">
                <a:solidFill>
                  <a:srgbClr val="5A6677"/>
                </a:solidFill>
                <a:latin typeface="Meiryo"/>
              </a:rPr>
              <a:t>lat/lon のみ INSERT → geom 自動生成</a:t>
            </a:r>
          </a:p>
        </p:txBody>
      </p:sp>
      <p:sp>
        <p:nvSpPr>
          <p:cNvPr id="17" name="TextBox 16"/>
          <p:cNvSpPr txBox="1"/>
          <p:nvPr/>
        </p:nvSpPr>
        <p:spPr>
          <a:xfrm>
            <a:off x="11064240" y="1700784"/>
            <a:ext cx="365760" cy="256032"/>
          </a:xfrm>
          <a:prstGeom prst="rect">
            <a:avLst/>
          </a:prstGeom>
          <a:noFill/>
        </p:spPr>
        <p:txBody>
          <a:bodyPr wrap="square" lIns="0" rIns="0" tIns="0" bIns="0">
            <a:spAutoFit/>
          </a:bodyPr>
          <a:lstStyle/>
          <a:p>
            <a:pPr algn="l">
              <a:spcBef>
                <a:spcPts val="0"/>
              </a:spcBef>
              <a:spcAft>
                <a:spcPts val="0"/>
              </a:spcAft>
            </a:pPr>
            <a:r>
              <a:rPr sz="1100" b="1">
                <a:solidFill>
                  <a:srgbClr val="1E8E4A"/>
                </a:solidFill>
                <a:latin typeface="Meiryo"/>
              </a:rPr>
              <a:t>✔</a:t>
            </a:r>
          </a:p>
        </p:txBody>
      </p:sp>
      <p:sp>
        <p:nvSpPr>
          <p:cNvPr id="18" name="Rectangle 17"/>
          <p:cNvSpPr/>
          <p:nvPr/>
        </p:nvSpPr>
        <p:spPr>
          <a:xfrm>
            <a:off x="7269480" y="1993392"/>
            <a:ext cx="4206240" cy="402336"/>
          </a:xfrm>
          <a:prstGeom prst="rect">
            <a:avLst/>
          </a:prstGeom>
          <a:solidFill>
            <a:srgbClr val="F6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06640" y="2103120"/>
            <a:ext cx="868680" cy="256032"/>
          </a:xfrm>
          <a:prstGeom prst="rect">
            <a:avLst/>
          </a:prstGeom>
          <a:noFill/>
        </p:spPr>
        <p:txBody>
          <a:bodyPr wrap="square" lIns="0" rIns="0" tIns="0" bIns="0">
            <a:spAutoFit/>
          </a:bodyPr>
          <a:lstStyle/>
          <a:p>
            <a:pPr algn="l">
              <a:spcBef>
                <a:spcPts val="0"/>
              </a:spcBef>
              <a:spcAft>
                <a:spcPts val="0"/>
              </a:spcAft>
            </a:pPr>
            <a:r>
              <a:rPr sz="1000" b="1">
                <a:solidFill>
                  <a:srgbClr val="142B4A"/>
                </a:solidFill>
                <a:latin typeface="Meiryo"/>
              </a:rPr>
              <a:t>トリガ②</a:t>
            </a:r>
          </a:p>
        </p:txBody>
      </p:sp>
      <p:sp>
        <p:nvSpPr>
          <p:cNvPr id="20" name="TextBox 19"/>
          <p:cNvSpPr txBox="1"/>
          <p:nvPr/>
        </p:nvSpPr>
        <p:spPr>
          <a:xfrm>
            <a:off x="8275320" y="2112264"/>
            <a:ext cx="2743200" cy="256032"/>
          </a:xfrm>
          <a:prstGeom prst="rect">
            <a:avLst/>
          </a:prstGeom>
          <a:noFill/>
        </p:spPr>
        <p:txBody>
          <a:bodyPr wrap="square" lIns="0" rIns="0" tIns="0" bIns="0">
            <a:spAutoFit/>
          </a:bodyPr>
          <a:lstStyle/>
          <a:p>
            <a:pPr algn="l">
              <a:spcBef>
                <a:spcPts val="0"/>
              </a:spcBef>
              <a:spcAft>
                <a:spcPts val="0"/>
              </a:spcAft>
            </a:pPr>
            <a:r>
              <a:rPr sz="850" b="0">
                <a:solidFill>
                  <a:srgbClr val="5A6677"/>
                </a:solidFill>
                <a:latin typeface="Meiryo"/>
              </a:rPr>
              <a:t>経路点 1 点追加 → 親台風 38.9 → 999 に追随</a:t>
            </a:r>
          </a:p>
        </p:txBody>
      </p:sp>
      <p:sp>
        <p:nvSpPr>
          <p:cNvPr id="21" name="TextBox 20"/>
          <p:cNvSpPr txBox="1"/>
          <p:nvPr/>
        </p:nvSpPr>
        <p:spPr>
          <a:xfrm>
            <a:off x="11064240" y="2103120"/>
            <a:ext cx="365760" cy="256032"/>
          </a:xfrm>
          <a:prstGeom prst="rect">
            <a:avLst/>
          </a:prstGeom>
          <a:noFill/>
        </p:spPr>
        <p:txBody>
          <a:bodyPr wrap="square" lIns="0" rIns="0" tIns="0" bIns="0">
            <a:spAutoFit/>
          </a:bodyPr>
          <a:lstStyle/>
          <a:p>
            <a:pPr algn="l">
              <a:spcBef>
                <a:spcPts val="0"/>
              </a:spcBef>
              <a:spcAft>
                <a:spcPts val="0"/>
              </a:spcAft>
            </a:pPr>
            <a:r>
              <a:rPr sz="1100" b="1">
                <a:solidFill>
                  <a:srgbClr val="1E8E4A"/>
                </a:solidFill>
                <a:latin typeface="Meiryo"/>
              </a:rPr>
              <a:t>✔</a:t>
            </a:r>
          </a:p>
        </p:txBody>
      </p:sp>
      <p:sp>
        <p:nvSpPr>
          <p:cNvPr id="22" name="Rectangle 21"/>
          <p:cNvSpPr/>
          <p:nvPr/>
        </p:nvSpPr>
        <p:spPr>
          <a:xfrm>
            <a:off x="7269480" y="2395728"/>
            <a:ext cx="4206240" cy="402336"/>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06640" y="2505456"/>
            <a:ext cx="868680" cy="256032"/>
          </a:xfrm>
          <a:prstGeom prst="rect">
            <a:avLst/>
          </a:prstGeom>
          <a:noFill/>
        </p:spPr>
        <p:txBody>
          <a:bodyPr wrap="square" lIns="0" rIns="0" tIns="0" bIns="0">
            <a:spAutoFit/>
          </a:bodyPr>
          <a:lstStyle/>
          <a:p>
            <a:pPr algn="l">
              <a:spcBef>
                <a:spcPts val="0"/>
              </a:spcBef>
              <a:spcAft>
                <a:spcPts val="0"/>
              </a:spcAft>
            </a:pPr>
            <a:r>
              <a:rPr sz="1000" b="1">
                <a:solidFill>
                  <a:srgbClr val="142B4A"/>
                </a:solidFill>
                <a:latin typeface="Meiryo"/>
              </a:rPr>
              <a:t>トリガ③</a:t>
            </a:r>
          </a:p>
        </p:txBody>
      </p:sp>
      <p:sp>
        <p:nvSpPr>
          <p:cNvPr id="24" name="TextBox 23"/>
          <p:cNvSpPr txBox="1"/>
          <p:nvPr/>
        </p:nvSpPr>
        <p:spPr>
          <a:xfrm>
            <a:off x="8275320" y="2514600"/>
            <a:ext cx="2743200" cy="256032"/>
          </a:xfrm>
          <a:prstGeom prst="rect">
            <a:avLst/>
          </a:prstGeom>
          <a:noFill/>
        </p:spPr>
        <p:txBody>
          <a:bodyPr wrap="square" lIns="0" rIns="0" tIns="0" bIns="0">
            <a:spAutoFit/>
          </a:bodyPr>
          <a:lstStyle/>
          <a:p>
            <a:pPr algn="l">
              <a:spcBef>
                <a:spcPts val="0"/>
              </a:spcBef>
              <a:spcAft>
                <a:spcPts val="0"/>
              </a:spcAft>
            </a:pPr>
            <a:r>
              <a:rPr sz="850" b="0">
                <a:solidFill>
                  <a:srgbClr val="5A6677"/>
                </a:solidFill>
                <a:latin typeface="Meiryo"/>
              </a:rPr>
              <a:t>属性更新 → embedding が NULL に失効</a:t>
            </a:r>
          </a:p>
        </p:txBody>
      </p:sp>
      <p:sp>
        <p:nvSpPr>
          <p:cNvPr id="25" name="TextBox 24"/>
          <p:cNvSpPr txBox="1"/>
          <p:nvPr/>
        </p:nvSpPr>
        <p:spPr>
          <a:xfrm>
            <a:off x="11064240" y="2505456"/>
            <a:ext cx="365760" cy="256032"/>
          </a:xfrm>
          <a:prstGeom prst="rect">
            <a:avLst/>
          </a:prstGeom>
          <a:noFill/>
        </p:spPr>
        <p:txBody>
          <a:bodyPr wrap="square" lIns="0" rIns="0" tIns="0" bIns="0">
            <a:spAutoFit/>
          </a:bodyPr>
          <a:lstStyle/>
          <a:p>
            <a:pPr algn="l">
              <a:spcBef>
                <a:spcPts val="0"/>
              </a:spcBef>
              <a:spcAft>
                <a:spcPts val="0"/>
              </a:spcAft>
            </a:pPr>
            <a:r>
              <a:rPr sz="1100" b="1">
                <a:solidFill>
                  <a:srgbClr val="1E8E4A"/>
                </a:solidFill>
                <a:latin typeface="Meiryo"/>
              </a:rPr>
              <a:t>✔</a:t>
            </a:r>
          </a:p>
        </p:txBody>
      </p:sp>
      <p:sp>
        <p:nvSpPr>
          <p:cNvPr id="26" name="Rectangle 25"/>
          <p:cNvSpPr/>
          <p:nvPr/>
        </p:nvSpPr>
        <p:spPr>
          <a:xfrm>
            <a:off x="7269480" y="2798064"/>
            <a:ext cx="4206240" cy="402336"/>
          </a:xfrm>
          <a:prstGeom prst="rect">
            <a:avLst/>
          </a:prstGeom>
          <a:solidFill>
            <a:srgbClr val="F6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06640" y="2907792"/>
            <a:ext cx="868680" cy="256032"/>
          </a:xfrm>
          <a:prstGeom prst="rect">
            <a:avLst/>
          </a:prstGeom>
          <a:noFill/>
        </p:spPr>
        <p:txBody>
          <a:bodyPr wrap="square" lIns="0" rIns="0" tIns="0" bIns="0">
            <a:spAutoFit/>
          </a:bodyPr>
          <a:lstStyle/>
          <a:p>
            <a:pPr algn="l">
              <a:spcBef>
                <a:spcPts val="0"/>
              </a:spcBef>
              <a:spcAft>
                <a:spcPts val="0"/>
              </a:spcAft>
            </a:pPr>
            <a:r>
              <a:rPr sz="1000" b="1">
                <a:solidFill>
                  <a:srgbClr val="142B4A"/>
                </a:solidFill>
                <a:latin typeface="Meiryo"/>
              </a:rPr>
              <a:t>関数①</a:t>
            </a:r>
          </a:p>
        </p:txBody>
      </p:sp>
      <p:sp>
        <p:nvSpPr>
          <p:cNvPr id="28" name="TextBox 27"/>
          <p:cNvSpPr txBox="1"/>
          <p:nvPr/>
        </p:nvSpPr>
        <p:spPr>
          <a:xfrm>
            <a:off x="8275320" y="2916936"/>
            <a:ext cx="2743200" cy="256032"/>
          </a:xfrm>
          <a:prstGeom prst="rect">
            <a:avLst/>
          </a:prstGeom>
          <a:noFill/>
        </p:spPr>
        <p:txBody>
          <a:bodyPr wrap="square" lIns="0" rIns="0" tIns="0" bIns="0">
            <a:spAutoFit/>
          </a:bodyPr>
          <a:lstStyle/>
          <a:p>
            <a:pPr algn="l">
              <a:spcBef>
                <a:spcPts val="0"/>
              </a:spcBef>
              <a:spcAft>
                <a:spcPts val="0"/>
              </a:spcAft>
            </a:pPr>
            <a:r>
              <a:rPr sz="850" b="0">
                <a:solidFill>
                  <a:srgbClr val="5A6677"/>
                </a:solidFill>
                <a:latin typeface="Meiryo"/>
              </a:rPr>
              <a:t>Top-5 を距離順に返却 (0.0000 / 0.0130 …)</a:t>
            </a:r>
          </a:p>
        </p:txBody>
      </p:sp>
      <p:sp>
        <p:nvSpPr>
          <p:cNvPr id="29" name="TextBox 28"/>
          <p:cNvSpPr txBox="1"/>
          <p:nvPr/>
        </p:nvSpPr>
        <p:spPr>
          <a:xfrm>
            <a:off x="11064240" y="2907792"/>
            <a:ext cx="365760" cy="256032"/>
          </a:xfrm>
          <a:prstGeom prst="rect">
            <a:avLst/>
          </a:prstGeom>
          <a:noFill/>
        </p:spPr>
        <p:txBody>
          <a:bodyPr wrap="square" lIns="0" rIns="0" tIns="0" bIns="0">
            <a:spAutoFit/>
          </a:bodyPr>
          <a:lstStyle/>
          <a:p>
            <a:pPr algn="l">
              <a:spcBef>
                <a:spcPts val="0"/>
              </a:spcBef>
              <a:spcAft>
                <a:spcPts val="0"/>
              </a:spcAft>
            </a:pPr>
            <a:r>
              <a:rPr sz="1100" b="1">
                <a:solidFill>
                  <a:srgbClr val="1E8E4A"/>
                </a:solidFill>
                <a:latin typeface="Meiryo"/>
              </a:rPr>
              <a:t>✔</a:t>
            </a:r>
          </a:p>
        </p:txBody>
      </p:sp>
      <p:sp>
        <p:nvSpPr>
          <p:cNvPr id="30" name="Rectangle 29"/>
          <p:cNvSpPr/>
          <p:nvPr/>
        </p:nvSpPr>
        <p:spPr>
          <a:xfrm>
            <a:off x="7269480" y="3200400"/>
            <a:ext cx="4206240" cy="402336"/>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06640" y="3310128"/>
            <a:ext cx="868680" cy="256032"/>
          </a:xfrm>
          <a:prstGeom prst="rect">
            <a:avLst/>
          </a:prstGeom>
          <a:noFill/>
        </p:spPr>
        <p:txBody>
          <a:bodyPr wrap="square" lIns="0" rIns="0" tIns="0" bIns="0">
            <a:spAutoFit/>
          </a:bodyPr>
          <a:lstStyle/>
          <a:p>
            <a:pPr algn="l">
              <a:spcBef>
                <a:spcPts val="0"/>
              </a:spcBef>
              <a:spcAft>
                <a:spcPts val="0"/>
              </a:spcAft>
            </a:pPr>
            <a:r>
              <a:rPr sz="1000" b="1">
                <a:solidFill>
                  <a:srgbClr val="142B4A"/>
                </a:solidFill>
                <a:latin typeface="Meiryo"/>
              </a:rPr>
              <a:t>関数②</a:t>
            </a:r>
          </a:p>
        </p:txBody>
      </p:sp>
      <p:sp>
        <p:nvSpPr>
          <p:cNvPr id="32" name="TextBox 31"/>
          <p:cNvSpPr txBox="1"/>
          <p:nvPr/>
        </p:nvSpPr>
        <p:spPr>
          <a:xfrm>
            <a:off x="8275320" y="3319272"/>
            <a:ext cx="2743200" cy="256032"/>
          </a:xfrm>
          <a:prstGeom prst="rect">
            <a:avLst/>
          </a:prstGeom>
          <a:noFill/>
        </p:spPr>
        <p:txBody>
          <a:bodyPr wrap="square" lIns="0" rIns="0" tIns="0" bIns="0">
            <a:spAutoFit/>
          </a:bodyPr>
          <a:lstStyle/>
          <a:p>
            <a:pPr algn="l">
              <a:spcBef>
                <a:spcPts val="0"/>
              </a:spcBef>
              <a:spcAft>
                <a:spcPts val="0"/>
              </a:spcAft>
            </a:pPr>
            <a:r>
              <a:rPr sz="850" b="0">
                <a:solidFill>
                  <a:srgbClr val="5A6677"/>
                </a:solidFill>
                <a:latin typeface="Meiryo"/>
              </a:rPr>
              <a:t>2023 夏の通過台風 5 件を通過点数つきで返却</a:t>
            </a:r>
          </a:p>
        </p:txBody>
      </p:sp>
      <p:sp>
        <p:nvSpPr>
          <p:cNvPr id="33" name="TextBox 32"/>
          <p:cNvSpPr txBox="1"/>
          <p:nvPr/>
        </p:nvSpPr>
        <p:spPr>
          <a:xfrm>
            <a:off x="11064240" y="3310128"/>
            <a:ext cx="365760" cy="256032"/>
          </a:xfrm>
          <a:prstGeom prst="rect">
            <a:avLst/>
          </a:prstGeom>
          <a:noFill/>
        </p:spPr>
        <p:txBody>
          <a:bodyPr wrap="square" lIns="0" rIns="0" tIns="0" bIns="0">
            <a:spAutoFit/>
          </a:bodyPr>
          <a:lstStyle/>
          <a:p>
            <a:pPr algn="l">
              <a:spcBef>
                <a:spcPts val="0"/>
              </a:spcBef>
              <a:spcAft>
                <a:spcPts val="0"/>
              </a:spcAft>
            </a:pPr>
            <a:r>
              <a:rPr sz="1100" b="1">
                <a:solidFill>
                  <a:srgbClr val="1E8E4A"/>
                </a:solidFill>
                <a:latin typeface="Meiryo"/>
              </a:rPr>
              <a:t>✔</a:t>
            </a:r>
          </a:p>
        </p:txBody>
      </p:sp>
      <p:sp>
        <p:nvSpPr>
          <p:cNvPr id="34" name="Rectangle 33"/>
          <p:cNvSpPr/>
          <p:nvPr/>
        </p:nvSpPr>
        <p:spPr>
          <a:xfrm>
            <a:off x="7269480" y="3602736"/>
            <a:ext cx="4206240" cy="402336"/>
          </a:xfrm>
          <a:prstGeom prst="rect">
            <a:avLst/>
          </a:prstGeom>
          <a:solidFill>
            <a:srgbClr val="F6F8FB"/>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406640" y="3712463"/>
            <a:ext cx="868680" cy="256032"/>
          </a:xfrm>
          <a:prstGeom prst="rect">
            <a:avLst/>
          </a:prstGeom>
          <a:noFill/>
        </p:spPr>
        <p:txBody>
          <a:bodyPr wrap="square" lIns="0" rIns="0" tIns="0" bIns="0">
            <a:spAutoFit/>
          </a:bodyPr>
          <a:lstStyle/>
          <a:p>
            <a:pPr algn="l">
              <a:spcBef>
                <a:spcPts val="0"/>
              </a:spcBef>
              <a:spcAft>
                <a:spcPts val="0"/>
              </a:spcAft>
            </a:pPr>
            <a:r>
              <a:rPr sz="1000" b="1">
                <a:solidFill>
                  <a:srgbClr val="142B4A"/>
                </a:solidFill>
                <a:latin typeface="Meiryo"/>
              </a:rPr>
              <a:t>関数③</a:t>
            </a:r>
          </a:p>
        </p:txBody>
      </p:sp>
      <p:sp>
        <p:nvSpPr>
          <p:cNvPr id="36" name="TextBox 35"/>
          <p:cNvSpPr txBox="1"/>
          <p:nvPr/>
        </p:nvSpPr>
        <p:spPr>
          <a:xfrm>
            <a:off x="8275320" y="3721608"/>
            <a:ext cx="2743200" cy="256032"/>
          </a:xfrm>
          <a:prstGeom prst="rect">
            <a:avLst/>
          </a:prstGeom>
          <a:noFill/>
        </p:spPr>
        <p:txBody>
          <a:bodyPr wrap="square" lIns="0" rIns="0" tIns="0" bIns="0">
            <a:spAutoFit/>
          </a:bodyPr>
          <a:lstStyle/>
          <a:p>
            <a:pPr algn="l">
              <a:spcBef>
                <a:spcPts val="0"/>
              </a:spcBef>
              <a:spcAft>
                <a:spcPts val="0"/>
              </a:spcAft>
            </a:pPr>
            <a:r>
              <a:rPr sz="850" b="0">
                <a:solidFill>
                  <a:srgbClr val="5A6677"/>
                </a:solidFill>
                <a:latin typeface="Meiryo"/>
              </a:rPr>
              <a:t>China=600 ／ 広東省=217 ／ 同 2000-20=63</a:t>
            </a:r>
          </a:p>
        </p:txBody>
      </p:sp>
      <p:sp>
        <p:nvSpPr>
          <p:cNvPr id="37" name="TextBox 36"/>
          <p:cNvSpPr txBox="1"/>
          <p:nvPr/>
        </p:nvSpPr>
        <p:spPr>
          <a:xfrm>
            <a:off x="11064240" y="3712463"/>
            <a:ext cx="365760" cy="256032"/>
          </a:xfrm>
          <a:prstGeom prst="rect">
            <a:avLst/>
          </a:prstGeom>
          <a:noFill/>
        </p:spPr>
        <p:txBody>
          <a:bodyPr wrap="square" lIns="0" rIns="0" tIns="0" bIns="0">
            <a:spAutoFit/>
          </a:bodyPr>
          <a:lstStyle/>
          <a:p>
            <a:pPr algn="l">
              <a:spcBef>
                <a:spcPts val="0"/>
              </a:spcBef>
              <a:spcAft>
                <a:spcPts val="0"/>
              </a:spcAft>
            </a:pPr>
            <a:r>
              <a:rPr sz="1100" b="1">
                <a:solidFill>
                  <a:srgbClr val="1E8E4A"/>
                </a:solidFill>
                <a:latin typeface="Meiryo"/>
              </a:rPr>
              <a:t>✔</a:t>
            </a:r>
          </a:p>
        </p:txBody>
      </p:sp>
      <p:sp>
        <p:nvSpPr>
          <p:cNvPr id="38" name="Rectangle 37"/>
          <p:cNvSpPr/>
          <p:nvPr/>
        </p:nvSpPr>
        <p:spPr>
          <a:xfrm>
            <a:off x="7269480" y="4005072"/>
            <a:ext cx="4206240" cy="402336"/>
          </a:xfrm>
          <a:prstGeom prst="rect">
            <a:avLst/>
          </a:prstGeom>
          <a:solidFill>
            <a:srgbClr val="FFFFFF"/>
          </a:solidFill>
          <a:ln w="12700">
            <a:solidFill>
              <a:srgbClr val="C9D3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06640" y="4114800"/>
            <a:ext cx="868680" cy="256032"/>
          </a:xfrm>
          <a:prstGeom prst="rect">
            <a:avLst/>
          </a:prstGeom>
          <a:noFill/>
        </p:spPr>
        <p:txBody>
          <a:bodyPr wrap="square" lIns="0" rIns="0" tIns="0" bIns="0">
            <a:spAutoFit/>
          </a:bodyPr>
          <a:lstStyle/>
          <a:p>
            <a:pPr algn="l">
              <a:spcBef>
                <a:spcPts val="0"/>
              </a:spcBef>
              <a:spcAft>
                <a:spcPts val="0"/>
              </a:spcAft>
            </a:pPr>
            <a:r>
              <a:rPr sz="1000" b="1">
                <a:solidFill>
                  <a:srgbClr val="142B4A"/>
                </a:solidFill>
                <a:latin typeface="Meiryo"/>
              </a:rPr>
              <a:t>クエリ</a:t>
            </a:r>
          </a:p>
        </p:txBody>
      </p:sp>
      <p:sp>
        <p:nvSpPr>
          <p:cNvPr id="40" name="TextBox 39"/>
          <p:cNvSpPr txBox="1"/>
          <p:nvPr/>
        </p:nvSpPr>
        <p:spPr>
          <a:xfrm>
            <a:off x="8275320" y="4123944"/>
            <a:ext cx="2743200" cy="256032"/>
          </a:xfrm>
          <a:prstGeom prst="rect">
            <a:avLst/>
          </a:prstGeom>
          <a:noFill/>
        </p:spPr>
        <p:txBody>
          <a:bodyPr wrap="square" lIns="0" rIns="0" tIns="0" bIns="0">
            <a:spAutoFit/>
          </a:bodyPr>
          <a:lstStyle/>
          <a:p>
            <a:pPr algn="l">
              <a:spcBef>
                <a:spcPts val="0"/>
              </a:spcBef>
              <a:spcAft>
                <a:spcPts val="0"/>
              </a:spcAft>
            </a:pPr>
            <a:r>
              <a:rPr sz="850" b="0">
                <a:solidFill>
                  <a:srgbClr val="5A6677"/>
                </a:solidFill>
                <a:latin typeface="Meiryo"/>
              </a:rPr>
              <a:t>Q1〜Q5 すべて本番データで期待どおり</a:t>
            </a:r>
          </a:p>
        </p:txBody>
      </p:sp>
      <p:sp>
        <p:nvSpPr>
          <p:cNvPr id="41" name="TextBox 40"/>
          <p:cNvSpPr txBox="1"/>
          <p:nvPr/>
        </p:nvSpPr>
        <p:spPr>
          <a:xfrm>
            <a:off x="11064240" y="4114800"/>
            <a:ext cx="365760" cy="256032"/>
          </a:xfrm>
          <a:prstGeom prst="rect">
            <a:avLst/>
          </a:prstGeom>
          <a:noFill/>
        </p:spPr>
        <p:txBody>
          <a:bodyPr wrap="square" lIns="0" rIns="0" tIns="0" bIns="0">
            <a:spAutoFit/>
          </a:bodyPr>
          <a:lstStyle/>
          <a:p>
            <a:pPr algn="l">
              <a:spcBef>
                <a:spcPts val="0"/>
              </a:spcBef>
              <a:spcAft>
                <a:spcPts val="0"/>
              </a:spcAft>
            </a:pPr>
            <a:r>
              <a:rPr sz="1100" b="1">
                <a:solidFill>
                  <a:srgbClr val="1E8E4A"/>
                </a:solidFill>
                <a:latin typeface="Meiryo"/>
              </a:rPr>
              <a:t>✔</a:t>
            </a:r>
          </a:p>
        </p:txBody>
      </p:sp>
      <p:sp>
        <p:nvSpPr>
          <p:cNvPr id="42" name="Rectangle 41"/>
          <p:cNvSpPr/>
          <p:nvPr/>
        </p:nvSpPr>
        <p:spPr>
          <a:xfrm>
            <a:off x="7269480" y="4480560"/>
            <a:ext cx="4206240" cy="868680"/>
          </a:xfrm>
          <a:prstGeom prst="rect">
            <a:avLst/>
          </a:prstGeom>
          <a:solidFill>
            <a:srgbClr val="ECF6F6"/>
          </a:solidFill>
          <a:ln w="12700">
            <a:solidFill>
              <a:srgbClr val="00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434072" y="4590288"/>
            <a:ext cx="3877055" cy="649224"/>
          </a:xfrm>
          <a:prstGeom prst="rect">
            <a:avLst/>
          </a:prstGeom>
          <a:noFill/>
        </p:spPr>
        <p:txBody>
          <a:bodyPr wrap="square" lIns="0" rIns="0" tIns="0" bIns="0">
            <a:spAutoFit/>
          </a:bodyPr>
          <a:lstStyle/>
          <a:p>
            <a:pPr algn="l">
              <a:lnSpc>
                <a:spcPct val="115000"/>
              </a:lnSpc>
              <a:spcBef>
                <a:spcPts val="0"/>
              </a:spcBef>
              <a:spcAft>
                <a:spcPts val="0"/>
              </a:spcAft>
            </a:pPr>
            <a:r>
              <a:rPr sz="1200" b="0">
                <a:solidFill>
                  <a:srgbClr val="0B4C4C"/>
                </a:solidFill>
                <a:latin typeface="Meiryo"/>
              </a:rPr>
              <a:t>トリガ検証はトランザクション内で実行し ROLLBACK 済み。本番データは変更していない。全定義は docs/db_objects.sql に冪等スクリプトとして保存。</a:t>
            </a:r>
          </a:p>
        </p:txBody>
      </p:sp>
      <p:sp>
        <p:nvSpPr>
          <p:cNvPr id="44" name="Rectangle 43"/>
          <p:cNvSpPr/>
          <p:nvPr/>
        </p:nvSpPr>
        <p:spPr>
          <a:xfrm>
            <a:off x="7269480" y="5468112"/>
            <a:ext cx="4206240" cy="676656"/>
          </a:xfrm>
          <a:prstGeom prst="rect">
            <a:avLst/>
          </a:prstGeom>
          <a:solidFill>
            <a:srgbClr val="14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452360" y="5614416"/>
            <a:ext cx="3840480" cy="457200"/>
          </a:xfrm>
          <a:prstGeom prst="rect">
            <a:avLst/>
          </a:prstGeom>
          <a:noFill/>
        </p:spPr>
        <p:txBody>
          <a:bodyPr wrap="square" lIns="0" rIns="0" tIns="0" bIns="0">
            <a:spAutoFit/>
          </a:bodyPr>
          <a:lstStyle/>
          <a:p>
            <a:pPr algn="ctr">
              <a:spcBef>
                <a:spcPts val="0"/>
              </a:spcBef>
              <a:spcAft>
                <a:spcPts val="200"/>
              </a:spcAft>
            </a:pPr>
            <a:r>
              <a:rPr sz="1350" b="1">
                <a:solidFill>
                  <a:srgbClr val="FFFFFF"/>
                </a:solidFill>
                <a:latin typeface="Meiryo"/>
              </a:rPr>
              <a:t>「時空間で絞り、意味で結ぶ」</a:t>
            </a:r>
          </a:p>
          <a:p>
            <a:pPr algn="ctr">
              <a:spcBef>
                <a:spcPts val="0"/>
              </a:spcBef>
              <a:spcAft>
                <a:spcPts val="0"/>
              </a:spcAft>
            </a:pPr>
            <a:r>
              <a:rPr sz="950" b="0">
                <a:solidFill>
                  <a:srgbClr val="9FC4E2"/>
                </a:solidFill>
                <a:latin typeface="Meiryo"/>
              </a:rPr>
              <a:t>分散マルチメディア情報を知識として扱う一実装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